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SQUIRE 2.0 Item 1 (Title): Indicate that the manuscript concerns an initiative to improve healthcare (broadly defined to include the quality, safety, effectiveness, patient-centredness, timeliness, cost, efficiency, and equity of healthcare).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SQUIRE 2.0 Item 2 (Abstract): a. Provide adequate information to aid in searching and indexing. b. Summarize all key information from various sections of the text using the abstract format of the intended publication or a structured summary such as: background, local problem, methods, interventions, results, conclusions.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SQUIRE 2.0 Item 3 (Problem Description): Nature and significance of the local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SQUIRE 2.0 Item 4 (Available Knowledge): Summary of what is currently known about the problem, including relevant previous studies.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SQUIRE 2.0 Item 5 (Rationale): Informal or formal frameworks, models, concepts, and/or theories used to explain the problem, any reasons or assumptions that were used to develop the intervention(s), and reasons why the intervention(s) was expected to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SQUIRE 2.0 Item 6 (Specific Aims): Purpose of the project and of this report. WHO quality lens: quality health services should be effective, safe, people-centred, timely, equitable, integrated and efficient (WHO — Quality of care, who.int/health-topics/quality-of-care).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SQUIRE 2.0 Item 7 (Context): Contextual elements considered important at the outset of introducing the intervention(s).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SQUIRE 2.0 Item 8 (Intervention(s)): a. Description of the intervention(s) in sufficient detail that others could reproduce it. b. Specifics of the team involved in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SQUIRE 2.0 Item 9 (Study of the Intervention(s)): a. Approach chosen for assessing the impact of the intervention(s). b. Approach used to establish whether the observed outcomes were due to the intervention(s).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SQUIRE 2.0 Item 10 (Measures): a. Measures chosen for studying processes and outcomes of the intervention(s), including rationale for choosing them, their operational definitions, and their validity and reliability. b. Description of the approach to the ongoing assessment of contextual elements that contributed to the success, failure, efficiency, and cost. c. Methods employed for assessing completeness and accuracy of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SQUIRE 2.0 Item 11 (Analysis): a. Qualitative and quantitative methods used to draw inferences from the data. b. Methods for understanding variation within the data, including the effects of time as a variable.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SQUIRE 2.0 Item 12 (Ethical Considerations): Ethical aspects of implementing and studying the intervention(s) and how they were addressed, including, but not limited to, formal ethics review and potential conflict(s) of interest.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SQUIRE 2.0 Item 13a (Results): Initial steps of the intervention(s) and their evolution over time (e.g., time-line diagram, flow chart, or table), including modifications made to the intervention during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SQUIRE 2.0 Item 13b (Results): Details of the process measures and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SQUIRE 2.0 Items 13c-d (Results): c. Contextual elements that interacted with the intervention(s). d. Observed associations between outcomes, interventions, and relevant contextual elements.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SQUIRE 2.0 Items 13e-f (Results): e. Unintended consequences such as unexpected benefits, problems, failures, or costs associated with the intervention(s). f. Details about missing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SQUIRE 2.0 Item 14 (Summary): a. Key findings, including relevance to the rationale and specific aims. b. Particular strengths of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SQUIRE 2.0 Item 15 (Interpretation): a. Nature of the association between the intervention(s) and the outcomes. b. Comparison of results with findings from other publications. c. Impact of the project on people and systems. d. Reasons for any differences between observed and anticipated outcomes, including the influence of context. e. Costs and strategic trade-offs, including opportunity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SQUIRE 2.0 Item 16 (Limitations): a. Limits to the generalizability of the work. b. Factors that might have limited internal validity such as confounding, bias, or imprecision in the design, methods, measurement, or analysis. c. Efforts made to minimize and adjust for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SQUIRE 2.0 Item 17 (Conclusions): a. Usefulness of the work. b. Sustainability. c. Potential for spread to other contexts. d. Implications for practice and for further study in the field. e. Suggested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SQUIRE 2.0 Item 18 (Funding): Sources of funding that supported this work. Role, if any, of the funding organization in the design, implementation, interpretation, and reporting.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www.squire-statement.org/" TargetMode="External"/><Relationship Id="rId2" Type="http://schemas.openxmlformats.org/officeDocument/2006/relationships/hyperlink" Target="http://www.squire-statement.org/" TargetMode="External"/><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imqa.github.io/QIP/" TargetMode="Externa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www.who.int/health-topics/quality-of-care"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087"/>
        </a:solidFill>
      </p:bgPr>
    </p:bg>
    <p:spTree>
      <p:nvGrpSpPr>
        <p:cNvPr id="1" name=""/>
        <p:cNvGrpSpPr/>
        <p:nvPr/>
      </p:nvGrpSpPr>
      <p:grpSpPr>
        <a:xfrm>
          <a:off x="0" y="0"/>
          <a:ext cx="0" cy="0"/>
          <a:chOff x="0" y="0"/>
          <a:chExt cx="0" cy="0"/>
        </a:xfrm>
      </p:grpSpPr>
      <p:sp>
        <p:nvSpPr>
          <p:cNvPr id="2" name="Shape 0"/>
          <p:cNvSpPr/>
          <p:nvPr/>
        </p:nvSpPr>
        <p:spPr>
          <a:xfrm>
            <a:off x="7315200" y="-1188720"/>
            <a:ext cx="3108960" cy="3108960"/>
          </a:xfrm>
          <a:prstGeom prst="ellipse">
            <a:avLst/>
          </a:prstGeom>
          <a:solidFill>
            <a:srgbClr val="003087"/>
          </a:solidFill>
          <a:ln w="15875">
            <a:solidFill>
              <a:srgbClr val="0072CE"/>
            </a:solidFill>
            <a:prstDash val="solid"/>
          </a:ln>
        </p:spPr>
      </p:sp>
      <p:sp>
        <p:nvSpPr>
          <p:cNvPr id="3" name="Shape 1"/>
          <p:cNvSpPr/>
          <p:nvPr/>
        </p:nvSpPr>
        <p:spPr>
          <a:xfrm>
            <a:off x="-1005840" y="3749040"/>
            <a:ext cx="2377440" cy="2377440"/>
          </a:xfrm>
          <a:prstGeom prst="ellipse">
            <a:avLst/>
          </a:prstGeom>
          <a:solidFill>
            <a:srgbClr val="0072CE"/>
          </a:solidFill>
          <a:ln w="12700">
            <a:solidFill>
              <a:srgbClr val="0072CE"/>
            </a:solidFill>
            <a:prstDash val="solid"/>
          </a:ln>
        </p:spPr>
      </p:sp>
      <p:sp>
        <p:nvSpPr>
          <p:cNvPr id="4" name="Text 2"/>
          <p:cNvSpPr/>
          <p:nvPr/>
        </p:nvSpPr>
        <p:spPr>
          <a:xfrm>
            <a:off x="7360920" y="384048"/>
            <a:ext cx="1325880" cy="310896"/>
          </a:xfrm>
          <a:prstGeom prst="roundRect">
            <a:avLst>
              <a:gd name="adj" fmla="val 47059"/>
            </a:avLst>
          </a:prstGeom>
          <a:solidFill>
            <a:srgbClr val="0072CE"/>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ITEM 1 · TITLE</a:t>
            </a:r>
            <a:endParaRPr lang="en-US" sz="900" dirty="0"/>
          </a:p>
        </p:txBody>
      </p:sp>
      <p:sp>
        <p:nvSpPr>
          <p:cNvPr id="5" name="Text 3"/>
          <p:cNvSpPr/>
          <p:nvPr/>
        </p:nvSpPr>
        <p:spPr>
          <a:xfrm>
            <a:off x="640080" y="868680"/>
            <a:ext cx="6400800" cy="274320"/>
          </a:xfrm>
          <a:prstGeom prst="rect">
            <a:avLst/>
          </a:prstGeom>
          <a:noFill/>
          <a:ln/>
        </p:spPr>
        <p:txBody>
          <a:bodyPr wrap="square" lIns="0" tIns="0" rIns="0" bIns="0" rtlCol="0" anchor="ctr"/>
          <a:lstStyle/>
          <a:p>
            <a:pPr indent="0" marL="0">
              <a:buNone/>
            </a:pPr>
            <a:r>
              <a:rPr lang="en-US" sz="1050" b="1" spc="200" kern="0" dirty="0">
                <a:solidFill>
                  <a:srgbClr val="41B6E6"/>
                </a:solidFill>
                <a:latin typeface="Calibri" pitchFamily="34" charset="0"/>
                <a:ea typeface="Calibri" pitchFamily="34" charset="-122"/>
                <a:cs typeface="Calibri" pitchFamily="34" charset="-120"/>
              </a:rPr>
              <a:t>AIM QIP  ·  OPTIONAL WRITE-UP AID  ·  SQUIRE 2.0</a:t>
            </a:r>
            <a:endParaRPr lang="en-US" sz="1050" dirty="0"/>
          </a:p>
        </p:txBody>
      </p:sp>
      <p:sp>
        <p:nvSpPr>
          <p:cNvPr id="6" name="Text 4"/>
          <p:cNvSpPr/>
          <p:nvPr/>
        </p:nvSpPr>
        <p:spPr>
          <a:xfrm>
            <a:off x="640080" y="1188720"/>
            <a:ext cx="7406640" cy="77724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Insert Project Title Here</a:t>
            </a:r>
            <a:endParaRPr lang="en-US" sz="3400" dirty="0"/>
          </a:p>
        </p:txBody>
      </p:sp>
      <p:sp>
        <p:nvSpPr>
          <p:cNvPr id="7" name="Text 5"/>
          <p:cNvSpPr/>
          <p:nvPr/>
        </p:nvSpPr>
        <p:spPr>
          <a:xfrm>
            <a:off x="640080" y="2057400"/>
            <a:ext cx="7498080" cy="548640"/>
          </a:xfrm>
          <a:prstGeom prst="rect">
            <a:avLst/>
          </a:prstGeom>
          <a:noFill/>
          <a:ln/>
        </p:spPr>
        <p:txBody>
          <a:bodyPr wrap="square" lIns="0" tIns="0" rIns="0" bIns="0" rtlCol="0" anchor="ctr"/>
          <a:lstStyle/>
          <a:p>
            <a:pPr indent="0" marL="0">
              <a:buNone/>
            </a:pPr>
            <a:r>
              <a:rPr lang="en-US" sz="1000" i="1" dirty="0">
                <a:solidFill>
                  <a:srgbClr val="E8EDEE"/>
                </a:solidFill>
                <a:latin typeface="Calibri" pitchFamily="34" charset="0"/>
                <a:ea typeface="Calibri" pitchFamily="34" charset="-122"/>
                <a:cs typeface="Calibri" pitchFamily="34" charset="-120"/>
              </a:rPr>
              <a:t>Item 1 tip — put the improvement in the title, e.g. “Improving VTE assessment on AMU”. </a:t>
            </a:r>
            <a:pPr indent="0" marL="0">
              <a:buNone/>
            </a:pPr>
            <a:r>
              <a:rPr lang="en-US" sz="1000" i="1" dirty="0">
                <a:solidFill>
                  <a:srgbClr val="E8EDEE"/>
                </a:solidFill>
                <a:latin typeface="Calibri" pitchFamily="34" charset="0"/>
                <a:ea typeface="Calibri" pitchFamily="34" charset="-122"/>
                <a:cs typeface="Calibri" pitchFamily="34" charset="-120"/>
              </a:rPr>
              <a:t>Include the words ‘quality improvement’ if you can — it helps others find your work.</a:t>
            </a:r>
            <a:endParaRPr lang="en-US" sz="1000" dirty="0"/>
          </a:p>
          <a:p>
            <a:pPr indent="0" marL="0">
              <a:buNone/>
            </a:pPr>
            <a:r>
              <a:rPr lang="en-US" sz="1000" i="1" dirty="0">
                <a:solidFill>
                  <a:srgbClr val="E8EDEE"/>
                </a:solidFill>
                <a:latin typeface="Calibri" pitchFamily="34" charset="0"/>
                <a:ea typeface="Calibri" pitchFamily="34" charset="-122"/>
                <a:cs typeface="Calibri" pitchFamily="34" charset="-120"/>
              </a:rPr>
              <a:t>These slides are optional — use the ones that fit your project and skip the rest (SQUIRE says to, as long as you say why). The Reporting Guide explains what’s enough for each item.</a:t>
            </a:r>
            <a:endParaRPr lang="en-US" sz="1000" dirty="0"/>
          </a:p>
        </p:txBody>
      </p:sp>
      <p:sp>
        <p:nvSpPr>
          <p:cNvPr id="8" name="Text 6"/>
          <p:cNvSpPr/>
          <p:nvPr/>
        </p:nvSpPr>
        <p:spPr>
          <a:xfrm>
            <a:off x="640080" y="3063240"/>
            <a:ext cx="2560320" cy="219456"/>
          </a:xfrm>
          <a:prstGeom prst="rect">
            <a:avLst/>
          </a:prstGeom>
          <a:noFill/>
          <a:ln/>
        </p:spPr>
        <p:txBody>
          <a:bodyPr wrap="square" lIns="0" tIns="0" rIns="0" bIns="0" rtlCol="0" anchor="ctr"/>
          <a:lstStyle/>
          <a:p>
            <a:pPr indent="0" marL="0">
              <a:buNone/>
            </a:pPr>
            <a:r>
              <a:rPr lang="en-US" sz="850" b="1" spc="150" kern="0" dirty="0">
                <a:solidFill>
                  <a:srgbClr val="41B6E6"/>
                </a:solidFill>
                <a:latin typeface="Calibri" pitchFamily="34" charset="0"/>
                <a:ea typeface="Calibri" pitchFamily="34" charset="-122"/>
                <a:cs typeface="Calibri" pitchFamily="34" charset="-120"/>
              </a:rPr>
              <a:t>PROJECT LEAD</a:t>
            </a:r>
            <a:endParaRPr lang="en-US" sz="850" dirty="0"/>
          </a:p>
        </p:txBody>
      </p:sp>
      <p:sp>
        <p:nvSpPr>
          <p:cNvPr id="9" name="Text 7"/>
          <p:cNvSpPr/>
          <p:nvPr/>
        </p:nvSpPr>
        <p:spPr>
          <a:xfrm>
            <a:off x="640080" y="3291840"/>
            <a:ext cx="2560320" cy="29260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Enter</a:t>
            </a:r>
            <a:endParaRPr lang="en-US" sz="1150" dirty="0"/>
          </a:p>
        </p:txBody>
      </p:sp>
      <p:sp>
        <p:nvSpPr>
          <p:cNvPr id="10" name="Text 8"/>
          <p:cNvSpPr/>
          <p:nvPr/>
        </p:nvSpPr>
        <p:spPr>
          <a:xfrm>
            <a:off x="3383280" y="3063240"/>
            <a:ext cx="2560320" cy="219456"/>
          </a:xfrm>
          <a:prstGeom prst="rect">
            <a:avLst/>
          </a:prstGeom>
          <a:noFill/>
          <a:ln/>
        </p:spPr>
        <p:txBody>
          <a:bodyPr wrap="square" lIns="0" tIns="0" rIns="0" bIns="0" rtlCol="0" anchor="ctr"/>
          <a:lstStyle/>
          <a:p>
            <a:pPr indent="0" marL="0">
              <a:buNone/>
            </a:pPr>
            <a:r>
              <a:rPr lang="en-US" sz="850" b="1" spc="150" kern="0" dirty="0">
                <a:solidFill>
                  <a:srgbClr val="41B6E6"/>
                </a:solidFill>
                <a:latin typeface="Calibri" pitchFamily="34" charset="0"/>
                <a:ea typeface="Calibri" pitchFamily="34" charset="-122"/>
                <a:cs typeface="Calibri" pitchFamily="34" charset="-120"/>
              </a:rPr>
              <a:t>QIP TEAM LEAD</a:t>
            </a:r>
            <a:endParaRPr lang="en-US" sz="850" dirty="0"/>
          </a:p>
        </p:txBody>
      </p:sp>
      <p:sp>
        <p:nvSpPr>
          <p:cNvPr id="11" name="Text 9"/>
          <p:cNvSpPr/>
          <p:nvPr/>
        </p:nvSpPr>
        <p:spPr>
          <a:xfrm>
            <a:off x="3383280" y="3291840"/>
            <a:ext cx="2560320" cy="29260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Enter</a:t>
            </a:r>
            <a:endParaRPr lang="en-US" sz="1150" dirty="0"/>
          </a:p>
        </p:txBody>
      </p:sp>
      <p:sp>
        <p:nvSpPr>
          <p:cNvPr id="12" name="Text 10"/>
          <p:cNvSpPr/>
          <p:nvPr/>
        </p:nvSpPr>
        <p:spPr>
          <a:xfrm>
            <a:off x="6126480" y="3063240"/>
            <a:ext cx="2560320" cy="219456"/>
          </a:xfrm>
          <a:prstGeom prst="rect">
            <a:avLst/>
          </a:prstGeom>
          <a:noFill/>
          <a:ln/>
        </p:spPr>
        <p:txBody>
          <a:bodyPr wrap="square" lIns="0" tIns="0" rIns="0" bIns="0" rtlCol="0" anchor="ctr"/>
          <a:lstStyle/>
          <a:p>
            <a:pPr indent="0" marL="0">
              <a:buNone/>
            </a:pPr>
            <a:r>
              <a:rPr lang="en-US" sz="850" b="1" spc="150" kern="0" dirty="0">
                <a:solidFill>
                  <a:srgbClr val="41B6E6"/>
                </a:solidFill>
                <a:latin typeface="Calibri" pitchFamily="34" charset="0"/>
                <a:ea typeface="Calibri" pitchFamily="34" charset="-122"/>
                <a:cs typeface="Calibri" pitchFamily="34" charset="-120"/>
              </a:rPr>
              <a:t>PROJECT MEMBERS</a:t>
            </a:r>
            <a:endParaRPr lang="en-US" sz="850" dirty="0"/>
          </a:p>
        </p:txBody>
      </p:sp>
      <p:sp>
        <p:nvSpPr>
          <p:cNvPr id="13" name="Text 11"/>
          <p:cNvSpPr/>
          <p:nvPr/>
        </p:nvSpPr>
        <p:spPr>
          <a:xfrm>
            <a:off x="6126480" y="3291840"/>
            <a:ext cx="2560320" cy="29260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Enter</a:t>
            </a:r>
            <a:endParaRPr lang="en-US" sz="1150" dirty="0"/>
          </a:p>
        </p:txBody>
      </p:sp>
      <p:sp>
        <p:nvSpPr>
          <p:cNvPr id="14" name="Text 12"/>
          <p:cNvSpPr/>
          <p:nvPr/>
        </p:nvSpPr>
        <p:spPr>
          <a:xfrm>
            <a:off x="640080" y="4434840"/>
            <a:ext cx="7315200" cy="256032"/>
          </a:xfrm>
          <a:prstGeom prst="rect">
            <a:avLst/>
          </a:prstGeom>
          <a:noFill/>
          <a:ln/>
        </p:spPr>
        <p:txBody>
          <a:bodyPr wrap="square" lIns="0" tIns="0" rIns="0" bIns="0" rtlCol="0" anchor="ctr"/>
          <a:lstStyle/>
          <a:p>
            <a:pPr indent="0" marL="0">
              <a:buNone/>
            </a:pPr>
            <a:r>
              <a:rPr lang="en-US" sz="1000" dirty="0">
                <a:solidFill>
                  <a:srgbClr val="E8EDEE"/>
                </a:solidFill>
                <a:latin typeface="Calibri" pitchFamily="34" charset="0"/>
                <a:ea typeface="Calibri" pitchFamily="34" charset="-122"/>
                <a:cs typeface="Calibri" pitchFamily="34" charset="-120"/>
              </a:rPr>
              <a:t>Acute Internal Medicine (AIM)  |  Queen Elizabeth Hospital Birmingham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74320"/>
            <a:ext cx="6766560" cy="475488"/>
          </a:xfrm>
          <a:prstGeom prst="rect">
            <a:avLst/>
          </a:prstGeom>
          <a:noFill/>
          <a:ln/>
        </p:spPr>
        <p:txBody>
          <a:bodyPr wrap="square" lIns="0" tIns="0" rIns="0" bIns="0" rtlCol="0" anchor="ctr"/>
          <a:lstStyle/>
          <a:p>
            <a:pPr indent="0" marL="0">
              <a:buNone/>
            </a:pPr>
            <a:r>
              <a:rPr lang="en-US" sz="2200" b="1" dirty="0">
                <a:solidFill>
                  <a:srgbClr val="231F20"/>
                </a:solidFill>
                <a:latin typeface="Calibri" pitchFamily="34" charset="0"/>
                <a:ea typeface="Calibri" pitchFamily="34" charset="-122"/>
                <a:cs typeface="Calibri" pitchFamily="34" charset="-120"/>
              </a:rPr>
              <a:t>About This Template</a:t>
            </a:r>
            <a:endParaRPr lang="en-US" sz="2200" dirty="0"/>
          </a:p>
        </p:txBody>
      </p:sp>
      <p:sp>
        <p:nvSpPr>
          <p:cNvPr id="3" name="Text 1"/>
          <p:cNvSpPr/>
          <p:nvPr/>
        </p:nvSpPr>
        <p:spPr>
          <a:xfrm>
            <a:off x="457200" y="932688"/>
            <a:ext cx="2624328" cy="1783080"/>
          </a:xfrm>
          <a:prstGeom prst="roundRect">
            <a:avLst>
              <a:gd name="adj" fmla="val 3590"/>
            </a:avLst>
          </a:prstGeom>
          <a:solidFill>
            <a:srgbClr val="F0F4F5"/>
          </a:solidFill>
          <a:ln/>
        </p:spPr>
        <p:txBody>
          <a:bodyPr wrap="square" lIns="114300" tIns="114300" rIns="114300" bIns="114300" rtlCol="0" anchor="t"/>
          <a:lstStyle/>
          <a:p>
            <a:pPr indent="0" marL="0">
              <a:buNone/>
            </a:pPr>
            <a:endParaRPr lang="en-US" dirty="0"/>
          </a:p>
        </p:txBody>
      </p:sp>
      <p:sp>
        <p:nvSpPr>
          <p:cNvPr id="4" name="Text 2"/>
          <p:cNvSpPr/>
          <p:nvPr/>
        </p:nvSpPr>
        <p:spPr>
          <a:xfrm>
            <a:off x="621792" y="1097280"/>
            <a:ext cx="402336" cy="402336"/>
          </a:xfrm>
          <a:prstGeom prst="ellipse">
            <a:avLst/>
          </a:prstGeom>
          <a:solidFill>
            <a:srgbClr val="005EB8"/>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5" name="Text 3"/>
          <p:cNvSpPr/>
          <p:nvPr/>
        </p:nvSpPr>
        <p:spPr>
          <a:xfrm>
            <a:off x="1115568" y="1133856"/>
            <a:ext cx="1874520" cy="347472"/>
          </a:xfrm>
          <a:prstGeom prst="rect">
            <a:avLst/>
          </a:prstGeom>
          <a:noFill/>
          <a:ln/>
        </p:spPr>
        <p:txBody>
          <a:bodyPr wrap="square" lIns="0" tIns="0" rIns="0" bIns="0" rtlCol="0" anchor="ctr"/>
          <a:lstStyle/>
          <a:p>
            <a:pPr indent="0" marL="0">
              <a:buNone/>
            </a:pPr>
            <a:r>
              <a:rPr lang="en-US" sz="1150" b="1" dirty="0">
                <a:solidFill>
                  <a:srgbClr val="005EB8"/>
                </a:solidFill>
                <a:latin typeface="Calibri" pitchFamily="34" charset="0"/>
                <a:ea typeface="Calibri" pitchFamily="34" charset="-122"/>
                <a:cs typeface="Calibri" pitchFamily="34" charset="-120"/>
              </a:rPr>
              <a:t>SQUIRE 2.0 Aligned</a:t>
            </a:r>
            <a:endParaRPr lang="en-US" sz="1150" dirty="0"/>
          </a:p>
        </p:txBody>
      </p:sp>
      <p:sp>
        <p:nvSpPr>
          <p:cNvPr id="6" name="Text 4"/>
          <p:cNvSpPr/>
          <p:nvPr/>
        </p:nvSpPr>
        <p:spPr>
          <a:xfrm>
            <a:off x="621792" y="1627632"/>
            <a:ext cx="2304288" cy="1005840"/>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Built on the 18 items every good QI write-up covers — so nothing important gets missed.</a:t>
            </a:r>
            <a:endParaRPr lang="en-US" sz="950" dirty="0"/>
          </a:p>
        </p:txBody>
      </p:sp>
      <p:sp>
        <p:nvSpPr>
          <p:cNvPr id="7" name="Text 5"/>
          <p:cNvSpPr/>
          <p:nvPr/>
        </p:nvSpPr>
        <p:spPr>
          <a:xfrm>
            <a:off x="3259836" y="932688"/>
            <a:ext cx="2624328" cy="1783080"/>
          </a:xfrm>
          <a:prstGeom prst="roundRect">
            <a:avLst>
              <a:gd name="adj" fmla="val 3590"/>
            </a:avLst>
          </a:prstGeom>
          <a:solidFill>
            <a:srgbClr val="F0F4F5"/>
          </a:solidFill>
          <a:ln/>
        </p:spPr>
        <p:txBody>
          <a:bodyPr wrap="square" lIns="114300" tIns="114300" rIns="114300" bIns="114300" rtlCol="0" anchor="t"/>
          <a:lstStyle/>
          <a:p>
            <a:pPr indent="0" marL="0">
              <a:buNone/>
            </a:pPr>
            <a:endParaRPr lang="en-US" dirty="0"/>
          </a:p>
        </p:txBody>
      </p:sp>
      <p:sp>
        <p:nvSpPr>
          <p:cNvPr id="8" name="Text 6"/>
          <p:cNvSpPr/>
          <p:nvPr/>
        </p:nvSpPr>
        <p:spPr>
          <a:xfrm>
            <a:off x="3424428" y="1097280"/>
            <a:ext cx="402336" cy="402336"/>
          </a:xfrm>
          <a:prstGeom prst="ellipse">
            <a:avLst/>
          </a:prstGeom>
          <a:solidFill>
            <a:srgbClr val="005EB8"/>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3918204" y="1133856"/>
            <a:ext cx="1874520" cy="347472"/>
          </a:xfrm>
          <a:prstGeom prst="rect">
            <a:avLst/>
          </a:prstGeom>
          <a:noFill/>
          <a:ln/>
        </p:spPr>
        <p:txBody>
          <a:bodyPr wrap="square" lIns="0" tIns="0" rIns="0" bIns="0" rtlCol="0" anchor="ctr"/>
          <a:lstStyle/>
          <a:p>
            <a:pPr indent="0" marL="0">
              <a:buNone/>
            </a:pPr>
            <a:r>
              <a:rPr lang="en-US" sz="1150" b="1" dirty="0">
                <a:solidFill>
                  <a:srgbClr val="005EB8"/>
                </a:solidFill>
                <a:latin typeface="Calibri" pitchFamily="34" charset="0"/>
                <a:ea typeface="Calibri" pitchFamily="34" charset="-122"/>
                <a:cs typeface="Calibri" pitchFamily="34" charset="-120"/>
              </a:rPr>
              <a:t>A Few Sentences Each</a:t>
            </a:r>
            <a:endParaRPr lang="en-US" sz="1150" dirty="0"/>
          </a:p>
        </p:txBody>
      </p:sp>
      <p:sp>
        <p:nvSpPr>
          <p:cNvPr id="10" name="Text 8"/>
          <p:cNvSpPr/>
          <p:nvPr/>
        </p:nvSpPr>
        <p:spPr>
          <a:xfrm>
            <a:off x="3424428" y="1627632"/>
            <a:ext cx="2304288" cy="1005840"/>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Every slide names the SQUIRE item it answers. A few honest sentences per slide is enough.</a:t>
            </a:r>
            <a:endParaRPr lang="en-US" sz="950" dirty="0"/>
          </a:p>
        </p:txBody>
      </p:sp>
      <p:sp>
        <p:nvSpPr>
          <p:cNvPr id="11" name="Text 9"/>
          <p:cNvSpPr/>
          <p:nvPr/>
        </p:nvSpPr>
        <p:spPr>
          <a:xfrm>
            <a:off x="6062472" y="932688"/>
            <a:ext cx="2624328" cy="1783080"/>
          </a:xfrm>
          <a:prstGeom prst="roundRect">
            <a:avLst>
              <a:gd name="adj" fmla="val 3590"/>
            </a:avLst>
          </a:prstGeom>
          <a:solidFill>
            <a:srgbClr val="F0F4F5"/>
          </a:solidFill>
          <a:ln/>
        </p:spPr>
        <p:txBody>
          <a:bodyPr wrap="square" lIns="114300" tIns="114300" rIns="114300" bIns="114300" rtlCol="0" anchor="t"/>
          <a:lstStyle/>
          <a:p>
            <a:pPr indent="0" marL="0">
              <a:buNone/>
            </a:pPr>
            <a:endParaRPr lang="en-US" dirty="0"/>
          </a:p>
        </p:txBody>
      </p:sp>
      <p:sp>
        <p:nvSpPr>
          <p:cNvPr id="12" name="Text 10"/>
          <p:cNvSpPr/>
          <p:nvPr/>
        </p:nvSpPr>
        <p:spPr>
          <a:xfrm>
            <a:off x="6227064" y="1097280"/>
            <a:ext cx="402336" cy="402336"/>
          </a:xfrm>
          <a:prstGeom prst="ellipse">
            <a:avLst/>
          </a:prstGeom>
          <a:solidFill>
            <a:srgbClr val="005EB8"/>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6720840" y="1133856"/>
            <a:ext cx="1874520" cy="347472"/>
          </a:xfrm>
          <a:prstGeom prst="rect">
            <a:avLst/>
          </a:prstGeom>
          <a:noFill/>
          <a:ln/>
        </p:spPr>
        <p:txBody>
          <a:bodyPr wrap="square" lIns="0" tIns="0" rIns="0" bIns="0" rtlCol="0" anchor="ctr"/>
          <a:lstStyle/>
          <a:p>
            <a:pPr indent="0" marL="0">
              <a:buNone/>
            </a:pPr>
            <a:r>
              <a:rPr lang="en-US" sz="1150" b="1" dirty="0">
                <a:solidFill>
                  <a:srgbClr val="005EB8"/>
                </a:solidFill>
                <a:latin typeface="Calibri" pitchFamily="34" charset="0"/>
                <a:ea typeface="Calibri" pitchFamily="34" charset="-122"/>
                <a:cs typeface="Calibri" pitchFamily="34" charset="-120"/>
              </a:rPr>
              <a:t>Skip What Doesn’t Apply</a:t>
            </a:r>
            <a:endParaRPr lang="en-US" sz="1150" dirty="0"/>
          </a:p>
        </p:txBody>
      </p:sp>
      <p:sp>
        <p:nvSpPr>
          <p:cNvPr id="14" name="Text 12"/>
          <p:cNvSpPr/>
          <p:nvPr/>
        </p:nvSpPr>
        <p:spPr>
          <a:xfrm>
            <a:off x="6227064" y="1627632"/>
            <a:ext cx="2304288" cy="1005840"/>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Not every box needs filling on a first project. Leave out what doesn’t fit — and be ready to say why.</a:t>
            </a:r>
            <a:endParaRPr lang="en-US" sz="950" dirty="0"/>
          </a:p>
        </p:txBody>
      </p:sp>
      <p:sp>
        <p:nvSpPr>
          <p:cNvPr id="15" name="Text 13"/>
          <p:cNvSpPr/>
          <p:nvPr/>
        </p:nvSpPr>
        <p:spPr>
          <a:xfrm>
            <a:off x="457200" y="2971800"/>
            <a:ext cx="8229600" cy="274320"/>
          </a:xfrm>
          <a:prstGeom prst="rect">
            <a:avLst/>
          </a:prstGeom>
          <a:noFill/>
          <a:ln/>
        </p:spPr>
        <p:txBody>
          <a:bodyPr wrap="square" lIns="0" tIns="0" rIns="0" bIns="0" rtlCol="0" anchor="ctr"/>
          <a:lstStyle/>
          <a:p>
            <a:pPr indent="0" marL="0">
              <a:buNone/>
            </a:pPr>
            <a:r>
              <a:rPr lang="en-US" sz="1000" b="1" dirty="0">
                <a:solidFill>
                  <a:srgbClr val="231F20"/>
                </a:solidFill>
                <a:latin typeface="Calibri" pitchFamily="34" charset="0"/>
                <a:ea typeface="Calibri" pitchFamily="34" charset="-122"/>
                <a:cs typeface="Calibri" pitchFamily="34" charset="-120"/>
              </a:rPr>
              <a:t>New to QI?  </a:t>
            </a:r>
            <a:pPr indent="0" marL="0">
              <a:buNone/>
            </a:pPr>
            <a:r>
              <a:rPr lang="en-US" sz="1000" dirty="0">
                <a:solidFill>
                  <a:srgbClr val="231F20"/>
                </a:solidFill>
                <a:latin typeface="Calibri" pitchFamily="34" charset="0"/>
                <a:ea typeface="Calibri" pitchFamily="34" charset="-122"/>
                <a:cs typeface="Calibri" pitchFamily="34" charset="-120"/>
              </a:rPr>
              <a:t>keep the SQUIRE 2.0 Reporting Guide open beside this — it explains every item in plain English, with what’s ‘enough’ at each step.</a:t>
            </a:r>
            <a:endParaRPr lang="en-US" sz="1000" dirty="0"/>
          </a:p>
        </p:txBody>
      </p:sp>
      <p:sp>
        <p:nvSpPr>
          <p:cNvPr id="16" name="Text 14">
            <a:hlinkClick r:id="rId1" tooltip=""/>
          </p:cNvPr>
          <p:cNvSpPr/>
          <p:nvPr/>
        </p:nvSpPr>
        <p:spPr>
          <a:xfrm>
            <a:off x="457200" y="3429000"/>
            <a:ext cx="2834640" cy="384048"/>
          </a:xfrm>
          <a:prstGeom prst="roundRect">
            <a:avLst>
              <a:gd name="adj" fmla="val 23810"/>
            </a:avLst>
          </a:prstGeom>
          <a:solidFill>
            <a:srgbClr val="FFFFFF"/>
          </a:solidFill>
          <a:ln w="12700">
            <a:solidFill>
              <a:srgbClr val="005EB8"/>
            </a:solidFill>
          </a:ln>
        </p:spPr>
        <p:txBody>
          <a:bodyPr wrap="square" lIns="0" tIns="0" rIns="0" bIns="0" rtlCol="0" anchor="ctr"/>
          <a:lstStyle/>
          <a:p>
            <a:pPr algn="ctr" indent="0" marL="0">
              <a:buNone/>
            </a:pPr>
            <a:r>
              <a:rPr lang="en-US" sz="950" b="1" u="sng" dirty="0">
                <a:solidFill>
                  <a:srgbClr val="005EB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SQUIRE Website — checklist &amp; guidance</a:t>
            </a:r>
            <a:endParaRPr lang="en-US" sz="950" dirty="0"/>
          </a:p>
        </p:txBody>
      </p:sp>
      <p:sp>
        <p:nvSpPr>
          <p:cNvPr id="17" name="Text 15">
            <a:hlinkClick r:id="rId2" tooltip=""/>
          </p:cNvPr>
          <p:cNvSpPr/>
          <p:nvPr/>
        </p:nvSpPr>
        <p:spPr>
          <a:xfrm>
            <a:off x="3520440" y="3429000"/>
            <a:ext cx="2834640" cy="384048"/>
          </a:xfrm>
          <a:prstGeom prst="roundRect">
            <a:avLst>
              <a:gd name="adj" fmla="val 23810"/>
            </a:avLst>
          </a:prstGeom>
          <a:solidFill>
            <a:srgbClr val="FFFFFF"/>
          </a:solidFill>
          <a:ln w="12700">
            <a:solidFill>
              <a:srgbClr val="005EB8"/>
            </a:solidFill>
          </a:ln>
        </p:spPr>
        <p:txBody>
          <a:bodyPr wrap="square" lIns="0" tIns="0" rIns="0" bIns="0" rtlCol="0" anchor="ctr"/>
          <a:lstStyle/>
          <a:p>
            <a:pPr algn="ctr" indent="0" marL="0">
              <a:buNone/>
            </a:pPr>
            <a:r>
              <a:rPr lang="en-US" sz="950" b="1" u="sng" dirty="0">
                <a:solidFill>
                  <a:srgbClr val="005EB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Explanation &amp; Elaboration + Glossary</a:t>
            </a:r>
            <a:endParaRPr lang="en-US" sz="950" dirty="0"/>
          </a:p>
        </p:txBody>
      </p:sp>
      <p:sp>
        <p:nvSpPr>
          <p:cNvPr id="18" name="Text 16"/>
          <p:cNvSpPr/>
          <p:nvPr/>
        </p:nvSpPr>
        <p:spPr>
          <a:xfrm>
            <a:off x="457200" y="4069080"/>
            <a:ext cx="8229600" cy="365760"/>
          </a:xfrm>
          <a:prstGeom prst="rect">
            <a:avLst/>
          </a:prstGeom>
          <a:noFill/>
          <a:ln/>
        </p:spPr>
        <p:txBody>
          <a:bodyPr wrap="square" lIns="0" tIns="0" rIns="0" bIns="0" rtlCol="0" anchor="ctr"/>
          <a:lstStyle/>
          <a:p>
            <a:pPr indent="0" marL="0">
              <a:buNone/>
            </a:pPr>
            <a:r>
              <a:rPr lang="en-US" sz="850" i="1" dirty="0">
                <a:solidFill>
                  <a:srgbClr val="425563"/>
                </a:solidFill>
                <a:latin typeface="Calibri" pitchFamily="34" charset="0"/>
                <a:ea typeface="Calibri" pitchFamily="34" charset="-122"/>
                <a:cs typeface="Calibri" pitchFamily="34" charset="-120"/>
              </a:rPr>
              <a:t>Cite SQUIRE in any written report:  Ogrinc G, et al. SQUIRE 2.0 — revised publication guidelines from a detailed consensus process. BMJ Qual Saf 2016;25:986–992.</a:t>
            </a:r>
            <a:endParaRPr lang="en-US" sz="850" dirty="0"/>
          </a:p>
        </p:txBody>
      </p:sp>
      <p:sp>
        <p:nvSpPr>
          <p:cNvPr id="19" name="Text 17"/>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05EB8"/>
                </a:solidFill>
                <a:latin typeface="Calibri" pitchFamily="34" charset="0"/>
                <a:ea typeface="Calibri" pitchFamily="34" charset="-122"/>
                <a:cs typeface="Calibri" pitchFamily="34" charset="-120"/>
              </a:rPr>
              <a:t>AIM Quality Improvement Team  |  Queen Elizabeth Hospital Birmingham</a:t>
            </a:r>
            <a:endParaRPr lang="en-US" sz="750" dirty="0"/>
          </a:p>
        </p:txBody>
      </p:sp>
      <p:sp>
        <p:nvSpPr>
          <p:cNvPr id="20" name="Text 18"/>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AA5AA"/>
                </a:solidFill>
                <a:latin typeface="Calibri" pitchFamily="34" charset="0"/>
                <a:ea typeface="Calibri" pitchFamily="34" charset="-122"/>
                <a:cs typeface="Calibri" pitchFamily="34" charset="-120"/>
              </a:rPr>
              <a:t>SQUIRE 2.0 Presentation Template</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3087"/>
        </a:solidFill>
      </p:bgPr>
    </p:bg>
    <p:spTree>
      <p:nvGrpSpPr>
        <p:cNvPr id="1" name=""/>
        <p:cNvGrpSpPr/>
        <p:nvPr/>
      </p:nvGrpSpPr>
      <p:grpSpPr>
        <a:xfrm>
          <a:off x="0" y="0"/>
          <a:ext cx="0" cy="0"/>
          <a:chOff x="0" y="0"/>
          <a:chExt cx="0" cy="0"/>
        </a:xfrm>
      </p:grpSpPr>
      <p:sp>
        <p:nvSpPr>
          <p:cNvPr id="2" name="Text 0"/>
          <p:cNvSpPr/>
          <p:nvPr/>
        </p:nvSpPr>
        <p:spPr>
          <a:xfrm>
            <a:off x="5120640" y="502920"/>
            <a:ext cx="3749040" cy="2377440"/>
          </a:xfrm>
          <a:prstGeom prst="rect">
            <a:avLst/>
          </a:prstGeom>
          <a:noFill/>
          <a:ln/>
        </p:spPr>
        <p:txBody>
          <a:bodyPr wrap="square" lIns="0" tIns="0" rIns="0" bIns="0" rtlCol="0" anchor="ctr"/>
          <a:lstStyle/>
          <a:p>
            <a:pPr algn="r" indent="0" marL="0">
              <a:buNone/>
            </a:pPr>
            <a:r>
              <a:rPr lang="en-US" sz="15000" b="1" dirty="0">
                <a:solidFill>
                  <a:srgbClr val="003087"/>
                </a:solidFill>
                <a:latin typeface="Calibri" pitchFamily="34" charset="0"/>
                <a:ea typeface="Calibri" pitchFamily="34" charset="-122"/>
                <a:cs typeface="Calibri" pitchFamily="34" charset="-120"/>
              </a:rPr>
              <a:t>01</a:t>
            </a:r>
            <a:endParaRPr lang="en-US" sz="15000" dirty="0"/>
          </a:p>
        </p:txBody>
      </p:sp>
      <p:sp>
        <p:nvSpPr>
          <p:cNvPr id="3" name="Text 1"/>
          <p:cNvSpPr/>
          <p:nvPr/>
        </p:nvSpPr>
        <p:spPr>
          <a:xfrm>
            <a:off x="640080" y="1298448"/>
            <a:ext cx="6858000" cy="256032"/>
          </a:xfrm>
          <a:prstGeom prst="rect">
            <a:avLst/>
          </a:prstGeom>
          <a:noFill/>
          <a:ln/>
        </p:spPr>
        <p:txBody>
          <a:bodyPr wrap="square" lIns="0" tIns="0" rIns="0" bIns="0" rtlCol="0" anchor="ctr"/>
          <a:lstStyle/>
          <a:p>
            <a:pPr indent="0" marL="0">
              <a:buNone/>
            </a:pPr>
            <a:r>
              <a:rPr lang="en-US" sz="1050" b="1" spc="200" kern="0" dirty="0">
                <a:solidFill>
                  <a:srgbClr val="41B6E6"/>
                </a:solidFill>
                <a:latin typeface="Calibri" pitchFamily="34" charset="0"/>
                <a:ea typeface="Calibri" pitchFamily="34" charset="-122"/>
                <a:cs typeface="Calibri" pitchFamily="34" charset="-120"/>
              </a:rPr>
              <a:t>SECTION 1  ·  ITEMS 1–2</a:t>
            </a:r>
            <a:endParaRPr lang="en-US" sz="1050" dirty="0"/>
          </a:p>
        </p:txBody>
      </p:sp>
      <p:sp>
        <p:nvSpPr>
          <p:cNvPr id="4" name="Text 2"/>
          <p:cNvSpPr/>
          <p:nvPr/>
        </p:nvSpPr>
        <p:spPr>
          <a:xfrm>
            <a:off x="640080" y="1609344"/>
            <a:ext cx="7498080" cy="77724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Title &amp; Abstract</a:t>
            </a:r>
            <a:endParaRPr lang="en-US" sz="4000" dirty="0"/>
          </a:p>
        </p:txBody>
      </p:sp>
      <p:sp>
        <p:nvSpPr>
          <p:cNvPr id="5" name="Text 3"/>
          <p:cNvSpPr/>
          <p:nvPr/>
        </p:nvSpPr>
        <p:spPr>
          <a:xfrm>
            <a:off x="640080" y="2450592"/>
            <a:ext cx="7498080" cy="365760"/>
          </a:xfrm>
          <a:prstGeom prst="rect">
            <a:avLst/>
          </a:prstGeom>
          <a:noFill/>
          <a:ln/>
        </p:spPr>
        <p:txBody>
          <a:bodyPr wrap="square" lIns="0" tIns="0" rIns="0" bIns="0" rtlCol="0" anchor="ctr"/>
          <a:lstStyle/>
          <a:p>
            <a:pPr indent="0" marL="0">
              <a:buNone/>
            </a:pPr>
            <a:r>
              <a:rPr lang="en-US" sz="1350" i="1" dirty="0">
                <a:solidFill>
                  <a:srgbClr val="E8EDEE"/>
                </a:solidFill>
                <a:latin typeface="Calibri" pitchFamily="34" charset="0"/>
                <a:ea typeface="Calibri" pitchFamily="34" charset="-122"/>
                <a:cs typeface="Calibri" pitchFamily="34" charset="-120"/>
              </a:rPr>
              <a:t>Make your work findable — then summarise it.</a:t>
            </a:r>
            <a:endParaRPr lang="en-US" sz="1350" dirty="0"/>
          </a:p>
        </p:txBody>
      </p:sp>
      <p:sp>
        <p:nvSpPr>
          <p:cNvPr id="6" name="Text 4"/>
          <p:cNvSpPr/>
          <p:nvPr/>
        </p:nvSpPr>
        <p:spPr>
          <a:xfrm>
            <a:off x="640080" y="3310128"/>
            <a:ext cx="938174" cy="347472"/>
          </a:xfrm>
          <a:prstGeom prst="roundRect">
            <a:avLst>
              <a:gd name="adj" fmla="val 47368"/>
            </a:avLst>
          </a:prstGeom>
          <a:solidFill>
            <a:srgbClr val="0072CE"/>
          </a:solid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1 · Title</a:t>
            </a:r>
            <a:endParaRPr lang="en-US" sz="900" dirty="0"/>
          </a:p>
        </p:txBody>
      </p:sp>
      <p:sp>
        <p:nvSpPr>
          <p:cNvPr id="7" name="Text 5"/>
          <p:cNvSpPr/>
          <p:nvPr/>
        </p:nvSpPr>
        <p:spPr>
          <a:xfrm>
            <a:off x="1706270" y="3310128"/>
            <a:ext cx="1141171" cy="347472"/>
          </a:xfrm>
          <a:prstGeom prst="roundRect">
            <a:avLst>
              <a:gd name="adj" fmla="val 47368"/>
            </a:avLst>
          </a:prstGeom>
          <a:solidFill>
            <a:srgbClr val="0072CE"/>
          </a:solid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2 · Abstract</a:t>
            </a:r>
            <a:endParaRPr lang="en-US" sz="900" dirty="0"/>
          </a:p>
        </p:txBody>
      </p:sp>
      <p:sp>
        <p:nvSpPr>
          <p:cNvPr id="8" name="Text 6"/>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41B6E6"/>
                </a:solidFill>
                <a:latin typeface="Calibri" pitchFamily="34" charset="0"/>
                <a:ea typeface="Calibri" pitchFamily="34" charset="-122"/>
                <a:cs typeface="Calibri" pitchFamily="34" charset="-120"/>
              </a:rPr>
              <a:t>AIM Quality Improvement Team  |  Queen Elizabeth Hospital Birmingham</a:t>
            </a:r>
            <a:endParaRPr lang="en-US" sz="750" dirty="0"/>
          </a:p>
        </p:txBody>
      </p:sp>
      <p:sp>
        <p:nvSpPr>
          <p:cNvPr id="9" name="Text 7"/>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FB6BC"/>
                </a:solidFill>
                <a:latin typeface="Calibri" pitchFamily="34" charset="0"/>
                <a:ea typeface="Calibri" pitchFamily="34" charset="-122"/>
                <a:cs typeface="Calibri" pitchFamily="34" charset="-120"/>
              </a:rPr>
              <a:t>SQUIRE 2.0 Presentation Template</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05EB8"/>
                </a:solidFill>
                <a:latin typeface="Calibri" pitchFamily="34" charset="0"/>
                <a:ea typeface="Calibri" pitchFamily="34" charset="-122"/>
                <a:cs typeface="Calibri" pitchFamily="34" charset="-120"/>
              </a:rPr>
              <a:t>WRITE THIS SLIDE LAST — ~250 WORDS, ONE OR TWO SENTENCES PER BOX</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231F20"/>
                </a:solidFill>
                <a:latin typeface="Calibri" pitchFamily="34" charset="0"/>
                <a:ea typeface="Calibri" pitchFamily="34" charset="-122"/>
                <a:cs typeface="Calibri" pitchFamily="34" charset="-120"/>
              </a:rPr>
              <a:t>Abstract</a:t>
            </a:r>
            <a:endParaRPr lang="en-US" sz="2200" dirty="0"/>
          </a:p>
        </p:txBody>
      </p:sp>
      <p:sp>
        <p:nvSpPr>
          <p:cNvPr id="4" name="Text 2"/>
          <p:cNvSpPr/>
          <p:nvPr/>
        </p:nvSpPr>
        <p:spPr>
          <a:xfrm>
            <a:off x="7907731" y="292608"/>
            <a:ext cx="779069" cy="310896"/>
          </a:xfrm>
          <a:prstGeom prst="roundRect">
            <a:avLst>
              <a:gd name="adj" fmla="val 47059"/>
            </a:avLst>
          </a:prstGeom>
          <a:solidFill>
            <a:srgbClr val="005EB8"/>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ITEM 2</a:t>
            </a:r>
            <a:endParaRPr lang="en-US" sz="900" dirty="0"/>
          </a:p>
        </p:txBody>
      </p:sp>
      <p:sp>
        <p:nvSpPr>
          <p:cNvPr id="5" name="Text 3"/>
          <p:cNvSpPr/>
          <p:nvPr/>
        </p:nvSpPr>
        <p:spPr>
          <a:xfrm>
            <a:off x="457200" y="932688"/>
            <a:ext cx="2624328" cy="1536192"/>
          </a:xfrm>
          <a:prstGeom prst="roundRect">
            <a:avLst>
              <a:gd name="adj" fmla="val 4167"/>
            </a:avLst>
          </a:prstGeom>
          <a:solidFill>
            <a:srgbClr val="F0F4F5"/>
          </a:solidFill>
          <a:ln/>
        </p:spPr>
        <p:txBody>
          <a:bodyPr wrap="square" lIns="114300" tIns="114300" rIns="114300" bIns="114300" rtlCol="0" anchor="t"/>
          <a:lstStyle/>
          <a:p>
            <a:pPr indent="0" marL="0">
              <a:spcAft>
                <a:spcPts val="400"/>
              </a:spcAft>
              <a:buNone/>
            </a:pPr>
            <a:r>
              <a:rPr lang="en-US" sz="1150" b="1" dirty="0">
                <a:solidFill>
                  <a:srgbClr val="005EB8"/>
                </a:solidFill>
                <a:latin typeface="Calibri" pitchFamily="34" charset="0"/>
                <a:ea typeface="Calibri" pitchFamily="34" charset="-122"/>
                <a:cs typeface="Calibri" pitchFamily="34" charset="-120"/>
              </a:rPr>
              <a:t>Background</a:t>
            </a:r>
            <a:endParaRPr lang="en-US" sz="1150" dirty="0"/>
          </a:p>
          <a:p>
            <a:pPr indent="0" marL="0">
              <a:spcBef>
                <a:spcPts val="400"/>
              </a:spcBef>
              <a:buNone/>
            </a:pPr>
            <a:r>
              <a:rPr lang="en-US" sz="950" i="1" dirty="0">
                <a:solidFill>
                  <a:srgbClr val="768692"/>
                </a:solidFill>
                <a:latin typeface="Calibri" pitchFamily="34" charset="0"/>
                <a:ea typeface="Calibri" pitchFamily="34" charset="-122"/>
                <a:cs typeface="Calibri" pitchFamily="34" charset="-120"/>
              </a:rPr>
              <a:t>Enter text…</a:t>
            </a:r>
            <a:endParaRPr lang="en-US" sz="1150" dirty="0"/>
          </a:p>
        </p:txBody>
      </p:sp>
      <p:sp>
        <p:nvSpPr>
          <p:cNvPr id="6" name="Text 4"/>
          <p:cNvSpPr/>
          <p:nvPr/>
        </p:nvSpPr>
        <p:spPr>
          <a:xfrm>
            <a:off x="3259836" y="932688"/>
            <a:ext cx="2624328" cy="1536192"/>
          </a:xfrm>
          <a:prstGeom prst="roundRect">
            <a:avLst>
              <a:gd name="adj" fmla="val 4167"/>
            </a:avLst>
          </a:prstGeom>
          <a:solidFill>
            <a:srgbClr val="F0F4F5"/>
          </a:solidFill>
          <a:ln/>
        </p:spPr>
        <p:txBody>
          <a:bodyPr wrap="square" lIns="114300" tIns="114300" rIns="114300" bIns="114300" rtlCol="0" anchor="t"/>
          <a:lstStyle/>
          <a:p>
            <a:pPr indent="0" marL="0">
              <a:spcAft>
                <a:spcPts val="400"/>
              </a:spcAft>
              <a:buNone/>
            </a:pPr>
            <a:r>
              <a:rPr lang="en-US" sz="1150" b="1" dirty="0">
                <a:solidFill>
                  <a:srgbClr val="005EB8"/>
                </a:solidFill>
                <a:latin typeface="Calibri" pitchFamily="34" charset="0"/>
                <a:ea typeface="Calibri" pitchFamily="34" charset="-122"/>
                <a:cs typeface="Calibri" pitchFamily="34" charset="-120"/>
              </a:rPr>
              <a:t>Local Problem</a:t>
            </a:r>
            <a:endParaRPr lang="en-US" sz="1150" dirty="0"/>
          </a:p>
          <a:p>
            <a:pPr indent="0" marL="0">
              <a:spcBef>
                <a:spcPts val="400"/>
              </a:spcBef>
              <a:buNone/>
            </a:pPr>
            <a:r>
              <a:rPr lang="en-US" sz="950" i="1" dirty="0">
                <a:solidFill>
                  <a:srgbClr val="768692"/>
                </a:solidFill>
                <a:latin typeface="Calibri" pitchFamily="34" charset="0"/>
                <a:ea typeface="Calibri" pitchFamily="34" charset="-122"/>
                <a:cs typeface="Calibri" pitchFamily="34" charset="-120"/>
              </a:rPr>
              <a:t>Enter text…</a:t>
            </a:r>
            <a:endParaRPr lang="en-US" sz="1150" dirty="0"/>
          </a:p>
        </p:txBody>
      </p:sp>
      <p:sp>
        <p:nvSpPr>
          <p:cNvPr id="7" name="Text 5"/>
          <p:cNvSpPr/>
          <p:nvPr/>
        </p:nvSpPr>
        <p:spPr>
          <a:xfrm>
            <a:off x="6062472" y="932688"/>
            <a:ext cx="2624328" cy="1536192"/>
          </a:xfrm>
          <a:prstGeom prst="roundRect">
            <a:avLst>
              <a:gd name="adj" fmla="val 4167"/>
            </a:avLst>
          </a:prstGeom>
          <a:solidFill>
            <a:srgbClr val="F0F4F5"/>
          </a:solidFill>
          <a:ln/>
        </p:spPr>
        <p:txBody>
          <a:bodyPr wrap="square" lIns="114300" tIns="114300" rIns="114300" bIns="114300" rtlCol="0" anchor="t"/>
          <a:lstStyle/>
          <a:p>
            <a:pPr indent="0" marL="0">
              <a:spcAft>
                <a:spcPts val="400"/>
              </a:spcAft>
              <a:buNone/>
            </a:pPr>
            <a:r>
              <a:rPr lang="en-US" sz="1150" b="1" dirty="0">
                <a:solidFill>
                  <a:srgbClr val="005EB8"/>
                </a:solidFill>
                <a:latin typeface="Calibri" pitchFamily="34" charset="0"/>
                <a:ea typeface="Calibri" pitchFamily="34" charset="-122"/>
                <a:cs typeface="Calibri" pitchFamily="34" charset="-120"/>
              </a:rPr>
              <a:t>Methods</a:t>
            </a:r>
            <a:endParaRPr lang="en-US" sz="1150" dirty="0"/>
          </a:p>
          <a:p>
            <a:pPr indent="0" marL="0">
              <a:spcBef>
                <a:spcPts val="400"/>
              </a:spcBef>
              <a:buNone/>
            </a:pPr>
            <a:r>
              <a:rPr lang="en-US" sz="950" i="1" dirty="0">
                <a:solidFill>
                  <a:srgbClr val="768692"/>
                </a:solidFill>
                <a:latin typeface="Calibri" pitchFamily="34" charset="0"/>
                <a:ea typeface="Calibri" pitchFamily="34" charset="-122"/>
                <a:cs typeface="Calibri" pitchFamily="34" charset="-120"/>
              </a:rPr>
              <a:t>Enter text…</a:t>
            </a:r>
            <a:endParaRPr lang="en-US" sz="1150" dirty="0"/>
          </a:p>
        </p:txBody>
      </p:sp>
      <p:sp>
        <p:nvSpPr>
          <p:cNvPr id="8" name="Text 6"/>
          <p:cNvSpPr/>
          <p:nvPr/>
        </p:nvSpPr>
        <p:spPr>
          <a:xfrm>
            <a:off x="457200" y="2596896"/>
            <a:ext cx="2624328" cy="1536192"/>
          </a:xfrm>
          <a:prstGeom prst="roundRect">
            <a:avLst>
              <a:gd name="adj" fmla="val 4167"/>
            </a:avLst>
          </a:prstGeom>
          <a:solidFill>
            <a:srgbClr val="F0F4F5"/>
          </a:solidFill>
          <a:ln/>
        </p:spPr>
        <p:txBody>
          <a:bodyPr wrap="square" lIns="114300" tIns="114300" rIns="114300" bIns="114300" rtlCol="0" anchor="t"/>
          <a:lstStyle/>
          <a:p>
            <a:pPr indent="0" marL="0">
              <a:spcAft>
                <a:spcPts val="400"/>
              </a:spcAft>
              <a:buNone/>
            </a:pPr>
            <a:r>
              <a:rPr lang="en-US" sz="1150" b="1" dirty="0">
                <a:solidFill>
                  <a:srgbClr val="005EB8"/>
                </a:solidFill>
                <a:latin typeface="Calibri" pitchFamily="34" charset="0"/>
                <a:ea typeface="Calibri" pitchFamily="34" charset="-122"/>
                <a:cs typeface="Calibri" pitchFamily="34" charset="-120"/>
              </a:rPr>
              <a:t>Intervention(s)</a:t>
            </a:r>
            <a:endParaRPr lang="en-US" sz="1150" dirty="0"/>
          </a:p>
          <a:p>
            <a:pPr indent="0" marL="0">
              <a:spcBef>
                <a:spcPts val="400"/>
              </a:spcBef>
              <a:buNone/>
            </a:pPr>
            <a:r>
              <a:rPr lang="en-US" sz="950" i="1" dirty="0">
                <a:solidFill>
                  <a:srgbClr val="768692"/>
                </a:solidFill>
                <a:latin typeface="Calibri" pitchFamily="34" charset="0"/>
                <a:ea typeface="Calibri" pitchFamily="34" charset="-122"/>
                <a:cs typeface="Calibri" pitchFamily="34" charset="-120"/>
              </a:rPr>
              <a:t>Enter text…</a:t>
            </a:r>
            <a:endParaRPr lang="en-US" sz="1150" dirty="0"/>
          </a:p>
        </p:txBody>
      </p:sp>
      <p:sp>
        <p:nvSpPr>
          <p:cNvPr id="9" name="Text 7"/>
          <p:cNvSpPr/>
          <p:nvPr/>
        </p:nvSpPr>
        <p:spPr>
          <a:xfrm>
            <a:off x="3259836" y="2596896"/>
            <a:ext cx="2624328" cy="1536192"/>
          </a:xfrm>
          <a:prstGeom prst="roundRect">
            <a:avLst>
              <a:gd name="adj" fmla="val 4167"/>
            </a:avLst>
          </a:prstGeom>
          <a:solidFill>
            <a:srgbClr val="F0F4F5"/>
          </a:solidFill>
          <a:ln/>
        </p:spPr>
        <p:txBody>
          <a:bodyPr wrap="square" lIns="114300" tIns="114300" rIns="114300" bIns="114300" rtlCol="0" anchor="t"/>
          <a:lstStyle/>
          <a:p>
            <a:pPr indent="0" marL="0">
              <a:spcAft>
                <a:spcPts val="400"/>
              </a:spcAft>
              <a:buNone/>
            </a:pPr>
            <a:r>
              <a:rPr lang="en-US" sz="1150" b="1" dirty="0">
                <a:solidFill>
                  <a:srgbClr val="005EB8"/>
                </a:solidFill>
                <a:latin typeface="Calibri" pitchFamily="34" charset="0"/>
                <a:ea typeface="Calibri" pitchFamily="34" charset="-122"/>
                <a:cs typeface="Calibri" pitchFamily="34" charset="-120"/>
              </a:rPr>
              <a:t>Results</a:t>
            </a:r>
            <a:endParaRPr lang="en-US" sz="1150" dirty="0"/>
          </a:p>
          <a:p>
            <a:pPr indent="0" marL="0">
              <a:spcBef>
                <a:spcPts val="400"/>
              </a:spcBef>
              <a:buNone/>
            </a:pPr>
            <a:r>
              <a:rPr lang="en-US" sz="950" i="1" dirty="0">
                <a:solidFill>
                  <a:srgbClr val="768692"/>
                </a:solidFill>
                <a:latin typeface="Calibri" pitchFamily="34" charset="0"/>
                <a:ea typeface="Calibri" pitchFamily="34" charset="-122"/>
                <a:cs typeface="Calibri" pitchFamily="34" charset="-120"/>
              </a:rPr>
              <a:t>Enter text…</a:t>
            </a:r>
            <a:endParaRPr lang="en-US" sz="1150" dirty="0"/>
          </a:p>
        </p:txBody>
      </p:sp>
      <p:sp>
        <p:nvSpPr>
          <p:cNvPr id="10" name="Text 8"/>
          <p:cNvSpPr/>
          <p:nvPr/>
        </p:nvSpPr>
        <p:spPr>
          <a:xfrm>
            <a:off x="6062472" y="2596896"/>
            <a:ext cx="2624328" cy="1536192"/>
          </a:xfrm>
          <a:prstGeom prst="roundRect">
            <a:avLst>
              <a:gd name="adj" fmla="val 4167"/>
            </a:avLst>
          </a:prstGeom>
          <a:solidFill>
            <a:srgbClr val="F0F4F5"/>
          </a:solidFill>
          <a:ln/>
        </p:spPr>
        <p:txBody>
          <a:bodyPr wrap="square" lIns="114300" tIns="114300" rIns="114300" bIns="114300" rtlCol="0" anchor="t"/>
          <a:lstStyle/>
          <a:p>
            <a:pPr indent="0" marL="0">
              <a:spcAft>
                <a:spcPts val="400"/>
              </a:spcAft>
              <a:buNone/>
            </a:pPr>
            <a:r>
              <a:rPr lang="en-US" sz="1150" b="1" dirty="0">
                <a:solidFill>
                  <a:srgbClr val="005EB8"/>
                </a:solidFill>
                <a:latin typeface="Calibri" pitchFamily="34" charset="0"/>
                <a:ea typeface="Calibri" pitchFamily="34" charset="-122"/>
                <a:cs typeface="Calibri" pitchFamily="34" charset="-120"/>
              </a:rPr>
              <a:t>Conclusions</a:t>
            </a:r>
            <a:endParaRPr lang="en-US" sz="1150" dirty="0"/>
          </a:p>
          <a:p>
            <a:pPr indent="0" marL="0">
              <a:spcBef>
                <a:spcPts val="400"/>
              </a:spcBef>
              <a:buNone/>
            </a:pPr>
            <a:r>
              <a:rPr lang="en-US" sz="950" i="1" dirty="0">
                <a:solidFill>
                  <a:srgbClr val="768692"/>
                </a:solidFill>
                <a:latin typeface="Calibri" pitchFamily="34" charset="0"/>
                <a:ea typeface="Calibri" pitchFamily="34" charset="-122"/>
                <a:cs typeface="Calibri" pitchFamily="34" charset="-120"/>
              </a:rPr>
              <a:t>Enter text…</a:t>
            </a:r>
            <a:endParaRPr lang="en-US" sz="1150" dirty="0"/>
          </a:p>
        </p:txBody>
      </p:sp>
      <p:sp>
        <p:nvSpPr>
          <p:cNvPr id="11" name="Text 9"/>
          <p:cNvSpPr/>
          <p:nvPr/>
        </p:nvSpPr>
        <p:spPr>
          <a:xfrm>
            <a:off x="457200" y="4279392"/>
            <a:ext cx="8229600" cy="256032"/>
          </a:xfrm>
          <a:prstGeom prst="rect">
            <a:avLst/>
          </a:prstGeom>
          <a:noFill/>
          <a:ln/>
        </p:spPr>
        <p:txBody>
          <a:bodyPr wrap="square" lIns="0" tIns="0" rIns="0" bIns="0" rtlCol="0" anchor="ctr"/>
          <a:lstStyle/>
          <a:p>
            <a:pPr indent="0" marL="0">
              <a:buNone/>
            </a:pPr>
            <a:r>
              <a:rPr lang="en-US" sz="850" i="1" dirty="0">
                <a:solidFill>
                  <a:srgbClr val="425563"/>
                </a:solidFill>
                <a:latin typeface="Calibri" pitchFamily="34" charset="0"/>
                <a:ea typeface="Calibri" pitchFamily="34" charset="-122"/>
                <a:cs typeface="Calibri" pitchFamily="34" charset="-120"/>
              </a:rPr>
              <a:t>Item 2 — just enough detail that someone searching could find and understand your project.</a:t>
            </a:r>
            <a:endParaRPr lang="en-US" sz="850" dirty="0"/>
          </a:p>
        </p:txBody>
      </p:sp>
      <p:sp>
        <p:nvSpPr>
          <p:cNvPr id="13" name="Text 10"/>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05EB8"/>
                </a:solidFill>
                <a:latin typeface="Calibri" pitchFamily="34" charset="0"/>
                <a:ea typeface="Calibri" pitchFamily="34" charset="-122"/>
                <a:cs typeface="Calibri" pitchFamily="34" charset="-120"/>
              </a:rPr>
              <a:t>AIM Quality Improvement Team  |  Queen Elizabeth Hospital Birmingham</a:t>
            </a:r>
            <a:endParaRPr lang="en-US" sz="750" dirty="0"/>
          </a:p>
        </p:txBody>
      </p:sp>
      <p:sp>
        <p:nvSpPr>
          <p:cNvPr id="14" name="Text 11"/>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AA5AA"/>
                </a:solidFill>
                <a:latin typeface="Calibri" pitchFamily="34" charset="0"/>
                <a:ea typeface="Calibri" pitchFamily="34" charset="-122"/>
                <a:cs typeface="Calibri" pitchFamily="34" charset="-120"/>
              </a:rPr>
              <a:t>SQUIRE 2.0 Presentation Template</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3087"/>
        </a:solidFill>
      </p:bgPr>
    </p:bg>
    <p:spTree>
      <p:nvGrpSpPr>
        <p:cNvPr id="1" name=""/>
        <p:cNvGrpSpPr/>
        <p:nvPr/>
      </p:nvGrpSpPr>
      <p:grpSpPr>
        <a:xfrm>
          <a:off x="0" y="0"/>
          <a:ext cx="0" cy="0"/>
          <a:chOff x="0" y="0"/>
          <a:chExt cx="0" cy="0"/>
        </a:xfrm>
      </p:grpSpPr>
      <p:sp>
        <p:nvSpPr>
          <p:cNvPr id="2" name="Text 0"/>
          <p:cNvSpPr/>
          <p:nvPr/>
        </p:nvSpPr>
        <p:spPr>
          <a:xfrm>
            <a:off x="5120640" y="502920"/>
            <a:ext cx="3749040" cy="2377440"/>
          </a:xfrm>
          <a:prstGeom prst="rect">
            <a:avLst/>
          </a:prstGeom>
          <a:noFill/>
          <a:ln/>
        </p:spPr>
        <p:txBody>
          <a:bodyPr wrap="square" lIns="0" tIns="0" rIns="0" bIns="0" rtlCol="0" anchor="ctr"/>
          <a:lstStyle/>
          <a:p>
            <a:pPr algn="r" indent="0" marL="0">
              <a:buNone/>
            </a:pPr>
            <a:r>
              <a:rPr lang="en-US" sz="15000" b="1" dirty="0">
                <a:solidFill>
                  <a:srgbClr val="003087"/>
                </a:solidFill>
                <a:latin typeface="Calibri" pitchFamily="34" charset="0"/>
                <a:ea typeface="Calibri" pitchFamily="34" charset="-122"/>
                <a:cs typeface="Calibri" pitchFamily="34" charset="-120"/>
              </a:rPr>
              <a:t>02</a:t>
            </a:r>
            <a:endParaRPr lang="en-US" sz="15000" dirty="0"/>
          </a:p>
        </p:txBody>
      </p:sp>
      <p:sp>
        <p:nvSpPr>
          <p:cNvPr id="3" name="Text 1"/>
          <p:cNvSpPr/>
          <p:nvPr/>
        </p:nvSpPr>
        <p:spPr>
          <a:xfrm>
            <a:off x="640080" y="1298448"/>
            <a:ext cx="6858000" cy="256032"/>
          </a:xfrm>
          <a:prstGeom prst="rect">
            <a:avLst/>
          </a:prstGeom>
          <a:noFill/>
          <a:ln/>
        </p:spPr>
        <p:txBody>
          <a:bodyPr wrap="square" lIns="0" tIns="0" rIns="0" bIns="0" rtlCol="0" anchor="ctr"/>
          <a:lstStyle/>
          <a:p>
            <a:pPr indent="0" marL="0">
              <a:buNone/>
            </a:pPr>
            <a:r>
              <a:rPr lang="en-US" sz="1050" b="1" spc="200" kern="0" dirty="0">
                <a:solidFill>
                  <a:srgbClr val="41B6E6"/>
                </a:solidFill>
                <a:latin typeface="Calibri" pitchFamily="34" charset="0"/>
                <a:ea typeface="Calibri" pitchFamily="34" charset="-122"/>
                <a:cs typeface="Calibri" pitchFamily="34" charset="-120"/>
              </a:rPr>
              <a:t>SECTION 2  ·  ITEMS 3–6</a:t>
            </a:r>
            <a:endParaRPr lang="en-US" sz="1050" dirty="0"/>
          </a:p>
        </p:txBody>
      </p:sp>
      <p:sp>
        <p:nvSpPr>
          <p:cNvPr id="4" name="Text 2"/>
          <p:cNvSpPr/>
          <p:nvPr/>
        </p:nvSpPr>
        <p:spPr>
          <a:xfrm>
            <a:off x="640080" y="1609344"/>
            <a:ext cx="7498080" cy="77724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Introduction</a:t>
            </a:r>
            <a:endParaRPr lang="en-US" sz="4000" dirty="0"/>
          </a:p>
        </p:txBody>
      </p:sp>
      <p:sp>
        <p:nvSpPr>
          <p:cNvPr id="5" name="Text 3"/>
          <p:cNvSpPr/>
          <p:nvPr/>
        </p:nvSpPr>
        <p:spPr>
          <a:xfrm>
            <a:off x="640080" y="2450592"/>
            <a:ext cx="7498080" cy="365760"/>
          </a:xfrm>
          <a:prstGeom prst="rect">
            <a:avLst/>
          </a:prstGeom>
          <a:noFill/>
          <a:ln/>
        </p:spPr>
        <p:txBody>
          <a:bodyPr wrap="square" lIns="0" tIns="0" rIns="0" bIns="0" rtlCol="0" anchor="ctr"/>
          <a:lstStyle/>
          <a:p>
            <a:pPr indent="0" marL="0">
              <a:buNone/>
            </a:pPr>
            <a:r>
              <a:rPr lang="en-US" sz="1350" i="1" dirty="0">
                <a:solidFill>
                  <a:srgbClr val="E8EDEE"/>
                </a:solidFill>
                <a:latin typeface="Calibri" pitchFamily="34" charset="0"/>
                <a:ea typeface="Calibri" pitchFamily="34" charset="-122"/>
                <a:cs typeface="Calibri" pitchFamily="34" charset="-120"/>
              </a:rPr>
              <a:t>“Why did you start?”</a:t>
            </a:r>
            <a:endParaRPr lang="en-US" sz="1350" dirty="0"/>
          </a:p>
        </p:txBody>
      </p:sp>
      <p:sp>
        <p:nvSpPr>
          <p:cNvPr id="6" name="Text 4"/>
          <p:cNvSpPr/>
          <p:nvPr/>
        </p:nvSpPr>
        <p:spPr>
          <a:xfrm>
            <a:off x="640080" y="3310128"/>
            <a:ext cx="1885493" cy="347472"/>
          </a:xfrm>
          <a:prstGeom prst="roundRect">
            <a:avLst>
              <a:gd name="adj" fmla="val 47368"/>
            </a:avLst>
          </a:prstGeom>
          <a:solidFill>
            <a:srgbClr val="0072CE"/>
          </a:solid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3 · Problem Description</a:t>
            </a:r>
            <a:endParaRPr lang="en-US" sz="900" dirty="0"/>
          </a:p>
        </p:txBody>
      </p:sp>
      <p:sp>
        <p:nvSpPr>
          <p:cNvPr id="7" name="Text 5"/>
          <p:cNvSpPr/>
          <p:nvPr/>
        </p:nvSpPr>
        <p:spPr>
          <a:xfrm>
            <a:off x="2653589" y="3310128"/>
            <a:ext cx="1885493" cy="347472"/>
          </a:xfrm>
          <a:prstGeom prst="roundRect">
            <a:avLst>
              <a:gd name="adj" fmla="val 47368"/>
            </a:avLst>
          </a:prstGeom>
          <a:solidFill>
            <a:srgbClr val="0072CE"/>
          </a:solid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4 · Available Knowledge</a:t>
            </a:r>
            <a:endParaRPr lang="en-US" sz="900" dirty="0"/>
          </a:p>
        </p:txBody>
      </p:sp>
      <p:sp>
        <p:nvSpPr>
          <p:cNvPr id="8" name="Text 6"/>
          <p:cNvSpPr/>
          <p:nvPr/>
        </p:nvSpPr>
        <p:spPr>
          <a:xfrm>
            <a:off x="4667098" y="3310128"/>
            <a:ext cx="1208837" cy="347472"/>
          </a:xfrm>
          <a:prstGeom prst="roundRect">
            <a:avLst>
              <a:gd name="adj" fmla="val 47368"/>
            </a:avLst>
          </a:prstGeom>
          <a:solidFill>
            <a:srgbClr val="0072CE"/>
          </a:solid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5 · Rationale</a:t>
            </a:r>
            <a:endParaRPr lang="en-US" sz="900" dirty="0"/>
          </a:p>
        </p:txBody>
      </p:sp>
      <p:sp>
        <p:nvSpPr>
          <p:cNvPr id="9" name="Text 7"/>
          <p:cNvSpPr/>
          <p:nvPr/>
        </p:nvSpPr>
        <p:spPr>
          <a:xfrm>
            <a:off x="6003950" y="3310128"/>
            <a:ext cx="1479499" cy="347472"/>
          </a:xfrm>
          <a:prstGeom prst="roundRect">
            <a:avLst>
              <a:gd name="adj" fmla="val 47368"/>
            </a:avLst>
          </a:prstGeom>
          <a:solidFill>
            <a:srgbClr val="0072CE"/>
          </a:solid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6 · Specific Aims</a:t>
            </a:r>
            <a:endParaRPr lang="en-US" sz="900" dirty="0"/>
          </a:p>
        </p:txBody>
      </p:sp>
      <p:sp>
        <p:nvSpPr>
          <p:cNvPr id="10" name="Text 8"/>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41B6E6"/>
                </a:solidFill>
                <a:latin typeface="Calibri" pitchFamily="34" charset="0"/>
                <a:ea typeface="Calibri" pitchFamily="34" charset="-122"/>
                <a:cs typeface="Calibri" pitchFamily="34" charset="-120"/>
              </a:rPr>
              <a:t>AIM Quality Improvement Team  |  Queen Elizabeth Hospital Birmingham</a:t>
            </a:r>
            <a:endParaRPr lang="en-US" sz="750" dirty="0"/>
          </a:p>
        </p:txBody>
      </p:sp>
      <p:sp>
        <p:nvSpPr>
          <p:cNvPr id="11" name="Text 9"/>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FB6BC"/>
                </a:solidFill>
                <a:latin typeface="Calibri" pitchFamily="34" charset="0"/>
                <a:ea typeface="Calibri" pitchFamily="34" charset="-122"/>
                <a:cs typeface="Calibri" pitchFamily="34" charset="-120"/>
              </a:rPr>
              <a:t>SQUIRE 2.0 Presentation Template</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05EB8"/>
                </a:solidFill>
                <a:latin typeface="Calibri" pitchFamily="34" charset="0"/>
                <a:ea typeface="Calibri" pitchFamily="34" charset="-122"/>
                <a:cs typeface="Calibri" pitchFamily="34" charset="-120"/>
              </a:rPr>
              <a:t>NATURE &amp; SIGNIFICANCE OF THE LOCAL PROBLEM</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231F20"/>
                </a:solidFill>
                <a:latin typeface="Calibri" pitchFamily="34" charset="0"/>
                <a:ea typeface="Calibri" pitchFamily="34" charset="-122"/>
                <a:cs typeface="Calibri" pitchFamily="34" charset="-120"/>
              </a:rPr>
              <a:t>Problem Description</a:t>
            </a:r>
            <a:endParaRPr lang="en-US" sz="2200" dirty="0"/>
          </a:p>
        </p:txBody>
      </p:sp>
      <p:sp>
        <p:nvSpPr>
          <p:cNvPr id="4" name="Text 2"/>
          <p:cNvSpPr/>
          <p:nvPr/>
        </p:nvSpPr>
        <p:spPr>
          <a:xfrm>
            <a:off x="7907731" y="292608"/>
            <a:ext cx="779069" cy="310896"/>
          </a:xfrm>
          <a:prstGeom prst="roundRect">
            <a:avLst>
              <a:gd name="adj" fmla="val 47059"/>
            </a:avLst>
          </a:prstGeom>
          <a:solidFill>
            <a:srgbClr val="005EB8"/>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ITEM 3</a:t>
            </a:r>
            <a:endParaRPr lang="en-US" sz="900" dirty="0"/>
          </a:p>
        </p:txBody>
      </p:sp>
      <p:sp>
        <p:nvSpPr>
          <p:cNvPr id="5" name="Text 3"/>
          <p:cNvSpPr/>
          <p:nvPr/>
        </p:nvSpPr>
        <p:spPr>
          <a:xfrm>
            <a:off x="457200" y="932688"/>
            <a:ext cx="4892040" cy="3429000"/>
          </a:xfrm>
          <a:prstGeom prst="roundRect">
            <a:avLst>
              <a:gd name="adj" fmla="val 1867"/>
            </a:avLst>
          </a:prstGeom>
          <a:solidFill>
            <a:srgbClr val="F0F4F5"/>
          </a:solidFill>
          <a:ln/>
        </p:spPr>
        <p:txBody>
          <a:bodyPr wrap="square" lIns="114300" tIns="114300" rIns="114300" bIns="114300" rtlCol="0" anchor="t"/>
          <a:lstStyle/>
          <a:p>
            <a:pPr indent="0" marL="0">
              <a:spcAft>
                <a:spcPts val="400"/>
              </a:spcAft>
              <a:buNone/>
            </a:pPr>
            <a:r>
              <a:rPr lang="en-US" sz="1150" b="1" dirty="0">
                <a:solidFill>
                  <a:srgbClr val="005EB8"/>
                </a:solidFill>
                <a:latin typeface="Calibri" pitchFamily="34" charset="0"/>
                <a:ea typeface="Calibri" pitchFamily="34" charset="-122"/>
                <a:cs typeface="Calibri" pitchFamily="34" charset="-120"/>
              </a:rPr>
              <a:t>What is the problem?</a:t>
            </a:r>
            <a:endParaRPr lang="en-US" sz="1150" dirty="0"/>
          </a:p>
          <a:p>
            <a:pPr marL="342900" indent="-342900">
              <a:spcAft>
                <a:spcPts val="300"/>
              </a:spcAft>
              <a:buSzPct val="100000"/>
              <a:buChar char="–"/>
            </a:pPr>
            <a:r>
              <a:rPr lang="en-US" sz="950" dirty="0">
                <a:solidFill>
                  <a:srgbClr val="231F20"/>
                </a:solidFill>
                <a:latin typeface="Calibri" pitchFamily="34" charset="0"/>
                <a:ea typeface="Calibri" pitchFamily="34" charset="-122"/>
                <a:cs typeface="Calibri" pitchFamily="34" charset="-120"/>
              </a:rPr>
              <a:t>What is going wrong, and how often?</a:t>
            </a:r>
            <a:endParaRPr lang="en-US" sz="1150" dirty="0"/>
          </a:p>
          <a:p>
            <a:pPr marL="342900" indent="-342900">
              <a:spcAft>
                <a:spcPts val="300"/>
              </a:spcAft>
              <a:buSzPct val="100000"/>
              <a:buChar char="–"/>
            </a:pPr>
            <a:r>
              <a:rPr lang="en-US" sz="950" dirty="0">
                <a:solidFill>
                  <a:srgbClr val="231F20"/>
                </a:solidFill>
                <a:latin typeface="Calibri" pitchFamily="34" charset="0"/>
                <a:ea typeface="Calibri" pitchFamily="34" charset="-122"/>
                <a:cs typeface="Calibri" pitchFamily="34" charset="-120"/>
              </a:rPr>
              <a:t>Who does it affect — patients, staff, flow?</a:t>
            </a:r>
            <a:endParaRPr lang="en-US" sz="1150" dirty="0"/>
          </a:p>
          <a:p>
            <a:pPr marL="342900" indent="-342900">
              <a:spcAft>
                <a:spcPts val="300"/>
              </a:spcAft>
              <a:buSzPct val="100000"/>
              <a:buChar char="–"/>
            </a:pPr>
            <a:r>
              <a:rPr lang="en-US" sz="950" dirty="0">
                <a:solidFill>
                  <a:srgbClr val="231F20"/>
                </a:solidFill>
                <a:latin typeface="Calibri" pitchFamily="34" charset="0"/>
                <a:ea typeface="Calibri" pitchFamily="34" charset="-122"/>
                <a:cs typeface="Calibri" pitchFamily="34" charset="-120"/>
              </a:rPr>
              <a:t>What actually happens now, day to day?</a:t>
            </a:r>
            <a:endParaRPr lang="en-US" sz="1150" dirty="0"/>
          </a:p>
          <a:p>
            <a:pPr indent="0" marL="0">
              <a:spcBef>
                <a:spcPts val="500"/>
              </a:spcBef>
              <a:buNone/>
            </a:pPr>
            <a:r>
              <a:rPr lang="en-US" sz="850" i="1" dirty="0">
                <a:solidFill>
                  <a:srgbClr val="425563"/>
                </a:solidFill>
                <a:latin typeface="Calibri" pitchFamily="34" charset="0"/>
                <a:ea typeface="Calibri" pitchFamily="34" charset="-122"/>
                <a:cs typeface="Calibri" pitchFamily="34" charset="-120"/>
              </a:rPr>
              <a:t>No data yet? Count 20 sets of notes — one local number beats any national statistic.</a:t>
            </a:r>
            <a:endParaRPr lang="en-US" sz="1150" dirty="0"/>
          </a:p>
          <a:p>
            <a:pPr indent="0" marL="0">
              <a:spcBef>
                <a:spcPts val="400"/>
              </a:spcBef>
              <a:buNone/>
            </a:pPr>
            <a:r>
              <a:rPr lang="en-US" sz="950" i="1" dirty="0">
                <a:solidFill>
                  <a:srgbClr val="768692"/>
                </a:solidFill>
                <a:latin typeface="Calibri" pitchFamily="34" charset="0"/>
                <a:ea typeface="Calibri" pitchFamily="34" charset="-122"/>
                <a:cs typeface="Calibri" pitchFamily="34" charset="-120"/>
              </a:rPr>
              <a:t>Enter here…</a:t>
            </a:r>
            <a:endParaRPr lang="en-US" sz="1150" dirty="0"/>
          </a:p>
        </p:txBody>
      </p:sp>
      <p:sp>
        <p:nvSpPr>
          <p:cNvPr id="6" name="Text 4"/>
          <p:cNvSpPr/>
          <p:nvPr/>
        </p:nvSpPr>
        <p:spPr>
          <a:xfrm>
            <a:off x="5504688" y="932688"/>
            <a:ext cx="3182112" cy="1645920"/>
          </a:xfrm>
          <a:prstGeom prst="roundRect">
            <a:avLst>
              <a:gd name="adj" fmla="val 3889"/>
            </a:avLst>
          </a:prstGeom>
          <a:solidFill>
            <a:srgbClr val="F0F4F5"/>
          </a:solidFill>
          <a:ln/>
        </p:spPr>
        <p:txBody>
          <a:bodyPr wrap="square" lIns="114300" tIns="114300" rIns="114300" bIns="114300" rtlCol="0" anchor="t"/>
          <a:lstStyle/>
          <a:p>
            <a:pPr indent="0" marL="0">
              <a:spcAft>
                <a:spcPts val="400"/>
              </a:spcAft>
              <a:buNone/>
            </a:pPr>
            <a:r>
              <a:rPr lang="en-US" sz="1150" b="1" dirty="0">
                <a:solidFill>
                  <a:srgbClr val="005EB8"/>
                </a:solidFill>
                <a:latin typeface="Calibri" pitchFamily="34" charset="0"/>
                <a:ea typeface="Calibri" pitchFamily="34" charset="-122"/>
                <a:cs typeface="Calibri" pitchFamily="34" charset="-120"/>
              </a:rPr>
              <a:t>Why does it matter here?</a:t>
            </a:r>
            <a:endParaRPr lang="en-US" sz="1150" dirty="0"/>
          </a:p>
          <a:p>
            <a:pPr indent="0" marL="0">
              <a:spcAft>
                <a:spcPts val="300"/>
              </a:spcAft>
              <a:buNone/>
            </a:pPr>
            <a:r>
              <a:rPr lang="en-US" sz="950" dirty="0">
                <a:solidFill>
                  <a:srgbClr val="231F20"/>
                </a:solidFill>
                <a:latin typeface="Calibri" pitchFamily="34" charset="0"/>
                <a:ea typeface="Calibri" pitchFamily="34" charset="-122"/>
                <a:cs typeface="Calibri" pitchFamily="34" charset="-120"/>
              </a:rPr>
              <a:t>Local significance — who feels it, and how much?</a:t>
            </a:r>
            <a:endParaRPr lang="en-US" sz="1150" dirty="0"/>
          </a:p>
          <a:p>
            <a:pPr indent="0" marL="0">
              <a:spcBef>
                <a:spcPts val="400"/>
              </a:spcBef>
              <a:buNone/>
            </a:pPr>
            <a:r>
              <a:rPr lang="en-US" sz="950" i="1" dirty="0">
                <a:solidFill>
                  <a:srgbClr val="768692"/>
                </a:solidFill>
                <a:latin typeface="Calibri" pitchFamily="34" charset="0"/>
                <a:ea typeface="Calibri" pitchFamily="34" charset="-122"/>
                <a:cs typeface="Calibri" pitchFamily="34" charset="-120"/>
              </a:rPr>
              <a:t>Enter here…</a:t>
            </a:r>
            <a:endParaRPr lang="en-US" sz="1150" dirty="0"/>
          </a:p>
        </p:txBody>
      </p:sp>
      <p:sp>
        <p:nvSpPr>
          <p:cNvPr id="7" name="Text 5"/>
          <p:cNvSpPr/>
          <p:nvPr/>
        </p:nvSpPr>
        <p:spPr>
          <a:xfrm>
            <a:off x="5504688" y="2715768"/>
            <a:ext cx="3182112" cy="1645920"/>
          </a:xfrm>
          <a:prstGeom prst="roundRect">
            <a:avLst>
              <a:gd name="adj" fmla="val 3889"/>
            </a:avLst>
          </a:prstGeom>
          <a:solidFill>
            <a:srgbClr val="F0F4F5"/>
          </a:solidFill>
          <a:ln/>
        </p:spPr>
        <p:txBody>
          <a:bodyPr wrap="square" lIns="114300" tIns="114300" rIns="114300" bIns="114300" rtlCol="0" anchor="t"/>
          <a:lstStyle/>
          <a:p>
            <a:pPr indent="0" marL="0">
              <a:spcAft>
                <a:spcPts val="400"/>
              </a:spcAft>
              <a:buNone/>
            </a:pPr>
            <a:r>
              <a:rPr lang="en-US" sz="1150" b="1" dirty="0">
                <a:solidFill>
                  <a:srgbClr val="005EB8"/>
                </a:solidFill>
                <a:latin typeface="Calibri" pitchFamily="34" charset="0"/>
                <a:ea typeface="Calibri" pitchFamily="34" charset="-122"/>
                <a:cs typeface="Calibri" pitchFamily="34" charset="-120"/>
              </a:rPr>
              <a:t>Why hasn’t it been fixed?</a:t>
            </a:r>
            <a:endParaRPr lang="en-US" sz="1150" dirty="0"/>
          </a:p>
          <a:p>
            <a:pPr indent="0" marL="0">
              <a:spcAft>
                <a:spcPts val="300"/>
              </a:spcAft>
              <a:buNone/>
            </a:pPr>
            <a:r>
              <a:rPr lang="en-US" sz="950" dirty="0">
                <a:solidFill>
                  <a:srgbClr val="231F20"/>
                </a:solidFill>
                <a:latin typeface="Calibri" pitchFamily="34" charset="0"/>
                <a:ea typeface="Calibri" pitchFamily="34" charset="-122"/>
                <a:cs typeface="Calibri" pitchFamily="34" charset="-120"/>
              </a:rPr>
              <a:t>Ask around — it’s usually a system gap, not a people problem.</a:t>
            </a:r>
            <a:endParaRPr lang="en-US" sz="1150" dirty="0"/>
          </a:p>
          <a:p>
            <a:pPr indent="0" marL="0">
              <a:spcBef>
                <a:spcPts val="400"/>
              </a:spcBef>
              <a:buNone/>
            </a:pPr>
            <a:r>
              <a:rPr lang="en-US" sz="950" i="1" dirty="0">
                <a:solidFill>
                  <a:srgbClr val="768692"/>
                </a:solidFill>
                <a:latin typeface="Calibri" pitchFamily="34" charset="0"/>
                <a:ea typeface="Calibri" pitchFamily="34" charset="-122"/>
                <a:cs typeface="Calibri" pitchFamily="34" charset="-120"/>
              </a:rPr>
              <a:t>Enter here…</a:t>
            </a:r>
            <a:endParaRPr lang="en-US" sz="1150" dirty="0"/>
          </a:p>
        </p:txBody>
      </p:sp>
      <p:sp>
        <p:nvSpPr>
          <p:cNvPr id="9" name="Text 6"/>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05EB8"/>
                </a:solidFill>
                <a:latin typeface="Calibri" pitchFamily="34" charset="0"/>
                <a:ea typeface="Calibri" pitchFamily="34" charset="-122"/>
                <a:cs typeface="Calibri" pitchFamily="34" charset="-120"/>
              </a:rPr>
              <a:t>AIM Quality Improvement Team  |  Queen Elizabeth Hospital Birmingham</a:t>
            </a:r>
            <a:endParaRPr lang="en-US" sz="750" dirty="0"/>
          </a:p>
        </p:txBody>
      </p:sp>
      <p:sp>
        <p:nvSpPr>
          <p:cNvPr id="10" name="Text 7"/>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AA5AA"/>
                </a:solidFill>
                <a:latin typeface="Calibri" pitchFamily="34" charset="0"/>
                <a:ea typeface="Calibri" pitchFamily="34" charset="-122"/>
                <a:cs typeface="Calibri" pitchFamily="34" charset="-120"/>
              </a:rPr>
              <a:t>SQUIRE 2.0 Presentation Template</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05EB8"/>
                </a:solidFill>
                <a:latin typeface="Calibri" pitchFamily="34" charset="0"/>
                <a:ea typeface="Calibri" pitchFamily="34" charset="-122"/>
                <a:cs typeface="Calibri" pitchFamily="34" charset="-120"/>
              </a:rPr>
              <a:t>WHAT IS ALREADY KNOWN ABOUT THIS PROBLEM?</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231F20"/>
                </a:solidFill>
                <a:latin typeface="Calibri" pitchFamily="34" charset="0"/>
                <a:ea typeface="Calibri" pitchFamily="34" charset="-122"/>
                <a:cs typeface="Calibri" pitchFamily="34" charset="-120"/>
              </a:rPr>
              <a:t>Available Knowledge</a:t>
            </a:r>
            <a:endParaRPr lang="en-US" sz="2200" dirty="0"/>
          </a:p>
        </p:txBody>
      </p:sp>
      <p:sp>
        <p:nvSpPr>
          <p:cNvPr id="4" name="Text 2"/>
          <p:cNvSpPr/>
          <p:nvPr/>
        </p:nvSpPr>
        <p:spPr>
          <a:xfrm>
            <a:off x="7907731" y="292608"/>
            <a:ext cx="779069" cy="310896"/>
          </a:xfrm>
          <a:prstGeom prst="roundRect">
            <a:avLst>
              <a:gd name="adj" fmla="val 47059"/>
            </a:avLst>
          </a:prstGeom>
          <a:solidFill>
            <a:srgbClr val="005EB8"/>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ITEM 4</a:t>
            </a:r>
            <a:endParaRPr lang="en-US" sz="900" dirty="0"/>
          </a:p>
        </p:txBody>
      </p:sp>
      <p:sp>
        <p:nvSpPr>
          <p:cNvPr id="5" name="Text 3"/>
          <p:cNvSpPr/>
          <p:nvPr/>
        </p:nvSpPr>
        <p:spPr>
          <a:xfrm>
            <a:off x="457200" y="932688"/>
            <a:ext cx="2624328" cy="3063240"/>
          </a:xfrm>
          <a:prstGeom prst="roundRect">
            <a:avLst>
              <a:gd name="adj" fmla="val 2439"/>
            </a:avLst>
          </a:prstGeom>
          <a:solidFill>
            <a:srgbClr val="F0F4F5"/>
          </a:solidFill>
          <a:ln/>
        </p:spPr>
        <p:txBody>
          <a:bodyPr wrap="square" lIns="114300" tIns="114300" rIns="114300" bIns="114300" rtlCol="0" anchor="t"/>
          <a:lstStyle/>
          <a:p>
            <a:pPr indent="0" marL="0">
              <a:buNone/>
            </a:pPr>
            <a:endParaRPr lang="en-US" dirty="0"/>
          </a:p>
        </p:txBody>
      </p:sp>
      <p:sp>
        <p:nvSpPr>
          <p:cNvPr id="6" name="Text 4"/>
          <p:cNvSpPr/>
          <p:nvPr/>
        </p:nvSpPr>
        <p:spPr>
          <a:xfrm>
            <a:off x="621792" y="1097280"/>
            <a:ext cx="402336" cy="402336"/>
          </a:xfrm>
          <a:prstGeom prst="ellipse">
            <a:avLst/>
          </a:prstGeom>
          <a:solidFill>
            <a:srgbClr val="005EB8"/>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115568" y="1097280"/>
            <a:ext cx="1874520" cy="548640"/>
          </a:xfrm>
          <a:prstGeom prst="rect">
            <a:avLst/>
          </a:prstGeom>
          <a:noFill/>
          <a:ln/>
        </p:spPr>
        <p:txBody>
          <a:bodyPr wrap="square" lIns="0" tIns="0" rIns="0" bIns="0" rtlCol="0" anchor="ctr"/>
          <a:lstStyle/>
          <a:p>
            <a:pPr indent="0" marL="0">
              <a:buNone/>
            </a:pPr>
            <a:r>
              <a:rPr lang="en-US" sz="1100" b="1" dirty="0">
                <a:solidFill>
                  <a:srgbClr val="005EB8"/>
                </a:solidFill>
                <a:latin typeface="Calibri" pitchFamily="34" charset="0"/>
                <a:ea typeface="Calibri" pitchFamily="34" charset="-122"/>
                <a:cs typeface="Calibri" pitchFamily="34" charset="-120"/>
              </a:rPr>
              <a:t>A Guideline or Standard</a:t>
            </a:r>
            <a:endParaRPr lang="en-US" sz="1100" dirty="0"/>
          </a:p>
        </p:txBody>
      </p:sp>
      <p:sp>
        <p:nvSpPr>
          <p:cNvPr id="8" name="Text 6"/>
          <p:cNvSpPr/>
          <p:nvPr/>
        </p:nvSpPr>
        <p:spPr>
          <a:xfrm>
            <a:off x="621792" y="1783080"/>
            <a:ext cx="2304288" cy="2057400"/>
          </a:xfrm>
          <a:prstGeom prst="rect">
            <a:avLst/>
          </a:prstGeom>
          <a:noFill/>
          <a:ln/>
        </p:spPr>
        <p:txBody>
          <a:bodyPr wrap="square" lIns="0" tIns="0" rIns="0" bIns="0" rtlCol="0" anchor="t"/>
          <a:lstStyle/>
          <a:p>
            <a:pPr indent="0" marL="0">
              <a:spcAft>
                <a:spcPts val="600"/>
              </a:spcAft>
              <a:buNone/>
            </a:pPr>
            <a:r>
              <a:rPr lang="en-US" sz="950" dirty="0">
                <a:solidFill>
                  <a:srgbClr val="231F20"/>
                </a:solidFill>
                <a:latin typeface="Calibri" pitchFamily="34" charset="0"/>
                <a:ea typeface="Calibri" pitchFamily="34" charset="-122"/>
                <a:cs typeface="Calibri" pitchFamily="34" charset="-120"/>
              </a:rPr>
              <a:t>What does NICE, a royal college or trust policy say should happen?</a:t>
            </a:r>
            <a:endParaRPr lang="en-US" sz="950" dirty="0"/>
          </a:p>
          <a:p>
            <a:pPr indent="0" marL="0">
              <a:buNone/>
            </a:pPr>
            <a:r>
              <a:rPr lang="en-US" sz="950" i="1" dirty="0">
                <a:solidFill>
                  <a:srgbClr val="768692"/>
                </a:solidFill>
                <a:latin typeface="Calibri" pitchFamily="34" charset="0"/>
                <a:ea typeface="Calibri" pitchFamily="34" charset="-122"/>
                <a:cs typeface="Calibri" pitchFamily="34" charset="-120"/>
              </a:rPr>
              <a:t>Enter here…</a:t>
            </a:r>
            <a:endParaRPr lang="en-US" sz="950" dirty="0"/>
          </a:p>
        </p:txBody>
      </p:sp>
      <p:sp>
        <p:nvSpPr>
          <p:cNvPr id="9" name="Text 7"/>
          <p:cNvSpPr/>
          <p:nvPr/>
        </p:nvSpPr>
        <p:spPr>
          <a:xfrm>
            <a:off x="3259836" y="932688"/>
            <a:ext cx="2624328" cy="3063240"/>
          </a:xfrm>
          <a:prstGeom prst="roundRect">
            <a:avLst>
              <a:gd name="adj" fmla="val 2439"/>
            </a:avLst>
          </a:prstGeom>
          <a:solidFill>
            <a:srgbClr val="F0F4F5"/>
          </a:solidFill>
          <a:ln/>
        </p:spPr>
        <p:txBody>
          <a:bodyPr wrap="square" lIns="114300" tIns="114300" rIns="114300" bIns="114300" rtlCol="0" anchor="t"/>
          <a:lstStyle/>
          <a:p>
            <a:pPr indent="0" marL="0">
              <a:buNone/>
            </a:pPr>
            <a:endParaRPr lang="en-US" dirty="0"/>
          </a:p>
        </p:txBody>
      </p:sp>
      <p:sp>
        <p:nvSpPr>
          <p:cNvPr id="10" name="Text 8"/>
          <p:cNvSpPr/>
          <p:nvPr/>
        </p:nvSpPr>
        <p:spPr>
          <a:xfrm>
            <a:off x="3424428" y="1097280"/>
            <a:ext cx="402336" cy="402336"/>
          </a:xfrm>
          <a:prstGeom prst="ellipse">
            <a:avLst/>
          </a:prstGeom>
          <a:solidFill>
            <a:srgbClr val="005EB8"/>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3918204" y="1097280"/>
            <a:ext cx="1874520" cy="548640"/>
          </a:xfrm>
          <a:prstGeom prst="rect">
            <a:avLst/>
          </a:prstGeom>
          <a:noFill/>
          <a:ln/>
        </p:spPr>
        <p:txBody>
          <a:bodyPr wrap="square" lIns="0" tIns="0" rIns="0" bIns="0" rtlCol="0" anchor="ctr"/>
          <a:lstStyle/>
          <a:p>
            <a:pPr indent="0" marL="0">
              <a:buNone/>
            </a:pPr>
            <a:r>
              <a:rPr lang="en-US" sz="1100" b="1" dirty="0">
                <a:solidFill>
                  <a:srgbClr val="005EB8"/>
                </a:solidFill>
                <a:latin typeface="Calibri" pitchFamily="34" charset="0"/>
                <a:ea typeface="Calibri" pitchFamily="34" charset="-122"/>
                <a:cs typeface="Calibri" pitchFamily="34" charset="-120"/>
              </a:rPr>
              <a:t>Similar Projects</a:t>
            </a:r>
            <a:endParaRPr lang="en-US" sz="1100" dirty="0"/>
          </a:p>
        </p:txBody>
      </p:sp>
      <p:sp>
        <p:nvSpPr>
          <p:cNvPr id="12" name="Text 10"/>
          <p:cNvSpPr/>
          <p:nvPr/>
        </p:nvSpPr>
        <p:spPr>
          <a:xfrm>
            <a:off x="3424428" y="1783080"/>
            <a:ext cx="2304288" cy="2057400"/>
          </a:xfrm>
          <a:prstGeom prst="rect">
            <a:avLst/>
          </a:prstGeom>
          <a:noFill/>
          <a:ln/>
        </p:spPr>
        <p:txBody>
          <a:bodyPr wrap="square" lIns="0" tIns="0" rIns="0" bIns="0" rtlCol="0" anchor="t"/>
          <a:lstStyle/>
          <a:p>
            <a:pPr indent="0" marL="0">
              <a:spcAft>
                <a:spcPts val="600"/>
              </a:spcAft>
              <a:buNone/>
            </a:pPr>
            <a:r>
              <a:rPr lang="en-US" sz="950" dirty="0">
                <a:solidFill>
                  <a:srgbClr val="231F20"/>
                </a:solidFill>
                <a:latin typeface="Calibri" pitchFamily="34" charset="0"/>
                <a:ea typeface="Calibri" pitchFamily="34" charset="-122"/>
                <a:cs typeface="Calibri" pitchFamily="34" charset="-120"/>
              </a:rPr>
              <a:t>Has anyone tried this before — here or elsewhere? What happened?</a:t>
            </a:r>
            <a:endParaRPr lang="en-US" sz="950" dirty="0"/>
          </a:p>
          <a:p>
            <a:pPr indent="0" marL="0">
              <a:buNone/>
            </a:pPr>
            <a:r>
              <a:rPr lang="en-US" sz="950" i="1" dirty="0">
                <a:solidFill>
                  <a:srgbClr val="768692"/>
                </a:solidFill>
                <a:latin typeface="Calibri" pitchFamily="34" charset="0"/>
                <a:ea typeface="Calibri" pitchFamily="34" charset="-122"/>
                <a:cs typeface="Calibri" pitchFamily="34" charset="-120"/>
              </a:rPr>
              <a:t>Enter here…</a:t>
            </a:r>
            <a:endParaRPr lang="en-US" sz="950" dirty="0"/>
          </a:p>
        </p:txBody>
      </p:sp>
      <p:sp>
        <p:nvSpPr>
          <p:cNvPr id="13" name="Text 11"/>
          <p:cNvSpPr/>
          <p:nvPr/>
        </p:nvSpPr>
        <p:spPr>
          <a:xfrm>
            <a:off x="6062472" y="932688"/>
            <a:ext cx="2624328" cy="3063240"/>
          </a:xfrm>
          <a:prstGeom prst="roundRect">
            <a:avLst>
              <a:gd name="adj" fmla="val 2439"/>
            </a:avLst>
          </a:prstGeom>
          <a:solidFill>
            <a:srgbClr val="F0F4F5"/>
          </a:solidFill>
          <a:ln/>
        </p:spPr>
        <p:txBody>
          <a:bodyPr wrap="square" lIns="114300" tIns="114300" rIns="114300" bIns="114300" rtlCol="0" anchor="t"/>
          <a:lstStyle/>
          <a:p>
            <a:pPr indent="0" marL="0">
              <a:buNone/>
            </a:pPr>
            <a:endParaRPr lang="en-US" dirty="0"/>
          </a:p>
        </p:txBody>
      </p:sp>
      <p:sp>
        <p:nvSpPr>
          <p:cNvPr id="14" name="Text 12"/>
          <p:cNvSpPr/>
          <p:nvPr/>
        </p:nvSpPr>
        <p:spPr>
          <a:xfrm>
            <a:off x="6227064" y="1097280"/>
            <a:ext cx="402336" cy="402336"/>
          </a:xfrm>
          <a:prstGeom prst="ellipse">
            <a:avLst/>
          </a:prstGeom>
          <a:solidFill>
            <a:srgbClr val="005EB8"/>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6720840" y="1097280"/>
            <a:ext cx="1874520" cy="548640"/>
          </a:xfrm>
          <a:prstGeom prst="rect">
            <a:avLst/>
          </a:prstGeom>
          <a:noFill/>
          <a:ln/>
        </p:spPr>
        <p:txBody>
          <a:bodyPr wrap="square" lIns="0" tIns="0" rIns="0" bIns="0" rtlCol="0" anchor="ctr"/>
          <a:lstStyle/>
          <a:p>
            <a:pPr indent="0" marL="0">
              <a:buNone/>
            </a:pPr>
            <a:r>
              <a:rPr lang="en-US" sz="1100" b="1" dirty="0">
                <a:solidFill>
                  <a:srgbClr val="005EB8"/>
                </a:solidFill>
                <a:latin typeface="Calibri" pitchFamily="34" charset="0"/>
                <a:ea typeface="Calibri" pitchFamily="34" charset="-122"/>
                <a:cs typeface="Calibri" pitchFamily="34" charset="-120"/>
              </a:rPr>
              <a:t>One Useful Paper</a:t>
            </a:r>
            <a:endParaRPr lang="en-US" sz="1100" dirty="0"/>
          </a:p>
        </p:txBody>
      </p:sp>
      <p:sp>
        <p:nvSpPr>
          <p:cNvPr id="16" name="Text 14"/>
          <p:cNvSpPr/>
          <p:nvPr/>
        </p:nvSpPr>
        <p:spPr>
          <a:xfrm>
            <a:off x="6227064" y="1783080"/>
            <a:ext cx="2304288" cy="2057400"/>
          </a:xfrm>
          <a:prstGeom prst="rect">
            <a:avLst/>
          </a:prstGeom>
          <a:noFill/>
          <a:ln/>
        </p:spPr>
        <p:txBody>
          <a:bodyPr wrap="square" lIns="0" tIns="0" rIns="0" bIns="0" rtlCol="0" anchor="t"/>
          <a:lstStyle/>
          <a:p>
            <a:pPr indent="0" marL="0">
              <a:spcAft>
                <a:spcPts val="600"/>
              </a:spcAft>
              <a:buNone/>
            </a:pPr>
            <a:r>
              <a:rPr lang="en-US" sz="950" dirty="0">
                <a:solidFill>
                  <a:srgbClr val="231F20"/>
                </a:solidFill>
                <a:latin typeface="Calibri" pitchFamily="34" charset="0"/>
                <a:ea typeface="Calibri" pitchFamily="34" charset="-122"/>
                <a:cs typeface="Calibri" pitchFamily="34" charset="-120"/>
              </a:rPr>
              <a:t>A single relevant study or review is enough to anchor a first project.</a:t>
            </a:r>
            <a:endParaRPr lang="en-US" sz="950" dirty="0"/>
          </a:p>
          <a:p>
            <a:pPr indent="0" marL="0">
              <a:buNone/>
            </a:pPr>
            <a:r>
              <a:rPr lang="en-US" sz="950" i="1" dirty="0">
                <a:solidFill>
                  <a:srgbClr val="768692"/>
                </a:solidFill>
                <a:latin typeface="Calibri" pitchFamily="34" charset="0"/>
                <a:ea typeface="Calibri" pitchFamily="34" charset="-122"/>
                <a:cs typeface="Calibri" pitchFamily="34" charset="-120"/>
              </a:rPr>
              <a:t>Enter here…</a:t>
            </a:r>
            <a:endParaRPr lang="en-US" sz="950" dirty="0"/>
          </a:p>
        </p:txBody>
      </p:sp>
      <p:sp>
        <p:nvSpPr>
          <p:cNvPr id="17" name="Text 15"/>
          <p:cNvSpPr/>
          <p:nvPr/>
        </p:nvSpPr>
        <p:spPr>
          <a:xfrm>
            <a:off x="457200" y="4206240"/>
            <a:ext cx="8229600" cy="256032"/>
          </a:xfrm>
          <a:prstGeom prst="rect">
            <a:avLst/>
          </a:prstGeom>
          <a:noFill/>
          <a:ln/>
        </p:spPr>
        <p:txBody>
          <a:bodyPr wrap="square" lIns="0" tIns="0" rIns="0" bIns="0" rtlCol="0" anchor="ctr"/>
          <a:lstStyle/>
          <a:p>
            <a:pPr indent="0" marL="0">
              <a:buNone/>
            </a:pPr>
            <a:r>
              <a:rPr lang="en-US" sz="850" i="1" dirty="0">
                <a:solidFill>
                  <a:srgbClr val="425563"/>
                </a:solidFill>
                <a:latin typeface="Calibri" pitchFamily="34" charset="0"/>
                <a:ea typeface="Calibri" pitchFamily="34" charset="-122"/>
                <a:cs typeface="Calibri" pitchFamily="34" charset="-120"/>
              </a:rPr>
              <a:t>Two or three sources are plenty — this is a paragraph, not a literature review.</a:t>
            </a:r>
            <a:endParaRPr lang="en-US" sz="850" dirty="0"/>
          </a:p>
        </p:txBody>
      </p:sp>
      <p:sp>
        <p:nvSpPr>
          <p:cNvPr id="19" name="Text 16"/>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05EB8"/>
                </a:solidFill>
                <a:latin typeface="Calibri" pitchFamily="34" charset="0"/>
                <a:ea typeface="Calibri" pitchFamily="34" charset="-122"/>
                <a:cs typeface="Calibri" pitchFamily="34" charset="-120"/>
              </a:rPr>
              <a:t>AIM Quality Improvement Team  |  Queen Elizabeth Hospital Birmingham</a:t>
            </a:r>
            <a:endParaRPr lang="en-US" sz="750" dirty="0"/>
          </a:p>
        </p:txBody>
      </p:sp>
      <p:sp>
        <p:nvSpPr>
          <p:cNvPr id="20" name="Text 17"/>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AA5AA"/>
                </a:solidFill>
                <a:latin typeface="Calibri" pitchFamily="34" charset="0"/>
                <a:ea typeface="Calibri" pitchFamily="34" charset="-122"/>
                <a:cs typeface="Calibri" pitchFamily="34" charset="-120"/>
              </a:rPr>
              <a:t>SQUIRE 2.0 Presentation Template</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05EB8"/>
                </a:solidFill>
                <a:latin typeface="Calibri" pitchFamily="34" charset="0"/>
                <a:ea typeface="Calibri" pitchFamily="34" charset="-122"/>
                <a:cs typeface="Calibri" pitchFamily="34" charset="-120"/>
              </a:rPr>
              <a:t>WHY DO YOU EXPECT THIS TO WORK?</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231F20"/>
                </a:solidFill>
                <a:latin typeface="Calibri" pitchFamily="34" charset="0"/>
                <a:ea typeface="Calibri" pitchFamily="34" charset="-122"/>
                <a:cs typeface="Calibri" pitchFamily="34" charset="-120"/>
              </a:rPr>
              <a:t>Rationale</a:t>
            </a:r>
            <a:endParaRPr lang="en-US" sz="2200" dirty="0"/>
          </a:p>
        </p:txBody>
      </p:sp>
      <p:sp>
        <p:nvSpPr>
          <p:cNvPr id="4" name="Text 2"/>
          <p:cNvSpPr/>
          <p:nvPr/>
        </p:nvSpPr>
        <p:spPr>
          <a:xfrm>
            <a:off x="7907731" y="292608"/>
            <a:ext cx="779069" cy="310896"/>
          </a:xfrm>
          <a:prstGeom prst="roundRect">
            <a:avLst>
              <a:gd name="adj" fmla="val 47059"/>
            </a:avLst>
          </a:prstGeom>
          <a:solidFill>
            <a:srgbClr val="005EB8"/>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ITEM 5</a:t>
            </a:r>
            <a:endParaRPr lang="en-US" sz="900" dirty="0"/>
          </a:p>
        </p:txBody>
      </p:sp>
      <p:sp>
        <p:nvSpPr>
          <p:cNvPr id="5" name="Text 3"/>
          <p:cNvSpPr/>
          <p:nvPr/>
        </p:nvSpPr>
        <p:spPr>
          <a:xfrm>
            <a:off x="457200" y="932688"/>
            <a:ext cx="2624328" cy="3017520"/>
          </a:xfrm>
          <a:prstGeom prst="roundRect">
            <a:avLst>
              <a:gd name="adj" fmla="val 2439"/>
            </a:avLst>
          </a:prstGeom>
          <a:solidFill>
            <a:srgbClr val="F0F4F5"/>
          </a:solidFill>
          <a:ln/>
        </p:spPr>
        <p:txBody>
          <a:bodyPr wrap="square" lIns="114300" tIns="114300" rIns="114300" bIns="114300" rtlCol="0" anchor="t"/>
          <a:lstStyle/>
          <a:p>
            <a:pPr indent="0" marL="0">
              <a:spcAft>
                <a:spcPts val="400"/>
              </a:spcAft>
              <a:buNone/>
            </a:pPr>
            <a:r>
              <a:rPr lang="en-US" sz="1150" b="1" dirty="0">
                <a:solidFill>
                  <a:srgbClr val="005EB8"/>
                </a:solidFill>
                <a:latin typeface="Calibri" pitchFamily="34" charset="0"/>
                <a:ea typeface="Calibri" pitchFamily="34" charset="-122"/>
                <a:cs typeface="Calibri" pitchFamily="34" charset="-120"/>
              </a:rPr>
              <a:t>Your ‘Because’ Sentence</a:t>
            </a:r>
            <a:endParaRPr lang="en-US" sz="1150" dirty="0"/>
          </a:p>
          <a:p>
            <a:pPr indent="0" marL="0">
              <a:spcAft>
                <a:spcPts val="300"/>
              </a:spcAft>
              <a:buNone/>
            </a:pPr>
            <a:r>
              <a:rPr lang="en-US" sz="950" dirty="0">
                <a:solidFill>
                  <a:srgbClr val="231F20"/>
                </a:solidFill>
                <a:latin typeface="Calibri" pitchFamily="34" charset="0"/>
                <a:ea typeface="Calibri" pitchFamily="34" charset="-122"/>
                <a:cs typeface="Calibri" pitchFamily="34" charset="-120"/>
              </a:rPr>
              <a:t>Finish this: “We think [change] will improve [problem] because…” — that sentence is your rationale.</a:t>
            </a:r>
            <a:endParaRPr lang="en-US" sz="1150" dirty="0"/>
          </a:p>
          <a:p>
            <a:pPr indent="0" marL="0">
              <a:spcBef>
                <a:spcPts val="400"/>
              </a:spcBef>
              <a:buNone/>
            </a:pPr>
            <a:r>
              <a:rPr lang="en-US" sz="950" i="1" dirty="0">
                <a:solidFill>
                  <a:srgbClr val="768692"/>
                </a:solidFill>
                <a:latin typeface="Calibri" pitchFamily="34" charset="0"/>
                <a:ea typeface="Calibri" pitchFamily="34" charset="-122"/>
                <a:cs typeface="Calibri" pitchFamily="34" charset="-120"/>
              </a:rPr>
              <a:t>Enter here…</a:t>
            </a:r>
            <a:endParaRPr lang="en-US" sz="1150" dirty="0"/>
          </a:p>
        </p:txBody>
      </p:sp>
      <p:sp>
        <p:nvSpPr>
          <p:cNvPr id="6" name="Text 4"/>
          <p:cNvSpPr/>
          <p:nvPr/>
        </p:nvSpPr>
        <p:spPr>
          <a:xfrm>
            <a:off x="3259836" y="932688"/>
            <a:ext cx="2624328" cy="3017520"/>
          </a:xfrm>
          <a:prstGeom prst="roundRect">
            <a:avLst>
              <a:gd name="adj" fmla="val 2439"/>
            </a:avLst>
          </a:prstGeom>
          <a:solidFill>
            <a:srgbClr val="F0F4F5"/>
          </a:solidFill>
          <a:ln/>
        </p:spPr>
        <p:txBody>
          <a:bodyPr wrap="square" lIns="114300" tIns="114300" rIns="114300" bIns="114300" rtlCol="0" anchor="t"/>
          <a:lstStyle/>
          <a:p>
            <a:pPr indent="0" marL="0">
              <a:spcAft>
                <a:spcPts val="400"/>
              </a:spcAft>
              <a:buNone/>
            </a:pPr>
            <a:r>
              <a:rPr lang="en-US" sz="1150" b="1" dirty="0">
                <a:solidFill>
                  <a:srgbClr val="005EB8"/>
                </a:solidFill>
                <a:latin typeface="Calibri" pitchFamily="34" charset="0"/>
                <a:ea typeface="Calibri" pitchFamily="34" charset="-122"/>
                <a:cs typeface="Calibri" pitchFamily="34" charset="-120"/>
              </a:rPr>
              <a:t>A Simple Diagram</a:t>
            </a:r>
            <a:endParaRPr lang="en-US" sz="1150" dirty="0"/>
          </a:p>
          <a:p>
            <a:pPr indent="0" marL="0">
              <a:spcAft>
                <a:spcPts val="300"/>
              </a:spcAft>
              <a:buNone/>
            </a:pPr>
            <a:r>
              <a:rPr lang="en-US" sz="950" dirty="0">
                <a:solidFill>
                  <a:srgbClr val="231F20"/>
                </a:solidFill>
                <a:latin typeface="Calibri" pitchFamily="34" charset="0"/>
                <a:ea typeface="Calibri" pitchFamily="34" charset="-122"/>
                <a:cs typeface="Calibri" pitchFamily="34" charset="-120"/>
              </a:rPr>
              <a:t>A driver diagram or fishbone sketched with your team in 15 minutes is enough — include a photo of it.</a:t>
            </a:r>
            <a:endParaRPr lang="en-US" sz="1150" dirty="0"/>
          </a:p>
          <a:p>
            <a:pPr indent="0" marL="0">
              <a:spcBef>
                <a:spcPts val="400"/>
              </a:spcBef>
              <a:buNone/>
            </a:pPr>
            <a:r>
              <a:rPr lang="en-US" sz="950" i="1" dirty="0">
                <a:solidFill>
                  <a:srgbClr val="768692"/>
                </a:solidFill>
                <a:latin typeface="Calibri" pitchFamily="34" charset="0"/>
                <a:ea typeface="Calibri" pitchFamily="34" charset="-122"/>
                <a:cs typeface="Calibri" pitchFamily="34" charset="-120"/>
              </a:rPr>
              <a:t>Enter here…</a:t>
            </a:r>
            <a:endParaRPr lang="en-US" sz="1150" dirty="0"/>
          </a:p>
        </p:txBody>
      </p:sp>
      <p:sp>
        <p:nvSpPr>
          <p:cNvPr id="7" name="Text 5"/>
          <p:cNvSpPr/>
          <p:nvPr/>
        </p:nvSpPr>
        <p:spPr>
          <a:xfrm>
            <a:off x="6062472" y="932688"/>
            <a:ext cx="2624328" cy="3017520"/>
          </a:xfrm>
          <a:prstGeom prst="roundRect">
            <a:avLst>
              <a:gd name="adj" fmla="val 2439"/>
            </a:avLst>
          </a:prstGeom>
          <a:solidFill>
            <a:srgbClr val="F0F4F5"/>
          </a:solidFill>
          <a:ln/>
        </p:spPr>
        <p:txBody>
          <a:bodyPr wrap="square" lIns="114300" tIns="114300" rIns="114300" bIns="114300" rtlCol="0" anchor="t"/>
          <a:lstStyle/>
          <a:p>
            <a:pPr indent="0" marL="0">
              <a:spcAft>
                <a:spcPts val="400"/>
              </a:spcAft>
              <a:buNone/>
            </a:pPr>
            <a:r>
              <a:rPr lang="en-US" sz="1150" b="1" dirty="0">
                <a:solidFill>
                  <a:srgbClr val="005EB8"/>
                </a:solidFill>
                <a:latin typeface="Calibri" pitchFamily="34" charset="0"/>
                <a:ea typeface="Calibri" pitchFamily="34" charset="-122"/>
                <a:cs typeface="Calibri" pitchFamily="34" charset="-120"/>
              </a:rPr>
              <a:t>Why It Should Last</a:t>
            </a:r>
            <a:endParaRPr lang="en-US" sz="1150" dirty="0"/>
          </a:p>
          <a:p>
            <a:pPr indent="0" marL="0">
              <a:spcAft>
                <a:spcPts val="300"/>
              </a:spcAft>
              <a:buNone/>
            </a:pPr>
            <a:r>
              <a:rPr lang="en-US" sz="950" dirty="0">
                <a:solidFill>
                  <a:srgbClr val="231F20"/>
                </a:solidFill>
                <a:latin typeface="Calibri" pitchFamily="34" charset="0"/>
                <a:ea typeface="Calibri" pitchFamily="34" charset="-122"/>
                <a:cs typeface="Calibri" pitchFamily="34" charset="-120"/>
              </a:rPr>
              <a:t>What makes the change stick after you rotate on — is it built into the routine?</a:t>
            </a:r>
            <a:endParaRPr lang="en-US" sz="1150" dirty="0"/>
          </a:p>
          <a:p>
            <a:pPr indent="0" marL="0">
              <a:spcBef>
                <a:spcPts val="400"/>
              </a:spcBef>
              <a:buNone/>
            </a:pPr>
            <a:r>
              <a:rPr lang="en-US" sz="950" i="1" dirty="0">
                <a:solidFill>
                  <a:srgbClr val="768692"/>
                </a:solidFill>
                <a:latin typeface="Calibri" pitchFamily="34" charset="0"/>
                <a:ea typeface="Calibri" pitchFamily="34" charset="-122"/>
                <a:cs typeface="Calibri" pitchFamily="34" charset="-120"/>
              </a:rPr>
              <a:t>Enter here…</a:t>
            </a:r>
            <a:endParaRPr lang="en-US" sz="1150" dirty="0"/>
          </a:p>
        </p:txBody>
      </p:sp>
      <p:sp>
        <p:nvSpPr>
          <p:cNvPr id="8" name="Text 6"/>
          <p:cNvSpPr/>
          <p:nvPr/>
        </p:nvSpPr>
        <p:spPr>
          <a:xfrm>
            <a:off x="457200" y="4160520"/>
            <a:ext cx="8229600" cy="256032"/>
          </a:xfrm>
          <a:prstGeom prst="rect">
            <a:avLst/>
          </a:prstGeom>
          <a:noFill/>
          <a:ln/>
        </p:spPr>
        <p:txBody>
          <a:bodyPr wrap="square" lIns="0" tIns="0" rIns="0" bIns="0" rtlCol="0" anchor="ctr"/>
          <a:lstStyle/>
          <a:p>
            <a:pPr indent="0" marL="0">
              <a:buNone/>
            </a:pPr>
            <a:r>
              <a:rPr lang="en-US" sz="850" i="1" dirty="0">
                <a:solidFill>
                  <a:srgbClr val="425563"/>
                </a:solidFill>
                <a:latin typeface="Calibri" pitchFamily="34" charset="0"/>
                <a:ea typeface="Calibri" pitchFamily="34" charset="-122"/>
                <a:cs typeface="Calibri" pitchFamily="34" charset="-120"/>
              </a:rPr>
              <a:t>Made a driver diagram at Stage 1? Drop it in here — job done.    </a:t>
            </a:r>
            <a:pPr indent="0" marL="0">
              <a:buNone/>
            </a:pPr>
            <a:r>
              <a:rPr lang="en-US" sz="850" b="1" u="sng" dirty="0">
                <a:solidFill>
                  <a:srgbClr val="005EB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Need to draw one? → AIM QIP Diagram Tool · aimqa.github.io/QIP</a:t>
            </a:r>
            <a:endParaRPr lang="en-US" sz="850" dirty="0"/>
          </a:p>
        </p:txBody>
      </p:sp>
      <p:sp>
        <p:nvSpPr>
          <p:cNvPr id="10" name="Text 7"/>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05EB8"/>
                </a:solidFill>
                <a:latin typeface="Calibri" pitchFamily="34" charset="0"/>
                <a:ea typeface="Calibri" pitchFamily="34" charset="-122"/>
                <a:cs typeface="Calibri" pitchFamily="34" charset="-120"/>
              </a:rPr>
              <a:t>AIM Quality Improvement Team  |  Queen Elizabeth Hospital Birmingham</a:t>
            </a:r>
            <a:endParaRPr lang="en-US" sz="750" dirty="0"/>
          </a:p>
        </p:txBody>
      </p:sp>
      <p:sp>
        <p:nvSpPr>
          <p:cNvPr id="11" name="Text 8"/>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AA5AA"/>
                </a:solidFill>
                <a:latin typeface="Calibri" pitchFamily="34" charset="0"/>
                <a:ea typeface="Calibri" pitchFamily="34" charset="-122"/>
                <a:cs typeface="Calibri" pitchFamily="34" charset="-120"/>
              </a:rPr>
              <a:t>SQUIRE 2.0 Presentation Template</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274320"/>
            <a:ext cx="6766560" cy="475488"/>
          </a:xfrm>
          <a:prstGeom prst="rect">
            <a:avLst/>
          </a:prstGeom>
          <a:noFill/>
          <a:ln/>
        </p:spPr>
        <p:txBody>
          <a:bodyPr wrap="square" lIns="0" tIns="0" rIns="0" bIns="0" rtlCol="0" anchor="ctr"/>
          <a:lstStyle/>
          <a:p>
            <a:pPr indent="0" marL="0">
              <a:buNone/>
            </a:pPr>
            <a:r>
              <a:rPr lang="en-US" sz="2200" b="1" dirty="0">
                <a:solidFill>
                  <a:srgbClr val="231F20"/>
                </a:solidFill>
                <a:latin typeface="Calibri" pitchFamily="34" charset="0"/>
                <a:ea typeface="Calibri" pitchFamily="34" charset="-122"/>
                <a:cs typeface="Calibri" pitchFamily="34" charset="-120"/>
              </a:rPr>
              <a:t>Specific Aims</a:t>
            </a:r>
            <a:endParaRPr lang="en-US" sz="2200" dirty="0"/>
          </a:p>
        </p:txBody>
      </p:sp>
      <p:sp>
        <p:nvSpPr>
          <p:cNvPr id="3" name="Text 1"/>
          <p:cNvSpPr/>
          <p:nvPr/>
        </p:nvSpPr>
        <p:spPr>
          <a:xfrm>
            <a:off x="7907731" y="292608"/>
            <a:ext cx="779069" cy="310896"/>
          </a:xfrm>
          <a:prstGeom prst="roundRect">
            <a:avLst>
              <a:gd name="adj" fmla="val 47059"/>
            </a:avLst>
          </a:prstGeom>
          <a:solidFill>
            <a:srgbClr val="005EB8"/>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ITEM 6</a:t>
            </a:r>
            <a:endParaRPr lang="en-US" sz="900" dirty="0"/>
          </a:p>
        </p:txBody>
      </p:sp>
      <p:sp>
        <p:nvSpPr>
          <p:cNvPr id="4" name="Text 2"/>
          <p:cNvSpPr/>
          <p:nvPr/>
        </p:nvSpPr>
        <p:spPr>
          <a:xfrm>
            <a:off x="457200" y="896112"/>
            <a:ext cx="8229600" cy="1024128"/>
          </a:xfrm>
          <a:prstGeom prst="roundRect">
            <a:avLst>
              <a:gd name="adj" fmla="val 6250"/>
            </a:avLst>
          </a:prstGeom>
          <a:solidFill>
            <a:srgbClr val="D9E7F5"/>
          </a:solidFill>
          <a:ln/>
        </p:spPr>
        <p:txBody>
          <a:bodyPr wrap="square" lIns="114300" tIns="114300" rIns="114300" bIns="114300" rtlCol="0" anchor="t"/>
          <a:lstStyle/>
          <a:p>
            <a:pPr indent="0" marL="0">
              <a:spcAft>
                <a:spcPts val="200"/>
              </a:spcAft>
              <a:buNone/>
            </a:pPr>
            <a:r>
              <a:rPr lang="en-US" sz="1150" b="1" dirty="0">
                <a:solidFill>
                  <a:srgbClr val="005EB8"/>
                </a:solidFill>
                <a:latin typeface="Calibri" pitchFamily="34" charset="0"/>
                <a:ea typeface="Calibri" pitchFamily="34" charset="-122"/>
                <a:cs typeface="Calibri" pitchFamily="34" charset="-120"/>
              </a:rPr>
              <a:t>Your SMART Aim</a:t>
            </a:r>
            <a:endParaRPr lang="en-US" sz="1150" dirty="0"/>
          </a:p>
          <a:p>
            <a:pPr indent="0" marL="0">
              <a:spcAft>
                <a:spcPts val="300"/>
              </a:spcAft>
              <a:buNone/>
            </a:pPr>
            <a:r>
              <a:rPr lang="en-US" sz="950" dirty="0">
                <a:solidFill>
                  <a:srgbClr val="231F20"/>
                </a:solidFill>
                <a:latin typeface="Calibri" pitchFamily="34" charset="0"/>
                <a:ea typeface="Calibri" pitchFamily="34" charset="-122"/>
                <a:cs typeface="Calibri" pitchFamily="34" charset="-120"/>
              </a:rPr>
              <a:t>To [increase / reduce] [measure] from [X] to [Y] by [date] — e.g. “Increase completed VTE assessments on AMU from 60% to 90% by March 2027, measured by weekly drug-chart checks.”</a:t>
            </a:r>
            <a:endParaRPr lang="en-US" sz="1150" dirty="0"/>
          </a:p>
          <a:p>
            <a:pPr indent="0" marL="0">
              <a:spcBef>
                <a:spcPts val="200"/>
              </a:spcBef>
              <a:buNone/>
            </a:pPr>
            <a:r>
              <a:rPr lang="en-US" sz="950" i="1" dirty="0">
                <a:solidFill>
                  <a:srgbClr val="768692"/>
                </a:solidFill>
                <a:latin typeface="Calibri" pitchFamily="34" charset="0"/>
                <a:ea typeface="Calibri" pitchFamily="34" charset="-122"/>
                <a:cs typeface="Calibri" pitchFamily="34" charset="-120"/>
              </a:rPr>
              <a:t>Write your SMART aim here…</a:t>
            </a:r>
            <a:endParaRPr lang="en-US" sz="1150" dirty="0"/>
          </a:p>
        </p:txBody>
      </p:sp>
      <p:sp>
        <p:nvSpPr>
          <p:cNvPr id="5" name="Text 3"/>
          <p:cNvSpPr/>
          <p:nvPr/>
        </p:nvSpPr>
        <p:spPr>
          <a:xfrm>
            <a:off x="457200" y="2121408"/>
            <a:ext cx="1517904" cy="1737360"/>
          </a:xfrm>
          <a:prstGeom prst="roundRect">
            <a:avLst>
              <a:gd name="adj" fmla="val 4217"/>
            </a:avLst>
          </a:prstGeom>
          <a:solidFill>
            <a:srgbClr val="F0F4F5"/>
          </a:solidFill>
          <a:ln/>
        </p:spPr>
        <p:txBody>
          <a:bodyPr wrap="square" lIns="114300" tIns="114300" rIns="114300" bIns="114300" rtlCol="0" anchor="t"/>
          <a:lstStyle/>
          <a:p>
            <a:pPr indent="0" marL="0">
              <a:buNone/>
            </a:pPr>
            <a:endParaRPr lang="en-US" dirty="0"/>
          </a:p>
        </p:txBody>
      </p:sp>
      <p:sp>
        <p:nvSpPr>
          <p:cNvPr id="6" name="Text 4"/>
          <p:cNvSpPr/>
          <p:nvPr/>
        </p:nvSpPr>
        <p:spPr>
          <a:xfrm>
            <a:off x="457200" y="2231136"/>
            <a:ext cx="1517904" cy="457200"/>
          </a:xfrm>
          <a:prstGeom prst="rect">
            <a:avLst/>
          </a:prstGeom>
          <a:noFill/>
          <a:ln/>
        </p:spPr>
        <p:txBody>
          <a:bodyPr wrap="square" lIns="0" tIns="0" rIns="0" bIns="0" rtlCol="0" anchor="ctr"/>
          <a:lstStyle/>
          <a:p>
            <a:pPr algn="ctr" indent="0" marL="0">
              <a:buNone/>
            </a:pPr>
            <a:r>
              <a:rPr lang="en-US" sz="2600" b="1" dirty="0">
                <a:solidFill>
                  <a:srgbClr val="005EB8"/>
                </a:solidFill>
                <a:latin typeface="Calibri" pitchFamily="34" charset="0"/>
                <a:ea typeface="Calibri" pitchFamily="34" charset="-122"/>
                <a:cs typeface="Calibri" pitchFamily="34" charset="-120"/>
              </a:rPr>
              <a:t>S</a:t>
            </a:r>
            <a:endParaRPr lang="en-US" sz="2600" dirty="0"/>
          </a:p>
        </p:txBody>
      </p:sp>
      <p:sp>
        <p:nvSpPr>
          <p:cNvPr id="7" name="Text 5"/>
          <p:cNvSpPr/>
          <p:nvPr/>
        </p:nvSpPr>
        <p:spPr>
          <a:xfrm>
            <a:off x="530352" y="2743200"/>
            <a:ext cx="1371600" cy="237744"/>
          </a:xfrm>
          <a:prstGeom prst="rect">
            <a:avLst/>
          </a:prstGeom>
          <a:noFill/>
          <a:ln/>
        </p:spPr>
        <p:txBody>
          <a:bodyPr wrap="square" lIns="0" tIns="0" rIns="0" bIns="0" rtlCol="0" anchor="ctr"/>
          <a:lstStyle/>
          <a:p>
            <a:pPr algn="ctr" indent="0" marL="0">
              <a:buNone/>
            </a:pPr>
            <a:r>
              <a:rPr lang="en-US" sz="1050" b="1" dirty="0">
                <a:solidFill>
                  <a:srgbClr val="231F20"/>
                </a:solidFill>
                <a:latin typeface="Calibri" pitchFamily="34" charset="0"/>
                <a:ea typeface="Calibri" pitchFamily="34" charset="-122"/>
                <a:cs typeface="Calibri" pitchFamily="34" charset="-120"/>
              </a:rPr>
              <a:t>Specific</a:t>
            </a:r>
            <a:endParaRPr lang="en-US" sz="1050" dirty="0"/>
          </a:p>
        </p:txBody>
      </p:sp>
      <p:sp>
        <p:nvSpPr>
          <p:cNvPr id="8" name="Text 6"/>
          <p:cNvSpPr/>
          <p:nvPr/>
        </p:nvSpPr>
        <p:spPr>
          <a:xfrm>
            <a:off x="548640" y="3017520"/>
            <a:ext cx="1335024" cy="777240"/>
          </a:xfrm>
          <a:prstGeom prst="rect">
            <a:avLst/>
          </a:prstGeom>
          <a:noFill/>
          <a:ln/>
        </p:spPr>
        <p:txBody>
          <a:bodyPr wrap="square" lIns="0" tIns="0" rIns="0" bIns="0" rtlCol="0" anchor="ctr"/>
          <a:lstStyle/>
          <a:p>
            <a:pPr algn="ctr" indent="0" marL="0">
              <a:buNone/>
            </a:pPr>
            <a:r>
              <a:rPr lang="en-US" sz="800" dirty="0">
                <a:solidFill>
                  <a:srgbClr val="425563"/>
                </a:solidFill>
                <a:latin typeface="Calibri" pitchFamily="34" charset="0"/>
                <a:ea typeface="Calibri" pitchFamily="34" charset="-122"/>
                <a:cs typeface="Calibri" pitchFamily="34" charset="-120"/>
              </a:rPr>
              <a:t>Defines what will change, and for whom</a:t>
            </a:r>
            <a:endParaRPr lang="en-US" sz="800" dirty="0"/>
          </a:p>
        </p:txBody>
      </p:sp>
      <p:sp>
        <p:nvSpPr>
          <p:cNvPr id="9" name="Text 7"/>
          <p:cNvSpPr/>
          <p:nvPr/>
        </p:nvSpPr>
        <p:spPr>
          <a:xfrm>
            <a:off x="2135124" y="2121408"/>
            <a:ext cx="1517904" cy="1737360"/>
          </a:xfrm>
          <a:prstGeom prst="roundRect">
            <a:avLst>
              <a:gd name="adj" fmla="val 4217"/>
            </a:avLst>
          </a:prstGeom>
          <a:solidFill>
            <a:srgbClr val="F0F4F5"/>
          </a:solidFill>
          <a:ln/>
        </p:spPr>
        <p:txBody>
          <a:bodyPr wrap="square" lIns="114300" tIns="114300" rIns="114300" bIns="114300" rtlCol="0" anchor="t"/>
          <a:lstStyle/>
          <a:p>
            <a:pPr indent="0" marL="0">
              <a:buNone/>
            </a:pPr>
            <a:endParaRPr lang="en-US" dirty="0"/>
          </a:p>
        </p:txBody>
      </p:sp>
      <p:sp>
        <p:nvSpPr>
          <p:cNvPr id="10" name="Text 8"/>
          <p:cNvSpPr/>
          <p:nvPr/>
        </p:nvSpPr>
        <p:spPr>
          <a:xfrm>
            <a:off x="2135124" y="2231136"/>
            <a:ext cx="1517904" cy="457200"/>
          </a:xfrm>
          <a:prstGeom prst="rect">
            <a:avLst/>
          </a:prstGeom>
          <a:noFill/>
          <a:ln/>
        </p:spPr>
        <p:txBody>
          <a:bodyPr wrap="square" lIns="0" tIns="0" rIns="0" bIns="0" rtlCol="0" anchor="ctr"/>
          <a:lstStyle/>
          <a:p>
            <a:pPr algn="ctr" indent="0" marL="0">
              <a:buNone/>
            </a:pPr>
            <a:r>
              <a:rPr lang="en-US" sz="2600" b="1" dirty="0">
                <a:solidFill>
                  <a:srgbClr val="005EB8"/>
                </a:solidFill>
                <a:latin typeface="Calibri" pitchFamily="34" charset="0"/>
                <a:ea typeface="Calibri" pitchFamily="34" charset="-122"/>
                <a:cs typeface="Calibri" pitchFamily="34" charset="-120"/>
              </a:rPr>
              <a:t>M</a:t>
            </a:r>
            <a:endParaRPr lang="en-US" sz="2600" dirty="0"/>
          </a:p>
        </p:txBody>
      </p:sp>
      <p:sp>
        <p:nvSpPr>
          <p:cNvPr id="11" name="Text 9"/>
          <p:cNvSpPr/>
          <p:nvPr/>
        </p:nvSpPr>
        <p:spPr>
          <a:xfrm>
            <a:off x="2208276" y="2743200"/>
            <a:ext cx="1371600" cy="237744"/>
          </a:xfrm>
          <a:prstGeom prst="rect">
            <a:avLst/>
          </a:prstGeom>
          <a:noFill/>
          <a:ln/>
        </p:spPr>
        <p:txBody>
          <a:bodyPr wrap="square" lIns="0" tIns="0" rIns="0" bIns="0" rtlCol="0" anchor="ctr"/>
          <a:lstStyle/>
          <a:p>
            <a:pPr algn="ctr" indent="0" marL="0">
              <a:buNone/>
            </a:pPr>
            <a:r>
              <a:rPr lang="en-US" sz="1050" b="1" dirty="0">
                <a:solidFill>
                  <a:srgbClr val="231F20"/>
                </a:solidFill>
                <a:latin typeface="Calibri" pitchFamily="34" charset="0"/>
                <a:ea typeface="Calibri" pitchFamily="34" charset="-122"/>
                <a:cs typeface="Calibri" pitchFamily="34" charset="-120"/>
              </a:rPr>
              <a:t>Measurable</a:t>
            </a:r>
            <a:endParaRPr lang="en-US" sz="1050" dirty="0"/>
          </a:p>
        </p:txBody>
      </p:sp>
      <p:sp>
        <p:nvSpPr>
          <p:cNvPr id="12" name="Text 10"/>
          <p:cNvSpPr/>
          <p:nvPr/>
        </p:nvSpPr>
        <p:spPr>
          <a:xfrm>
            <a:off x="2226564" y="3017520"/>
            <a:ext cx="1335024" cy="777240"/>
          </a:xfrm>
          <a:prstGeom prst="rect">
            <a:avLst/>
          </a:prstGeom>
          <a:noFill/>
          <a:ln/>
        </p:spPr>
        <p:txBody>
          <a:bodyPr wrap="square" lIns="0" tIns="0" rIns="0" bIns="0" rtlCol="0" anchor="ctr"/>
          <a:lstStyle/>
          <a:p>
            <a:pPr algn="ctr" indent="0" marL="0">
              <a:buNone/>
            </a:pPr>
            <a:r>
              <a:rPr lang="en-US" sz="800" dirty="0">
                <a:solidFill>
                  <a:srgbClr val="425563"/>
                </a:solidFill>
                <a:latin typeface="Calibri" pitchFamily="34" charset="0"/>
                <a:ea typeface="Calibri" pitchFamily="34" charset="-122"/>
                <a:cs typeface="Calibri" pitchFamily="34" charset="-120"/>
              </a:rPr>
              <a:t>A numeric target and a measurement method</a:t>
            </a:r>
            <a:endParaRPr lang="en-US" sz="800" dirty="0"/>
          </a:p>
        </p:txBody>
      </p:sp>
      <p:sp>
        <p:nvSpPr>
          <p:cNvPr id="13" name="Text 11"/>
          <p:cNvSpPr/>
          <p:nvPr/>
        </p:nvSpPr>
        <p:spPr>
          <a:xfrm>
            <a:off x="3813048" y="2121408"/>
            <a:ext cx="1517904" cy="1737360"/>
          </a:xfrm>
          <a:prstGeom prst="roundRect">
            <a:avLst>
              <a:gd name="adj" fmla="val 4217"/>
            </a:avLst>
          </a:prstGeom>
          <a:solidFill>
            <a:srgbClr val="F0F4F5"/>
          </a:solidFill>
          <a:ln/>
        </p:spPr>
        <p:txBody>
          <a:bodyPr wrap="square" lIns="114300" tIns="114300" rIns="114300" bIns="114300" rtlCol="0" anchor="t"/>
          <a:lstStyle/>
          <a:p>
            <a:pPr indent="0" marL="0">
              <a:buNone/>
            </a:pPr>
            <a:endParaRPr lang="en-US" dirty="0"/>
          </a:p>
        </p:txBody>
      </p:sp>
      <p:sp>
        <p:nvSpPr>
          <p:cNvPr id="14" name="Text 12"/>
          <p:cNvSpPr/>
          <p:nvPr/>
        </p:nvSpPr>
        <p:spPr>
          <a:xfrm>
            <a:off x="3813048" y="2231136"/>
            <a:ext cx="1517904" cy="457200"/>
          </a:xfrm>
          <a:prstGeom prst="rect">
            <a:avLst/>
          </a:prstGeom>
          <a:noFill/>
          <a:ln/>
        </p:spPr>
        <p:txBody>
          <a:bodyPr wrap="square" lIns="0" tIns="0" rIns="0" bIns="0" rtlCol="0" anchor="ctr"/>
          <a:lstStyle/>
          <a:p>
            <a:pPr algn="ctr" indent="0" marL="0">
              <a:buNone/>
            </a:pPr>
            <a:r>
              <a:rPr lang="en-US" sz="2600" b="1" dirty="0">
                <a:solidFill>
                  <a:srgbClr val="005EB8"/>
                </a:solidFill>
                <a:latin typeface="Calibri" pitchFamily="34" charset="0"/>
                <a:ea typeface="Calibri" pitchFamily="34" charset="-122"/>
                <a:cs typeface="Calibri" pitchFamily="34" charset="-120"/>
              </a:rPr>
              <a:t>A</a:t>
            </a:r>
            <a:endParaRPr lang="en-US" sz="2600" dirty="0"/>
          </a:p>
        </p:txBody>
      </p:sp>
      <p:sp>
        <p:nvSpPr>
          <p:cNvPr id="15" name="Text 13"/>
          <p:cNvSpPr/>
          <p:nvPr/>
        </p:nvSpPr>
        <p:spPr>
          <a:xfrm>
            <a:off x="3886200" y="2743200"/>
            <a:ext cx="1371600" cy="237744"/>
          </a:xfrm>
          <a:prstGeom prst="rect">
            <a:avLst/>
          </a:prstGeom>
          <a:noFill/>
          <a:ln/>
        </p:spPr>
        <p:txBody>
          <a:bodyPr wrap="square" lIns="0" tIns="0" rIns="0" bIns="0" rtlCol="0" anchor="ctr"/>
          <a:lstStyle/>
          <a:p>
            <a:pPr algn="ctr" indent="0" marL="0">
              <a:buNone/>
            </a:pPr>
            <a:r>
              <a:rPr lang="en-US" sz="1050" b="1" dirty="0">
                <a:solidFill>
                  <a:srgbClr val="231F20"/>
                </a:solidFill>
                <a:latin typeface="Calibri" pitchFamily="34" charset="0"/>
                <a:ea typeface="Calibri" pitchFamily="34" charset="-122"/>
                <a:cs typeface="Calibri" pitchFamily="34" charset="-120"/>
              </a:rPr>
              <a:t>Achievable</a:t>
            </a:r>
            <a:endParaRPr lang="en-US" sz="1050" dirty="0"/>
          </a:p>
        </p:txBody>
      </p:sp>
      <p:sp>
        <p:nvSpPr>
          <p:cNvPr id="16" name="Text 14"/>
          <p:cNvSpPr/>
          <p:nvPr/>
        </p:nvSpPr>
        <p:spPr>
          <a:xfrm>
            <a:off x="3904488" y="3017520"/>
            <a:ext cx="1335024" cy="777240"/>
          </a:xfrm>
          <a:prstGeom prst="rect">
            <a:avLst/>
          </a:prstGeom>
          <a:noFill/>
          <a:ln/>
        </p:spPr>
        <p:txBody>
          <a:bodyPr wrap="square" lIns="0" tIns="0" rIns="0" bIns="0" rtlCol="0" anchor="ctr"/>
          <a:lstStyle/>
          <a:p>
            <a:pPr algn="ctr" indent="0" marL="0">
              <a:buNone/>
            </a:pPr>
            <a:r>
              <a:rPr lang="en-US" sz="800" dirty="0">
                <a:solidFill>
                  <a:srgbClr val="425563"/>
                </a:solidFill>
                <a:latin typeface="Calibri" pitchFamily="34" charset="0"/>
                <a:ea typeface="Calibri" pitchFamily="34" charset="-122"/>
                <a:cs typeface="Calibri" pitchFamily="34" charset="-120"/>
              </a:rPr>
              <a:t>Realistic for your team, time and resources</a:t>
            </a:r>
            <a:endParaRPr lang="en-US" sz="800" dirty="0"/>
          </a:p>
        </p:txBody>
      </p:sp>
      <p:sp>
        <p:nvSpPr>
          <p:cNvPr id="17" name="Text 15"/>
          <p:cNvSpPr/>
          <p:nvPr/>
        </p:nvSpPr>
        <p:spPr>
          <a:xfrm>
            <a:off x="5490972" y="2121408"/>
            <a:ext cx="1517904" cy="1737360"/>
          </a:xfrm>
          <a:prstGeom prst="roundRect">
            <a:avLst>
              <a:gd name="adj" fmla="val 4217"/>
            </a:avLst>
          </a:prstGeom>
          <a:solidFill>
            <a:srgbClr val="F0F4F5"/>
          </a:solidFill>
          <a:ln/>
        </p:spPr>
        <p:txBody>
          <a:bodyPr wrap="square" lIns="114300" tIns="114300" rIns="114300" bIns="114300" rtlCol="0" anchor="t"/>
          <a:lstStyle/>
          <a:p>
            <a:pPr indent="0" marL="0">
              <a:buNone/>
            </a:pPr>
            <a:endParaRPr lang="en-US" dirty="0"/>
          </a:p>
        </p:txBody>
      </p:sp>
      <p:sp>
        <p:nvSpPr>
          <p:cNvPr id="18" name="Text 16"/>
          <p:cNvSpPr/>
          <p:nvPr/>
        </p:nvSpPr>
        <p:spPr>
          <a:xfrm>
            <a:off x="5490972" y="2231136"/>
            <a:ext cx="1517904" cy="457200"/>
          </a:xfrm>
          <a:prstGeom prst="rect">
            <a:avLst/>
          </a:prstGeom>
          <a:noFill/>
          <a:ln/>
        </p:spPr>
        <p:txBody>
          <a:bodyPr wrap="square" lIns="0" tIns="0" rIns="0" bIns="0" rtlCol="0" anchor="ctr"/>
          <a:lstStyle/>
          <a:p>
            <a:pPr algn="ctr" indent="0" marL="0">
              <a:buNone/>
            </a:pPr>
            <a:r>
              <a:rPr lang="en-US" sz="2600" b="1" dirty="0">
                <a:solidFill>
                  <a:srgbClr val="005EB8"/>
                </a:solidFill>
                <a:latin typeface="Calibri" pitchFamily="34" charset="0"/>
                <a:ea typeface="Calibri" pitchFamily="34" charset="-122"/>
                <a:cs typeface="Calibri" pitchFamily="34" charset="-120"/>
              </a:rPr>
              <a:t>R</a:t>
            </a:r>
            <a:endParaRPr lang="en-US" sz="2600" dirty="0"/>
          </a:p>
        </p:txBody>
      </p:sp>
      <p:sp>
        <p:nvSpPr>
          <p:cNvPr id="19" name="Text 17"/>
          <p:cNvSpPr/>
          <p:nvPr/>
        </p:nvSpPr>
        <p:spPr>
          <a:xfrm>
            <a:off x="5564124" y="2743200"/>
            <a:ext cx="1371600" cy="237744"/>
          </a:xfrm>
          <a:prstGeom prst="rect">
            <a:avLst/>
          </a:prstGeom>
          <a:noFill/>
          <a:ln/>
        </p:spPr>
        <p:txBody>
          <a:bodyPr wrap="square" lIns="0" tIns="0" rIns="0" bIns="0" rtlCol="0" anchor="ctr"/>
          <a:lstStyle/>
          <a:p>
            <a:pPr algn="ctr" indent="0" marL="0">
              <a:buNone/>
            </a:pPr>
            <a:r>
              <a:rPr lang="en-US" sz="1050" b="1" dirty="0">
                <a:solidFill>
                  <a:srgbClr val="231F20"/>
                </a:solidFill>
                <a:latin typeface="Calibri" pitchFamily="34" charset="0"/>
                <a:ea typeface="Calibri" pitchFamily="34" charset="-122"/>
                <a:cs typeface="Calibri" pitchFamily="34" charset="-120"/>
              </a:rPr>
              <a:t>Relevant</a:t>
            </a:r>
            <a:endParaRPr lang="en-US" sz="1050" dirty="0"/>
          </a:p>
        </p:txBody>
      </p:sp>
      <p:sp>
        <p:nvSpPr>
          <p:cNvPr id="20" name="Text 18"/>
          <p:cNvSpPr/>
          <p:nvPr/>
        </p:nvSpPr>
        <p:spPr>
          <a:xfrm>
            <a:off x="5582412" y="3017520"/>
            <a:ext cx="1335024" cy="777240"/>
          </a:xfrm>
          <a:prstGeom prst="rect">
            <a:avLst/>
          </a:prstGeom>
          <a:noFill/>
          <a:ln/>
        </p:spPr>
        <p:txBody>
          <a:bodyPr wrap="square" lIns="0" tIns="0" rIns="0" bIns="0" rtlCol="0" anchor="ctr"/>
          <a:lstStyle/>
          <a:p>
            <a:pPr algn="ctr" indent="0" marL="0">
              <a:buNone/>
            </a:pPr>
            <a:r>
              <a:rPr lang="en-US" sz="800" dirty="0">
                <a:solidFill>
                  <a:srgbClr val="425563"/>
                </a:solidFill>
                <a:latin typeface="Calibri" pitchFamily="34" charset="0"/>
                <a:ea typeface="Calibri" pitchFamily="34" charset="-122"/>
                <a:cs typeface="Calibri" pitchFamily="34" charset="-120"/>
              </a:rPr>
              <a:t>Tied to your intervention and to patients</a:t>
            </a:r>
            <a:endParaRPr lang="en-US" sz="800" dirty="0"/>
          </a:p>
        </p:txBody>
      </p:sp>
      <p:sp>
        <p:nvSpPr>
          <p:cNvPr id="21" name="Text 19"/>
          <p:cNvSpPr/>
          <p:nvPr/>
        </p:nvSpPr>
        <p:spPr>
          <a:xfrm>
            <a:off x="7168896" y="2121408"/>
            <a:ext cx="1517904" cy="1737360"/>
          </a:xfrm>
          <a:prstGeom prst="roundRect">
            <a:avLst>
              <a:gd name="adj" fmla="val 4217"/>
            </a:avLst>
          </a:prstGeom>
          <a:solidFill>
            <a:srgbClr val="F0F4F5"/>
          </a:solidFill>
          <a:ln/>
        </p:spPr>
        <p:txBody>
          <a:bodyPr wrap="square" lIns="114300" tIns="114300" rIns="114300" bIns="114300" rtlCol="0" anchor="t"/>
          <a:lstStyle/>
          <a:p>
            <a:pPr indent="0" marL="0">
              <a:buNone/>
            </a:pPr>
            <a:endParaRPr lang="en-US" dirty="0"/>
          </a:p>
        </p:txBody>
      </p:sp>
      <p:sp>
        <p:nvSpPr>
          <p:cNvPr id="22" name="Text 20"/>
          <p:cNvSpPr/>
          <p:nvPr/>
        </p:nvSpPr>
        <p:spPr>
          <a:xfrm>
            <a:off x="7168896" y="2231136"/>
            <a:ext cx="1517904" cy="457200"/>
          </a:xfrm>
          <a:prstGeom prst="rect">
            <a:avLst/>
          </a:prstGeom>
          <a:noFill/>
          <a:ln/>
        </p:spPr>
        <p:txBody>
          <a:bodyPr wrap="square" lIns="0" tIns="0" rIns="0" bIns="0" rtlCol="0" anchor="ctr"/>
          <a:lstStyle/>
          <a:p>
            <a:pPr algn="ctr" indent="0" marL="0">
              <a:buNone/>
            </a:pPr>
            <a:r>
              <a:rPr lang="en-US" sz="2600" b="1" dirty="0">
                <a:solidFill>
                  <a:srgbClr val="005EB8"/>
                </a:solidFill>
                <a:latin typeface="Calibri" pitchFamily="34" charset="0"/>
                <a:ea typeface="Calibri" pitchFamily="34" charset="-122"/>
                <a:cs typeface="Calibri" pitchFamily="34" charset="-120"/>
              </a:rPr>
              <a:t>T</a:t>
            </a:r>
            <a:endParaRPr lang="en-US" sz="2600" dirty="0"/>
          </a:p>
        </p:txBody>
      </p:sp>
      <p:sp>
        <p:nvSpPr>
          <p:cNvPr id="23" name="Text 21"/>
          <p:cNvSpPr/>
          <p:nvPr/>
        </p:nvSpPr>
        <p:spPr>
          <a:xfrm>
            <a:off x="7242048" y="2743200"/>
            <a:ext cx="1371600" cy="237744"/>
          </a:xfrm>
          <a:prstGeom prst="rect">
            <a:avLst/>
          </a:prstGeom>
          <a:noFill/>
          <a:ln/>
        </p:spPr>
        <p:txBody>
          <a:bodyPr wrap="square" lIns="0" tIns="0" rIns="0" bIns="0" rtlCol="0" anchor="ctr"/>
          <a:lstStyle/>
          <a:p>
            <a:pPr algn="ctr" indent="0" marL="0">
              <a:buNone/>
            </a:pPr>
            <a:r>
              <a:rPr lang="en-US" sz="1050" b="1" dirty="0">
                <a:solidFill>
                  <a:srgbClr val="231F20"/>
                </a:solidFill>
                <a:latin typeface="Calibri" pitchFamily="34" charset="0"/>
                <a:ea typeface="Calibri" pitchFamily="34" charset="-122"/>
                <a:cs typeface="Calibri" pitchFamily="34" charset="-120"/>
              </a:rPr>
              <a:t>Time-bound</a:t>
            </a:r>
            <a:endParaRPr lang="en-US" sz="1050" dirty="0"/>
          </a:p>
        </p:txBody>
      </p:sp>
      <p:sp>
        <p:nvSpPr>
          <p:cNvPr id="24" name="Text 22"/>
          <p:cNvSpPr/>
          <p:nvPr/>
        </p:nvSpPr>
        <p:spPr>
          <a:xfrm>
            <a:off x="7260336" y="3017520"/>
            <a:ext cx="1335024" cy="777240"/>
          </a:xfrm>
          <a:prstGeom prst="rect">
            <a:avLst/>
          </a:prstGeom>
          <a:noFill/>
          <a:ln/>
        </p:spPr>
        <p:txBody>
          <a:bodyPr wrap="square" lIns="0" tIns="0" rIns="0" bIns="0" rtlCol="0" anchor="ctr"/>
          <a:lstStyle/>
          <a:p>
            <a:pPr algn="ctr" indent="0" marL="0">
              <a:buNone/>
            </a:pPr>
            <a:r>
              <a:rPr lang="en-US" sz="800" dirty="0">
                <a:solidFill>
                  <a:srgbClr val="425563"/>
                </a:solidFill>
                <a:latin typeface="Calibri" pitchFamily="34" charset="0"/>
                <a:ea typeface="Calibri" pitchFamily="34" charset="-122"/>
                <a:cs typeface="Calibri" pitchFamily="34" charset="-120"/>
              </a:rPr>
              <a:t>A defined end point or review date</a:t>
            </a:r>
            <a:endParaRPr lang="en-US" sz="800" dirty="0"/>
          </a:p>
        </p:txBody>
      </p:sp>
      <p:sp>
        <p:nvSpPr>
          <p:cNvPr id="25" name="Text 23"/>
          <p:cNvSpPr/>
          <p:nvPr/>
        </p:nvSpPr>
        <p:spPr>
          <a:xfrm>
            <a:off x="457200" y="4069080"/>
            <a:ext cx="8229600" cy="256032"/>
          </a:xfrm>
          <a:prstGeom prst="rect">
            <a:avLst/>
          </a:prstGeom>
          <a:noFill/>
          <a:ln/>
        </p:spPr>
        <p:txBody>
          <a:bodyPr wrap="square" lIns="0" tIns="0" rIns="0" bIns="0" rtlCol="0" anchor="ctr"/>
          <a:lstStyle/>
          <a:p>
            <a:pPr indent="0" marL="0">
              <a:buNone/>
            </a:pPr>
            <a:r>
              <a:rPr lang="en-US" sz="850" i="1" dirty="0">
                <a:solidFill>
                  <a:srgbClr val="425563"/>
                </a:solidFill>
                <a:latin typeface="Calibri" pitchFamily="34" charset="0"/>
                <a:ea typeface="Calibri" pitchFamily="34" charset="-122"/>
                <a:cs typeface="Calibri" pitchFamily="34" charset="-120"/>
              </a:rPr>
              <a:t>Be modest — a clear improvement on one ward is a great first aim. Test: could someone else tell if you achieved it?</a:t>
            </a:r>
            <a:endParaRPr lang="en-US" sz="850" dirty="0"/>
          </a:p>
        </p:txBody>
      </p:sp>
      <p:sp>
        <p:nvSpPr>
          <p:cNvPr id="26" name="Text 24"/>
          <p:cNvSpPr/>
          <p:nvPr/>
        </p:nvSpPr>
        <p:spPr>
          <a:xfrm>
            <a:off x="457200" y="4370832"/>
            <a:ext cx="8229600" cy="237744"/>
          </a:xfrm>
          <a:prstGeom prst="rect">
            <a:avLst/>
          </a:prstGeom>
          <a:noFill/>
          <a:ln/>
        </p:spPr>
        <p:txBody>
          <a:bodyPr wrap="square" lIns="0" tIns="0" rIns="0" bIns="0" rtlCol="0" anchor="ctr"/>
          <a:lstStyle/>
          <a:p>
            <a:pPr indent="0" marL="0">
              <a:buNone/>
            </a:pPr>
            <a:r>
              <a:rPr lang="en-US" sz="800" b="1" spc="140" kern="0" dirty="0">
                <a:solidFill>
                  <a:srgbClr val="005EB8"/>
                </a:solidFill>
                <a:latin typeface="Calibri" pitchFamily="34" charset="0"/>
                <a:ea typeface="Calibri" pitchFamily="34" charset="-122"/>
                <a:cs typeface="Calibri" pitchFamily="34" charset="-120"/>
              </a:rPr>
              <a:t>WHO QUALITY LENS</a:t>
            </a:r>
            <a:pPr indent="0" marL="0">
              <a:buNone/>
            </a:pPr>
            <a:r>
              <a:rPr lang="en-US" sz="900" b="1" dirty="0">
                <a:solidFill>
                  <a:srgbClr val="231F20"/>
                </a:solidFill>
                <a:latin typeface="Calibri" pitchFamily="34" charset="0"/>
                <a:ea typeface="Calibri" pitchFamily="34" charset="-122"/>
                <a:cs typeface="Calibri" pitchFamily="34" charset="-120"/>
              </a:rPr>
              <a:t>   Anchor your aim in at least one domain:  Effective · Safe · People-centred · Timely · Equitable · Integrated · Efficient</a:t>
            </a:r>
            <a:pPr indent="0" marL="0">
              <a:buNone/>
            </a:pPr>
            <a:r>
              <a:rPr lang="en-US" sz="850" b="1" u="sng" dirty="0">
                <a:solidFill>
                  <a:srgbClr val="005EB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    who.int · Quality of care</a:t>
            </a:r>
            <a:endParaRPr lang="en-US" sz="800" dirty="0"/>
          </a:p>
        </p:txBody>
      </p:sp>
      <p:sp>
        <p:nvSpPr>
          <p:cNvPr id="28" name="Text 25"/>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05EB8"/>
                </a:solidFill>
                <a:latin typeface="Calibri" pitchFamily="34" charset="0"/>
                <a:ea typeface="Calibri" pitchFamily="34" charset="-122"/>
                <a:cs typeface="Calibri" pitchFamily="34" charset="-120"/>
              </a:rPr>
              <a:t>AIM Quality Improvement Team  |  Queen Elizabeth Hospital Birmingham</a:t>
            </a:r>
            <a:endParaRPr lang="en-US" sz="750" dirty="0"/>
          </a:p>
        </p:txBody>
      </p:sp>
      <p:sp>
        <p:nvSpPr>
          <p:cNvPr id="29" name="Text 26"/>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AA5AA"/>
                </a:solidFill>
                <a:latin typeface="Calibri" pitchFamily="34" charset="0"/>
                <a:ea typeface="Calibri" pitchFamily="34" charset="-122"/>
                <a:cs typeface="Calibri" pitchFamily="34" charset="-120"/>
              </a:rPr>
              <a:t>SQUIRE 2.0 Presentation Template</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3087"/>
        </a:solidFill>
      </p:bgPr>
    </p:bg>
    <p:spTree>
      <p:nvGrpSpPr>
        <p:cNvPr id="1" name=""/>
        <p:cNvGrpSpPr/>
        <p:nvPr/>
      </p:nvGrpSpPr>
      <p:grpSpPr>
        <a:xfrm>
          <a:off x="0" y="0"/>
          <a:ext cx="0" cy="0"/>
          <a:chOff x="0" y="0"/>
          <a:chExt cx="0" cy="0"/>
        </a:xfrm>
      </p:grpSpPr>
      <p:sp>
        <p:nvSpPr>
          <p:cNvPr id="2" name="Text 0"/>
          <p:cNvSpPr/>
          <p:nvPr/>
        </p:nvSpPr>
        <p:spPr>
          <a:xfrm>
            <a:off x="5120640" y="502920"/>
            <a:ext cx="3749040" cy="2377440"/>
          </a:xfrm>
          <a:prstGeom prst="rect">
            <a:avLst/>
          </a:prstGeom>
          <a:noFill/>
          <a:ln/>
        </p:spPr>
        <p:txBody>
          <a:bodyPr wrap="square" lIns="0" tIns="0" rIns="0" bIns="0" rtlCol="0" anchor="ctr"/>
          <a:lstStyle/>
          <a:p>
            <a:pPr algn="r" indent="0" marL="0">
              <a:buNone/>
            </a:pPr>
            <a:r>
              <a:rPr lang="en-US" sz="15000" b="1" dirty="0">
                <a:solidFill>
                  <a:srgbClr val="003087"/>
                </a:solidFill>
                <a:latin typeface="Calibri" pitchFamily="34" charset="0"/>
                <a:ea typeface="Calibri" pitchFamily="34" charset="-122"/>
                <a:cs typeface="Calibri" pitchFamily="34" charset="-120"/>
              </a:rPr>
              <a:t>03</a:t>
            </a:r>
            <a:endParaRPr lang="en-US" sz="15000" dirty="0"/>
          </a:p>
        </p:txBody>
      </p:sp>
      <p:sp>
        <p:nvSpPr>
          <p:cNvPr id="3" name="Text 1"/>
          <p:cNvSpPr/>
          <p:nvPr/>
        </p:nvSpPr>
        <p:spPr>
          <a:xfrm>
            <a:off x="640080" y="1298448"/>
            <a:ext cx="6858000" cy="256032"/>
          </a:xfrm>
          <a:prstGeom prst="rect">
            <a:avLst/>
          </a:prstGeom>
          <a:noFill/>
          <a:ln/>
        </p:spPr>
        <p:txBody>
          <a:bodyPr wrap="square" lIns="0" tIns="0" rIns="0" bIns="0" rtlCol="0" anchor="ctr"/>
          <a:lstStyle/>
          <a:p>
            <a:pPr indent="0" marL="0">
              <a:buNone/>
            </a:pPr>
            <a:r>
              <a:rPr lang="en-US" sz="1050" b="1" spc="200" kern="0" dirty="0">
                <a:solidFill>
                  <a:srgbClr val="41B6E6"/>
                </a:solidFill>
                <a:latin typeface="Calibri" pitchFamily="34" charset="0"/>
                <a:ea typeface="Calibri" pitchFamily="34" charset="-122"/>
                <a:cs typeface="Calibri" pitchFamily="34" charset="-120"/>
              </a:rPr>
              <a:t>SECTION 3  ·  ITEMS 7–12</a:t>
            </a:r>
            <a:endParaRPr lang="en-US" sz="1050" dirty="0"/>
          </a:p>
        </p:txBody>
      </p:sp>
      <p:sp>
        <p:nvSpPr>
          <p:cNvPr id="4" name="Text 2"/>
          <p:cNvSpPr/>
          <p:nvPr/>
        </p:nvSpPr>
        <p:spPr>
          <a:xfrm>
            <a:off x="640080" y="1609344"/>
            <a:ext cx="7498080" cy="77724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Methods</a:t>
            </a:r>
            <a:endParaRPr lang="en-US" sz="4000" dirty="0"/>
          </a:p>
        </p:txBody>
      </p:sp>
      <p:sp>
        <p:nvSpPr>
          <p:cNvPr id="5" name="Text 3"/>
          <p:cNvSpPr/>
          <p:nvPr/>
        </p:nvSpPr>
        <p:spPr>
          <a:xfrm>
            <a:off x="640080" y="2450592"/>
            <a:ext cx="7498080" cy="365760"/>
          </a:xfrm>
          <a:prstGeom prst="rect">
            <a:avLst/>
          </a:prstGeom>
          <a:noFill/>
          <a:ln/>
        </p:spPr>
        <p:txBody>
          <a:bodyPr wrap="square" lIns="0" tIns="0" rIns="0" bIns="0" rtlCol="0" anchor="ctr"/>
          <a:lstStyle/>
          <a:p>
            <a:pPr indent="0" marL="0">
              <a:buNone/>
            </a:pPr>
            <a:r>
              <a:rPr lang="en-US" sz="1350" i="1" dirty="0">
                <a:solidFill>
                  <a:srgbClr val="E8EDEE"/>
                </a:solidFill>
                <a:latin typeface="Calibri" pitchFamily="34" charset="0"/>
                <a:ea typeface="Calibri" pitchFamily="34" charset="-122"/>
                <a:cs typeface="Calibri" pitchFamily="34" charset="-120"/>
              </a:rPr>
              <a:t>“What did you do?”</a:t>
            </a:r>
            <a:endParaRPr lang="en-US" sz="1350" dirty="0"/>
          </a:p>
        </p:txBody>
      </p:sp>
      <p:sp>
        <p:nvSpPr>
          <p:cNvPr id="6" name="Text 4"/>
          <p:cNvSpPr/>
          <p:nvPr/>
        </p:nvSpPr>
        <p:spPr>
          <a:xfrm>
            <a:off x="640080" y="3310128"/>
            <a:ext cx="1073506" cy="347472"/>
          </a:xfrm>
          <a:prstGeom prst="roundRect">
            <a:avLst>
              <a:gd name="adj" fmla="val 47368"/>
            </a:avLst>
          </a:prstGeom>
          <a:solidFill>
            <a:srgbClr val="0072CE"/>
          </a:solid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7 · Context</a:t>
            </a:r>
            <a:endParaRPr lang="en-US" sz="900" dirty="0"/>
          </a:p>
        </p:txBody>
      </p:sp>
      <p:sp>
        <p:nvSpPr>
          <p:cNvPr id="7" name="Text 5"/>
          <p:cNvSpPr/>
          <p:nvPr/>
        </p:nvSpPr>
        <p:spPr>
          <a:xfrm>
            <a:off x="1841602" y="3310128"/>
            <a:ext cx="1614830" cy="347472"/>
          </a:xfrm>
          <a:prstGeom prst="roundRect">
            <a:avLst>
              <a:gd name="adj" fmla="val 47368"/>
            </a:avLst>
          </a:prstGeom>
          <a:solidFill>
            <a:srgbClr val="0072CE"/>
          </a:solid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8 · Intervention(s)</a:t>
            </a:r>
            <a:endParaRPr lang="en-US" sz="900" dirty="0"/>
          </a:p>
        </p:txBody>
      </p:sp>
      <p:sp>
        <p:nvSpPr>
          <p:cNvPr id="8" name="Text 6"/>
          <p:cNvSpPr/>
          <p:nvPr/>
        </p:nvSpPr>
        <p:spPr>
          <a:xfrm>
            <a:off x="3584448" y="3310128"/>
            <a:ext cx="2291486" cy="347472"/>
          </a:xfrm>
          <a:prstGeom prst="roundRect">
            <a:avLst>
              <a:gd name="adj" fmla="val 47368"/>
            </a:avLst>
          </a:prstGeom>
          <a:solidFill>
            <a:srgbClr val="0072CE"/>
          </a:solid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9 · Study of the Intervention</a:t>
            </a:r>
            <a:endParaRPr lang="en-US" sz="900" dirty="0"/>
          </a:p>
        </p:txBody>
      </p:sp>
      <p:sp>
        <p:nvSpPr>
          <p:cNvPr id="9" name="Text 7"/>
          <p:cNvSpPr/>
          <p:nvPr/>
        </p:nvSpPr>
        <p:spPr>
          <a:xfrm>
            <a:off x="6003950" y="3310128"/>
            <a:ext cx="1208837" cy="347472"/>
          </a:xfrm>
          <a:prstGeom prst="roundRect">
            <a:avLst>
              <a:gd name="adj" fmla="val 47368"/>
            </a:avLst>
          </a:prstGeom>
          <a:solidFill>
            <a:srgbClr val="0072CE"/>
          </a:solid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10 · Measures</a:t>
            </a:r>
            <a:endParaRPr lang="en-US" sz="900" dirty="0"/>
          </a:p>
        </p:txBody>
      </p:sp>
      <p:sp>
        <p:nvSpPr>
          <p:cNvPr id="10" name="Text 8"/>
          <p:cNvSpPr/>
          <p:nvPr/>
        </p:nvSpPr>
        <p:spPr>
          <a:xfrm>
            <a:off x="7340803" y="3310128"/>
            <a:ext cx="1208837" cy="347472"/>
          </a:xfrm>
          <a:prstGeom prst="roundRect">
            <a:avLst>
              <a:gd name="adj" fmla="val 47368"/>
            </a:avLst>
          </a:prstGeom>
          <a:solidFill>
            <a:srgbClr val="0072CE"/>
          </a:solid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11 · Analysis</a:t>
            </a:r>
            <a:endParaRPr lang="en-US" sz="900" dirty="0"/>
          </a:p>
        </p:txBody>
      </p:sp>
      <p:sp>
        <p:nvSpPr>
          <p:cNvPr id="11" name="Text 9"/>
          <p:cNvSpPr/>
          <p:nvPr/>
        </p:nvSpPr>
        <p:spPr>
          <a:xfrm>
            <a:off x="640080" y="3785616"/>
            <a:ext cx="1073506" cy="347472"/>
          </a:xfrm>
          <a:prstGeom prst="roundRect">
            <a:avLst>
              <a:gd name="adj" fmla="val 47368"/>
            </a:avLst>
          </a:prstGeom>
          <a:solidFill>
            <a:srgbClr val="0072CE"/>
          </a:solid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12 · Ethics</a:t>
            </a:r>
            <a:endParaRPr lang="en-US" sz="900" dirty="0"/>
          </a:p>
        </p:txBody>
      </p:sp>
      <p:sp>
        <p:nvSpPr>
          <p:cNvPr id="12" name="Text 10"/>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41B6E6"/>
                </a:solidFill>
                <a:latin typeface="Calibri" pitchFamily="34" charset="0"/>
                <a:ea typeface="Calibri" pitchFamily="34" charset="-122"/>
                <a:cs typeface="Calibri" pitchFamily="34" charset="-120"/>
              </a:rPr>
              <a:t>AIM Quality Improvement Team  |  Queen Elizabeth Hospital Birmingham</a:t>
            </a:r>
            <a:endParaRPr lang="en-US" sz="750" dirty="0"/>
          </a:p>
        </p:txBody>
      </p:sp>
      <p:sp>
        <p:nvSpPr>
          <p:cNvPr id="13" name="Text 11"/>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FB6BC"/>
                </a:solidFill>
                <a:latin typeface="Calibri" pitchFamily="34" charset="0"/>
                <a:ea typeface="Calibri" pitchFamily="34" charset="-122"/>
                <a:cs typeface="Calibri" pitchFamily="34" charset="-120"/>
              </a:rPr>
              <a:t>SQUIRE 2.0 Presentation Template</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05EB8"/>
                </a:solidFill>
                <a:latin typeface="Calibri" pitchFamily="34" charset="0"/>
                <a:ea typeface="Calibri" pitchFamily="34" charset="-122"/>
                <a:cs typeface="Calibri" pitchFamily="34" charset="-120"/>
              </a:rPr>
              <a:t>PHYSICAL &amp; SOCIOCULTURAL ENVIRONMENT — CONSIDERED AT THE OUTSET</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231F20"/>
                </a:solidFill>
                <a:latin typeface="Calibri" pitchFamily="34" charset="0"/>
                <a:ea typeface="Calibri" pitchFamily="34" charset="-122"/>
                <a:cs typeface="Calibri" pitchFamily="34" charset="-120"/>
              </a:rPr>
              <a:t>Context</a:t>
            </a:r>
            <a:endParaRPr lang="en-US" sz="2200" dirty="0"/>
          </a:p>
        </p:txBody>
      </p:sp>
      <p:sp>
        <p:nvSpPr>
          <p:cNvPr id="4" name="Text 2"/>
          <p:cNvSpPr/>
          <p:nvPr/>
        </p:nvSpPr>
        <p:spPr>
          <a:xfrm>
            <a:off x="7907731" y="292608"/>
            <a:ext cx="779069" cy="310896"/>
          </a:xfrm>
          <a:prstGeom prst="roundRect">
            <a:avLst>
              <a:gd name="adj" fmla="val 47059"/>
            </a:avLst>
          </a:prstGeom>
          <a:solidFill>
            <a:srgbClr val="005EB8"/>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ITEM 7</a:t>
            </a:r>
            <a:endParaRPr lang="en-US" sz="900" dirty="0"/>
          </a:p>
        </p:txBody>
      </p:sp>
      <p:sp>
        <p:nvSpPr>
          <p:cNvPr id="5" name="Text 3"/>
          <p:cNvSpPr/>
          <p:nvPr/>
        </p:nvSpPr>
        <p:spPr>
          <a:xfrm>
            <a:off x="457200" y="932688"/>
            <a:ext cx="4023360" cy="1700784"/>
          </a:xfrm>
          <a:prstGeom prst="roundRect">
            <a:avLst>
              <a:gd name="adj" fmla="val 3763"/>
            </a:avLst>
          </a:prstGeom>
          <a:solidFill>
            <a:srgbClr val="F0F4F5"/>
          </a:solidFill>
          <a:ln/>
        </p:spPr>
        <p:txBody>
          <a:bodyPr wrap="square" lIns="114300" tIns="114300" rIns="114300" bIns="114300" rtlCol="0" anchor="t"/>
          <a:lstStyle/>
          <a:p>
            <a:pPr indent="0" marL="0">
              <a:spcAft>
                <a:spcPts val="400"/>
              </a:spcAft>
              <a:buNone/>
            </a:pPr>
            <a:r>
              <a:rPr lang="en-US" sz="1150" b="1" dirty="0">
                <a:solidFill>
                  <a:srgbClr val="005EB8"/>
                </a:solidFill>
                <a:latin typeface="Calibri" pitchFamily="34" charset="0"/>
                <a:ea typeface="Calibri" pitchFamily="34" charset="-122"/>
                <a:cs typeface="Calibri" pitchFamily="34" charset="-120"/>
              </a:rPr>
              <a:t>Setting</a:t>
            </a:r>
            <a:endParaRPr lang="en-US" sz="1150" dirty="0"/>
          </a:p>
          <a:p>
            <a:pPr indent="0" marL="0">
              <a:spcAft>
                <a:spcPts val="300"/>
              </a:spcAft>
              <a:buNone/>
            </a:pPr>
            <a:r>
              <a:rPr lang="en-US" sz="950" dirty="0">
                <a:solidFill>
                  <a:srgbClr val="231F20"/>
                </a:solidFill>
                <a:latin typeface="Calibri" pitchFamily="34" charset="0"/>
                <a:ea typeface="Calibri" pitchFamily="34" charset="-122"/>
                <a:cs typeface="Calibri" pitchFamily="34" charset="-120"/>
              </a:rPr>
              <a:t>Describe your ward as if briefing a new starter — beds, patients, typical day.</a:t>
            </a:r>
            <a:endParaRPr lang="en-US" sz="1150" dirty="0"/>
          </a:p>
          <a:p>
            <a:pPr indent="0" marL="0">
              <a:spcBef>
                <a:spcPts val="400"/>
              </a:spcBef>
              <a:buNone/>
            </a:pPr>
            <a:r>
              <a:rPr lang="en-US" sz="950" i="1" dirty="0">
                <a:solidFill>
                  <a:srgbClr val="768692"/>
                </a:solidFill>
                <a:latin typeface="Calibri" pitchFamily="34" charset="0"/>
                <a:ea typeface="Calibri" pitchFamily="34" charset="-122"/>
                <a:cs typeface="Calibri" pitchFamily="34" charset="-120"/>
              </a:rPr>
              <a:t>Enter here…</a:t>
            </a:r>
            <a:endParaRPr lang="en-US" sz="1150" dirty="0"/>
          </a:p>
        </p:txBody>
      </p:sp>
      <p:sp>
        <p:nvSpPr>
          <p:cNvPr id="6" name="Text 4"/>
          <p:cNvSpPr/>
          <p:nvPr/>
        </p:nvSpPr>
        <p:spPr>
          <a:xfrm>
            <a:off x="4663440" y="932688"/>
            <a:ext cx="4023360" cy="1700784"/>
          </a:xfrm>
          <a:prstGeom prst="roundRect">
            <a:avLst>
              <a:gd name="adj" fmla="val 3763"/>
            </a:avLst>
          </a:prstGeom>
          <a:solidFill>
            <a:srgbClr val="F0F4F5"/>
          </a:solidFill>
          <a:ln/>
        </p:spPr>
        <p:txBody>
          <a:bodyPr wrap="square" lIns="114300" tIns="114300" rIns="114300" bIns="114300" rtlCol="0" anchor="t"/>
          <a:lstStyle/>
          <a:p>
            <a:pPr indent="0" marL="0">
              <a:spcAft>
                <a:spcPts val="400"/>
              </a:spcAft>
              <a:buNone/>
            </a:pPr>
            <a:r>
              <a:rPr lang="en-US" sz="1150" b="1" dirty="0">
                <a:solidFill>
                  <a:srgbClr val="005EB8"/>
                </a:solidFill>
                <a:latin typeface="Calibri" pitchFamily="34" charset="0"/>
                <a:ea typeface="Calibri" pitchFamily="34" charset="-122"/>
                <a:cs typeface="Calibri" pitchFamily="34" charset="-120"/>
              </a:rPr>
              <a:t>Stakeholders</a:t>
            </a:r>
            <a:endParaRPr lang="en-US" sz="1150" dirty="0"/>
          </a:p>
          <a:p>
            <a:pPr indent="0" marL="0">
              <a:spcAft>
                <a:spcPts val="300"/>
              </a:spcAft>
              <a:buNone/>
            </a:pPr>
            <a:r>
              <a:rPr lang="en-US" sz="950" dirty="0">
                <a:solidFill>
                  <a:srgbClr val="231F20"/>
                </a:solidFill>
                <a:latin typeface="Calibri" pitchFamily="34" charset="0"/>
                <a:ea typeface="Calibri" pitchFamily="34" charset="-122"/>
                <a:cs typeface="Calibri" pitchFamily="34" charset="-120"/>
              </a:rPr>
              <a:t>Who needs to be on board — nurses, pharmacists, consultants, patients?</a:t>
            </a:r>
            <a:endParaRPr lang="en-US" sz="1150" dirty="0"/>
          </a:p>
          <a:p>
            <a:pPr indent="0" marL="0">
              <a:spcBef>
                <a:spcPts val="400"/>
              </a:spcBef>
              <a:buNone/>
            </a:pPr>
            <a:r>
              <a:rPr lang="en-US" sz="950" i="1" dirty="0">
                <a:solidFill>
                  <a:srgbClr val="768692"/>
                </a:solidFill>
                <a:latin typeface="Calibri" pitchFamily="34" charset="0"/>
                <a:ea typeface="Calibri" pitchFamily="34" charset="-122"/>
                <a:cs typeface="Calibri" pitchFamily="34" charset="-120"/>
              </a:rPr>
              <a:t>Enter here…</a:t>
            </a:r>
            <a:endParaRPr lang="en-US" sz="1150" dirty="0"/>
          </a:p>
        </p:txBody>
      </p:sp>
      <p:sp>
        <p:nvSpPr>
          <p:cNvPr id="7" name="Text 5"/>
          <p:cNvSpPr/>
          <p:nvPr/>
        </p:nvSpPr>
        <p:spPr>
          <a:xfrm>
            <a:off x="457200" y="2743200"/>
            <a:ext cx="4023360" cy="1700784"/>
          </a:xfrm>
          <a:prstGeom prst="roundRect">
            <a:avLst>
              <a:gd name="adj" fmla="val 3763"/>
            </a:avLst>
          </a:prstGeom>
          <a:solidFill>
            <a:srgbClr val="F0F4F5"/>
          </a:solidFill>
          <a:ln/>
        </p:spPr>
        <p:txBody>
          <a:bodyPr wrap="square" lIns="114300" tIns="114300" rIns="114300" bIns="114300" rtlCol="0" anchor="t"/>
          <a:lstStyle/>
          <a:p>
            <a:pPr indent="0" marL="0">
              <a:spcAft>
                <a:spcPts val="400"/>
              </a:spcAft>
              <a:buNone/>
            </a:pPr>
            <a:r>
              <a:rPr lang="en-US" sz="1150" b="1" dirty="0">
                <a:solidFill>
                  <a:srgbClr val="005EB8"/>
                </a:solidFill>
                <a:latin typeface="Calibri" pitchFamily="34" charset="0"/>
                <a:ea typeface="Calibri" pitchFamily="34" charset="-122"/>
                <a:cs typeface="Calibri" pitchFamily="34" charset="-120"/>
              </a:rPr>
              <a:t>Organisational Factors</a:t>
            </a:r>
            <a:endParaRPr lang="en-US" sz="1150" dirty="0"/>
          </a:p>
          <a:p>
            <a:pPr indent="0" marL="0">
              <a:spcAft>
                <a:spcPts val="300"/>
              </a:spcAft>
              <a:buNone/>
            </a:pPr>
            <a:r>
              <a:rPr lang="en-US" sz="950" dirty="0">
                <a:solidFill>
                  <a:srgbClr val="231F20"/>
                </a:solidFill>
                <a:latin typeface="Calibri" pitchFamily="34" charset="0"/>
                <a:ea typeface="Calibri" pitchFamily="34" charset="-122"/>
                <a:cs typeface="Calibri" pitchFamily="34" charset="-120"/>
              </a:rPr>
              <a:t>Pressures and barriers — staffing, winter, competing projects.</a:t>
            </a:r>
            <a:endParaRPr lang="en-US" sz="1150" dirty="0"/>
          </a:p>
          <a:p>
            <a:pPr indent="0" marL="0">
              <a:spcBef>
                <a:spcPts val="400"/>
              </a:spcBef>
              <a:buNone/>
            </a:pPr>
            <a:r>
              <a:rPr lang="en-US" sz="950" i="1" dirty="0">
                <a:solidFill>
                  <a:srgbClr val="768692"/>
                </a:solidFill>
                <a:latin typeface="Calibri" pitchFamily="34" charset="0"/>
                <a:ea typeface="Calibri" pitchFamily="34" charset="-122"/>
                <a:cs typeface="Calibri" pitchFamily="34" charset="-120"/>
              </a:rPr>
              <a:t>Enter here…</a:t>
            </a:r>
            <a:endParaRPr lang="en-US" sz="1150" dirty="0"/>
          </a:p>
        </p:txBody>
      </p:sp>
      <p:sp>
        <p:nvSpPr>
          <p:cNvPr id="8" name="Text 6"/>
          <p:cNvSpPr/>
          <p:nvPr/>
        </p:nvSpPr>
        <p:spPr>
          <a:xfrm>
            <a:off x="4663440" y="2743200"/>
            <a:ext cx="4023360" cy="1700784"/>
          </a:xfrm>
          <a:prstGeom prst="roundRect">
            <a:avLst>
              <a:gd name="adj" fmla="val 3763"/>
            </a:avLst>
          </a:prstGeom>
          <a:solidFill>
            <a:srgbClr val="F0F4F5"/>
          </a:solidFill>
          <a:ln/>
        </p:spPr>
        <p:txBody>
          <a:bodyPr wrap="square" lIns="114300" tIns="114300" rIns="114300" bIns="114300" rtlCol="0" anchor="t"/>
          <a:lstStyle/>
          <a:p>
            <a:pPr indent="0" marL="0">
              <a:spcAft>
                <a:spcPts val="400"/>
              </a:spcAft>
              <a:buNone/>
            </a:pPr>
            <a:r>
              <a:rPr lang="en-US" sz="1150" b="1" dirty="0">
                <a:solidFill>
                  <a:srgbClr val="005EB8"/>
                </a:solidFill>
                <a:latin typeface="Calibri" pitchFamily="34" charset="0"/>
                <a:ea typeface="Calibri" pitchFamily="34" charset="-122"/>
                <a:cs typeface="Calibri" pitchFamily="34" charset="-120"/>
              </a:rPr>
              <a:t>Timing</a:t>
            </a:r>
            <a:endParaRPr lang="en-US" sz="1150" dirty="0"/>
          </a:p>
          <a:p>
            <a:pPr indent="0" marL="0">
              <a:spcAft>
                <a:spcPts val="300"/>
              </a:spcAft>
              <a:buNone/>
            </a:pPr>
            <a:r>
              <a:rPr lang="en-US" sz="950" dirty="0">
                <a:solidFill>
                  <a:srgbClr val="231F20"/>
                </a:solidFill>
                <a:latin typeface="Calibri" pitchFamily="34" charset="0"/>
                <a:ea typeface="Calibri" pitchFamily="34" charset="-122"/>
                <a:cs typeface="Calibri" pitchFamily="34" charset="-120"/>
              </a:rPr>
              <a:t>When it ran — and anything unusual about that period (rota gaps, surges, strikes).</a:t>
            </a:r>
            <a:endParaRPr lang="en-US" sz="1150" dirty="0"/>
          </a:p>
          <a:p>
            <a:pPr indent="0" marL="0">
              <a:spcBef>
                <a:spcPts val="400"/>
              </a:spcBef>
              <a:buNone/>
            </a:pPr>
            <a:r>
              <a:rPr lang="en-US" sz="950" i="1" dirty="0">
                <a:solidFill>
                  <a:srgbClr val="768692"/>
                </a:solidFill>
                <a:latin typeface="Calibri" pitchFamily="34" charset="0"/>
                <a:ea typeface="Calibri" pitchFamily="34" charset="-122"/>
                <a:cs typeface="Calibri" pitchFamily="34" charset="-120"/>
              </a:rPr>
              <a:t>Enter here…</a:t>
            </a:r>
            <a:endParaRPr lang="en-US" sz="1150" dirty="0"/>
          </a:p>
        </p:txBody>
      </p:sp>
      <p:sp>
        <p:nvSpPr>
          <p:cNvPr id="10" name="Text 7"/>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05EB8"/>
                </a:solidFill>
                <a:latin typeface="Calibri" pitchFamily="34" charset="0"/>
                <a:ea typeface="Calibri" pitchFamily="34" charset="-122"/>
                <a:cs typeface="Calibri" pitchFamily="34" charset="-120"/>
              </a:rPr>
              <a:t>AIM Quality Improvement Team  |  Queen Elizabeth Hospital Birmingham</a:t>
            </a:r>
            <a:endParaRPr lang="en-US" sz="750" dirty="0"/>
          </a:p>
        </p:txBody>
      </p:sp>
      <p:sp>
        <p:nvSpPr>
          <p:cNvPr id="11" name="Text 8"/>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AA5AA"/>
                </a:solidFill>
                <a:latin typeface="Calibri" pitchFamily="34" charset="0"/>
                <a:ea typeface="Calibri" pitchFamily="34" charset="-122"/>
                <a:cs typeface="Calibri" pitchFamily="34" charset="-120"/>
              </a:rPr>
              <a:t>SQUIRE 2.0 Presentation Template</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05EB8"/>
                </a:solidFill>
                <a:latin typeface="Calibri" pitchFamily="34" charset="0"/>
                <a:ea typeface="Calibri" pitchFamily="34" charset="-122"/>
                <a:cs typeface="Calibri" pitchFamily="34" charset="-120"/>
              </a:rPr>
              <a:t>DESCRIBE IN ENOUGH DETAIL THAT OTHERS COULD REPRODUCE IT</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231F20"/>
                </a:solidFill>
                <a:latin typeface="Calibri" pitchFamily="34" charset="0"/>
                <a:ea typeface="Calibri" pitchFamily="34" charset="-122"/>
                <a:cs typeface="Calibri" pitchFamily="34" charset="-120"/>
              </a:rPr>
              <a:t>The Intervention(s)</a:t>
            </a:r>
            <a:endParaRPr lang="en-US" sz="2200" dirty="0"/>
          </a:p>
        </p:txBody>
      </p:sp>
      <p:sp>
        <p:nvSpPr>
          <p:cNvPr id="4" name="Text 2"/>
          <p:cNvSpPr/>
          <p:nvPr/>
        </p:nvSpPr>
        <p:spPr>
          <a:xfrm>
            <a:off x="7907731" y="292608"/>
            <a:ext cx="779069" cy="310896"/>
          </a:xfrm>
          <a:prstGeom prst="roundRect">
            <a:avLst>
              <a:gd name="adj" fmla="val 47059"/>
            </a:avLst>
          </a:prstGeom>
          <a:solidFill>
            <a:srgbClr val="005EB8"/>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ITEM 8</a:t>
            </a:r>
            <a:endParaRPr lang="en-US" sz="900" dirty="0"/>
          </a:p>
        </p:txBody>
      </p:sp>
      <p:sp>
        <p:nvSpPr>
          <p:cNvPr id="5" name="Text 3"/>
          <p:cNvSpPr/>
          <p:nvPr/>
        </p:nvSpPr>
        <p:spPr>
          <a:xfrm>
            <a:off x="457200" y="932688"/>
            <a:ext cx="5120640" cy="3520440"/>
          </a:xfrm>
          <a:prstGeom prst="roundRect">
            <a:avLst>
              <a:gd name="adj" fmla="val 1818"/>
            </a:avLst>
          </a:prstGeom>
          <a:solidFill>
            <a:srgbClr val="F0F4F5"/>
          </a:solidFill>
          <a:ln/>
        </p:spPr>
        <p:txBody>
          <a:bodyPr wrap="square" lIns="114300" tIns="114300" rIns="114300" bIns="114300" rtlCol="0" anchor="t"/>
          <a:lstStyle/>
          <a:p>
            <a:pPr indent="0" marL="0">
              <a:spcAft>
                <a:spcPts val="400"/>
              </a:spcAft>
              <a:buNone/>
            </a:pPr>
            <a:r>
              <a:rPr lang="en-US" sz="1150" b="1" dirty="0">
                <a:solidFill>
                  <a:srgbClr val="005EB8"/>
                </a:solidFill>
                <a:latin typeface="Calibri" pitchFamily="34" charset="0"/>
                <a:ea typeface="Calibri" pitchFamily="34" charset="-122"/>
                <a:cs typeface="Calibri" pitchFamily="34" charset="-120"/>
              </a:rPr>
              <a:t>What did you introduce? — 8a</a:t>
            </a:r>
            <a:endParaRPr lang="en-US" sz="1150" dirty="0"/>
          </a:p>
          <a:p>
            <a:pPr indent="0" marL="0">
              <a:spcAft>
                <a:spcPts val="300"/>
              </a:spcAft>
              <a:buNone/>
            </a:pPr>
            <a:r>
              <a:rPr lang="en-US" sz="950" dirty="0">
                <a:solidFill>
                  <a:srgbClr val="231F20"/>
                </a:solidFill>
                <a:latin typeface="Calibri" pitchFamily="34" charset="0"/>
                <a:ea typeface="Calibri" pitchFamily="34" charset="-122"/>
                <a:cs typeface="Calibri" pitchFamily="34" charset="-120"/>
              </a:rPr>
              <a:t>What exactly did you change? Poster, checklist, proforma prompt, teaching, order set — list each part.</a:t>
            </a:r>
            <a:endParaRPr lang="en-US" sz="1150" dirty="0"/>
          </a:p>
          <a:p>
            <a:pPr marL="342900" indent="-342900">
              <a:spcAft>
                <a:spcPts val="300"/>
              </a:spcAft>
              <a:buSzPct val="100000"/>
              <a:buChar char="–"/>
            </a:pPr>
            <a:r>
              <a:rPr lang="en-US" sz="950" dirty="0">
                <a:solidFill>
                  <a:srgbClr val="231F20"/>
                </a:solidFill>
                <a:latin typeface="Calibri" pitchFamily="34" charset="0"/>
                <a:ea typeface="Calibri" pitchFamily="34" charset="-122"/>
                <a:cs typeface="Calibri" pitchFamily="34" charset="-120"/>
              </a:rPr>
              <a:t>[Component 1]  Enter…</a:t>
            </a:r>
            <a:endParaRPr lang="en-US" sz="1150" dirty="0"/>
          </a:p>
          <a:p>
            <a:pPr marL="342900" indent="-342900">
              <a:spcAft>
                <a:spcPts val="300"/>
              </a:spcAft>
              <a:buSzPct val="100000"/>
              <a:buChar char="–"/>
            </a:pPr>
            <a:r>
              <a:rPr lang="en-US" sz="950" dirty="0">
                <a:solidFill>
                  <a:srgbClr val="231F20"/>
                </a:solidFill>
                <a:latin typeface="Calibri" pitchFamily="34" charset="0"/>
                <a:ea typeface="Calibri" pitchFamily="34" charset="-122"/>
                <a:cs typeface="Calibri" pitchFamily="34" charset="-120"/>
              </a:rPr>
              <a:t>[Component 2]  Enter…</a:t>
            </a:r>
            <a:endParaRPr lang="en-US" sz="1150" dirty="0"/>
          </a:p>
          <a:p>
            <a:pPr marL="342900" indent="-342900">
              <a:spcAft>
                <a:spcPts val="300"/>
              </a:spcAft>
              <a:buSzPct val="100000"/>
              <a:buChar char="–"/>
            </a:pPr>
            <a:r>
              <a:rPr lang="en-US" sz="950" dirty="0">
                <a:solidFill>
                  <a:srgbClr val="231F20"/>
                </a:solidFill>
                <a:latin typeface="Calibri" pitchFamily="34" charset="0"/>
                <a:ea typeface="Calibri" pitchFamily="34" charset="-122"/>
                <a:cs typeface="Calibri" pitchFamily="34" charset="-120"/>
              </a:rPr>
              <a:t>[Component 3]  Enter…</a:t>
            </a:r>
            <a:endParaRPr lang="en-US" sz="1150" dirty="0"/>
          </a:p>
          <a:p>
            <a:pPr indent="0" marL="0">
              <a:spcBef>
                <a:spcPts val="500"/>
              </a:spcBef>
              <a:buNone/>
            </a:pPr>
            <a:r>
              <a:rPr lang="en-US" sz="850" i="1" dirty="0">
                <a:solidFill>
                  <a:srgbClr val="425563"/>
                </a:solidFill>
                <a:latin typeface="Calibri" pitchFamily="34" charset="0"/>
                <a:ea typeface="Calibri" pitchFamily="34" charset="-122"/>
                <a:cs typeface="Calibri" pitchFamily="34" charset="-120"/>
              </a:rPr>
              <a:t>Test: could a colleague on another ward run this from your description alone?</a:t>
            </a:r>
            <a:endParaRPr lang="en-US" sz="1150" dirty="0"/>
          </a:p>
        </p:txBody>
      </p:sp>
      <p:sp>
        <p:nvSpPr>
          <p:cNvPr id="6" name="Text 4"/>
          <p:cNvSpPr/>
          <p:nvPr/>
        </p:nvSpPr>
        <p:spPr>
          <a:xfrm>
            <a:off x="5760720" y="932688"/>
            <a:ext cx="2926080" cy="3520440"/>
          </a:xfrm>
          <a:prstGeom prst="roundRect">
            <a:avLst>
              <a:gd name="adj" fmla="val 2188"/>
            </a:avLst>
          </a:prstGeom>
          <a:solidFill>
            <a:srgbClr val="F0F4F5"/>
          </a:solidFill>
          <a:ln/>
        </p:spPr>
        <p:txBody>
          <a:bodyPr wrap="square" lIns="114300" tIns="114300" rIns="114300" bIns="114300" rtlCol="0" anchor="t"/>
          <a:lstStyle/>
          <a:p>
            <a:pPr indent="0" marL="0">
              <a:spcAft>
                <a:spcPts val="400"/>
              </a:spcAft>
              <a:buNone/>
            </a:pPr>
            <a:r>
              <a:rPr lang="en-US" sz="1150" b="1" dirty="0">
                <a:solidFill>
                  <a:srgbClr val="005EB8"/>
                </a:solidFill>
                <a:latin typeface="Calibri" pitchFamily="34" charset="0"/>
                <a:ea typeface="Calibri" pitchFamily="34" charset="-122"/>
                <a:cs typeface="Calibri" pitchFamily="34" charset="-120"/>
              </a:rPr>
              <a:t>The Team — 8b</a:t>
            </a:r>
            <a:endParaRPr lang="en-US" sz="1150" dirty="0"/>
          </a:p>
          <a:p>
            <a:pPr indent="0" marL="0">
              <a:spcAft>
                <a:spcPts val="300"/>
              </a:spcAft>
              <a:buNone/>
            </a:pPr>
            <a:r>
              <a:rPr lang="en-US" sz="950" dirty="0">
                <a:solidFill>
                  <a:srgbClr val="231F20"/>
                </a:solidFill>
                <a:latin typeface="Calibri" pitchFamily="34" charset="0"/>
                <a:ea typeface="Calibri" pitchFamily="34" charset="-122"/>
                <a:cs typeface="Calibri" pitchFamily="34" charset="-120"/>
              </a:rPr>
              <a:t>Who delivered it? Roles, disciplines, and any training provided.</a:t>
            </a:r>
            <a:endParaRPr lang="en-US" sz="1150" dirty="0"/>
          </a:p>
          <a:p>
            <a:pPr indent="0" marL="0">
              <a:spcBef>
                <a:spcPts val="400"/>
              </a:spcBef>
              <a:buNone/>
            </a:pPr>
            <a:r>
              <a:rPr lang="en-US" sz="950" i="1" dirty="0">
                <a:solidFill>
                  <a:srgbClr val="768692"/>
                </a:solidFill>
                <a:latin typeface="Calibri" pitchFamily="34" charset="0"/>
                <a:ea typeface="Calibri" pitchFamily="34" charset="-122"/>
                <a:cs typeface="Calibri" pitchFamily="34" charset="-120"/>
              </a:rPr>
              <a:t>Enter here…</a:t>
            </a:r>
            <a:endParaRPr lang="en-US" sz="1150" dirty="0"/>
          </a:p>
        </p:txBody>
      </p:sp>
      <p:sp>
        <p:nvSpPr>
          <p:cNvPr id="8" name="Text 5"/>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05EB8"/>
                </a:solidFill>
                <a:latin typeface="Calibri" pitchFamily="34" charset="0"/>
                <a:ea typeface="Calibri" pitchFamily="34" charset="-122"/>
                <a:cs typeface="Calibri" pitchFamily="34" charset="-120"/>
              </a:rPr>
              <a:t>AIM Quality Improvement Team  |  Queen Elizabeth Hospital Birmingham</a:t>
            </a:r>
            <a:endParaRPr lang="en-US" sz="750" dirty="0"/>
          </a:p>
        </p:txBody>
      </p:sp>
      <p:sp>
        <p:nvSpPr>
          <p:cNvPr id="9" name="Text 6"/>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AA5AA"/>
                </a:solidFill>
                <a:latin typeface="Calibri" pitchFamily="34" charset="0"/>
                <a:ea typeface="Calibri" pitchFamily="34" charset="-122"/>
                <a:cs typeface="Calibri" pitchFamily="34" charset="-120"/>
              </a:rPr>
              <a:t>SQUIRE 2.0 Presentation Template</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274320"/>
            <a:ext cx="6766560" cy="475488"/>
          </a:xfrm>
          <a:prstGeom prst="rect">
            <a:avLst/>
          </a:prstGeom>
          <a:noFill/>
          <a:ln/>
        </p:spPr>
        <p:txBody>
          <a:bodyPr wrap="square" lIns="0" tIns="0" rIns="0" bIns="0" rtlCol="0" anchor="ctr"/>
          <a:lstStyle/>
          <a:p>
            <a:pPr indent="0" marL="0">
              <a:buNone/>
            </a:pPr>
            <a:r>
              <a:rPr lang="en-US" sz="2200" b="1" dirty="0">
                <a:solidFill>
                  <a:srgbClr val="231F20"/>
                </a:solidFill>
                <a:latin typeface="Calibri" pitchFamily="34" charset="0"/>
                <a:ea typeface="Calibri" pitchFamily="34" charset="-122"/>
                <a:cs typeface="Calibri" pitchFamily="34" charset="-120"/>
              </a:rPr>
              <a:t>Study of the Intervention</a:t>
            </a:r>
            <a:endParaRPr lang="en-US" sz="2200" dirty="0"/>
          </a:p>
        </p:txBody>
      </p:sp>
      <p:sp>
        <p:nvSpPr>
          <p:cNvPr id="3" name="Text 1"/>
          <p:cNvSpPr/>
          <p:nvPr/>
        </p:nvSpPr>
        <p:spPr>
          <a:xfrm>
            <a:off x="7907731" y="292608"/>
            <a:ext cx="779069" cy="310896"/>
          </a:xfrm>
          <a:prstGeom prst="roundRect">
            <a:avLst>
              <a:gd name="adj" fmla="val 47059"/>
            </a:avLst>
          </a:prstGeom>
          <a:solidFill>
            <a:srgbClr val="005EB8"/>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ITEM 9</a:t>
            </a:r>
            <a:endParaRPr lang="en-US" sz="900" dirty="0"/>
          </a:p>
        </p:txBody>
      </p:sp>
      <p:sp>
        <p:nvSpPr>
          <p:cNvPr id="4" name="Text 2"/>
          <p:cNvSpPr/>
          <p:nvPr/>
        </p:nvSpPr>
        <p:spPr>
          <a:xfrm>
            <a:off x="457200" y="932688"/>
            <a:ext cx="4023360" cy="3200400"/>
          </a:xfrm>
          <a:prstGeom prst="roundRect">
            <a:avLst>
              <a:gd name="adj" fmla="val 2000"/>
            </a:avLst>
          </a:prstGeom>
          <a:solidFill>
            <a:srgbClr val="F0F4F5"/>
          </a:solidFill>
          <a:ln/>
        </p:spPr>
        <p:txBody>
          <a:bodyPr wrap="square" lIns="114300" tIns="114300" rIns="114300" bIns="114300" rtlCol="0" anchor="t"/>
          <a:lstStyle/>
          <a:p>
            <a:pPr indent="0" marL="0">
              <a:spcAft>
                <a:spcPts val="400"/>
              </a:spcAft>
              <a:buNone/>
            </a:pPr>
            <a:r>
              <a:rPr lang="en-US" sz="1150" b="1" dirty="0">
                <a:solidFill>
                  <a:srgbClr val="005EB8"/>
                </a:solidFill>
                <a:latin typeface="Calibri" pitchFamily="34" charset="0"/>
                <a:ea typeface="Calibri" pitchFamily="34" charset="-122"/>
                <a:cs typeface="Calibri" pitchFamily="34" charset="-120"/>
              </a:rPr>
              <a:t>9a — Assessing Impact</a:t>
            </a:r>
            <a:endParaRPr lang="en-US" sz="1150" dirty="0"/>
          </a:p>
          <a:p>
            <a:pPr indent="0" marL="0">
              <a:spcAft>
                <a:spcPts val="300"/>
              </a:spcAft>
              <a:buNone/>
            </a:pPr>
            <a:r>
              <a:rPr lang="en-US" sz="950" dirty="0">
                <a:solidFill>
                  <a:srgbClr val="231F20"/>
                </a:solidFill>
                <a:latin typeface="Calibri" pitchFamily="34" charset="0"/>
                <a:ea typeface="Calibri" pitchFamily="34" charset="-122"/>
                <a:cs typeface="Calibri" pitchFamily="34" charset="-120"/>
              </a:rPr>
              <a:t>Which approach did you choose?</a:t>
            </a:r>
            <a:endParaRPr lang="en-US" sz="1150" dirty="0"/>
          </a:p>
          <a:p>
            <a:pPr marL="342900" indent="-342900">
              <a:spcAft>
                <a:spcPts val="300"/>
              </a:spcAft>
              <a:buSzPct val="100000"/>
              <a:buChar char="–"/>
            </a:pPr>
            <a:r>
              <a:rPr lang="en-US" sz="950" dirty="0">
                <a:solidFill>
                  <a:srgbClr val="231F20"/>
                </a:solidFill>
                <a:latin typeface="Calibri" pitchFamily="34" charset="0"/>
                <a:ea typeface="Calibri" pitchFamily="34" charset="-122"/>
                <a:cs typeface="Calibri" pitchFamily="34" charset="-120"/>
              </a:rPr>
              <a:t>Before-and-after comparison — fine for a first QIP</a:t>
            </a:r>
            <a:endParaRPr lang="en-US" sz="1150" dirty="0"/>
          </a:p>
          <a:p>
            <a:pPr marL="342900" indent="-342900">
              <a:spcAft>
                <a:spcPts val="300"/>
              </a:spcAft>
              <a:buSzPct val="100000"/>
              <a:buChar char="–"/>
            </a:pPr>
            <a:r>
              <a:rPr lang="en-US" sz="950" dirty="0">
                <a:solidFill>
                  <a:srgbClr val="231F20"/>
                </a:solidFill>
                <a:latin typeface="Calibri" pitchFamily="34" charset="0"/>
                <a:ea typeface="Calibri" pitchFamily="34" charset="-122"/>
                <a:cs typeface="Calibri" pitchFamily="34" charset="-120"/>
              </a:rPr>
              <a:t>Repeated measurement across PDSA cycles</a:t>
            </a:r>
            <a:endParaRPr lang="en-US" sz="1150" dirty="0"/>
          </a:p>
          <a:p>
            <a:pPr marL="342900" indent="-342900">
              <a:spcAft>
                <a:spcPts val="300"/>
              </a:spcAft>
              <a:buSzPct val="100000"/>
              <a:buChar char="–"/>
            </a:pPr>
            <a:r>
              <a:rPr lang="en-US" sz="950" dirty="0">
                <a:solidFill>
                  <a:srgbClr val="231F20"/>
                </a:solidFill>
                <a:latin typeface="Calibri" pitchFamily="34" charset="0"/>
                <a:ea typeface="Calibri" pitchFamily="34" charset="-122"/>
                <a:cs typeface="Calibri" pitchFamily="34" charset="-120"/>
              </a:rPr>
              <a:t>Anything fancier — only with senior support</a:t>
            </a:r>
            <a:endParaRPr lang="en-US" sz="1150" dirty="0"/>
          </a:p>
          <a:p>
            <a:pPr indent="0" marL="0">
              <a:spcBef>
                <a:spcPts val="400"/>
              </a:spcBef>
              <a:buNone/>
            </a:pPr>
            <a:r>
              <a:rPr lang="en-US" sz="950" i="1" dirty="0">
                <a:solidFill>
                  <a:srgbClr val="768692"/>
                </a:solidFill>
                <a:latin typeface="Calibri" pitchFamily="34" charset="0"/>
                <a:ea typeface="Calibri" pitchFamily="34" charset="-122"/>
                <a:cs typeface="Calibri" pitchFamily="34" charset="-120"/>
              </a:rPr>
              <a:t>Enter here…</a:t>
            </a:r>
            <a:endParaRPr lang="en-US" sz="1150" dirty="0"/>
          </a:p>
        </p:txBody>
      </p:sp>
      <p:sp>
        <p:nvSpPr>
          <p:cNvPr id="5" name="Text 3"/>
          <p:cNvSpPr/>
          <p:nvPr/>
        </p:nvSpPr>
        <p:spPr>
          <a:xfrm>
            <a:off x="4663440" y="932688"/>
            <a:ext cx="4023360" cy="3200400"/>
          </a:xfrm>
          <a:prstGeom prst="roundRect">
            <a:avLst>
              <a:gd name="adj" fmla="val 2000"/>
            </a:avLst>
          </a:prstGeom>
          <a:solidFill>
            <a:srgbClr val="F0F4F5"/>
          </a:solidFill>
          <a:ln/>
        </p:spPr>
        <p:txBody>
          <a:bodyPr wrap="square" lIns="114300" tIns="114300" rIns="114300" bIns="114300" rtlCol="0" anchor="t"/>
          <a:lstStyle/>
          <a:p>
            <a:pPr indent="0" marL="0">
              <a:spcAft>
                <a:spcPts val="400"/>
              </a:spcAft>
              <a:buNone/>
            </a:pPr>
            <a:r>
              <a:rPr lang="en-US" sz="1150" b="1" dirty="0">
                <a:solidFill>
                  <a:srgbClr val="005EB8"/>
                </a:solidFill>
                <a:latin typeface="Calibri" pitchFamily="34" charset="0"/>
                <a:ea typeface="Calibri" pitchFamily="34" charset="-122"/>
                <a:cs typeface="Calibri" pitchFamily="34" charset="-120"/>
              </a:rPr>
              <a:t>9b — Was It Your Change?</a:t>
            </a:r>
            <a:endParaRPr lang="en-US" sz="1150" dirty="0"/>
          </a:p>
          <a:p>
            <a:pPr indent="0" marL="0">
              <a:spcAft>
                <a:spcPts val="300"/>
              </a:spcAft>
              <a:buNone/>
            </a:pPr>
            <a:r>
              <a:rPr lang="en-US" sz="950" dirty="0">
                <a:solidFill>
                  <a:srgbClr val="231F20"/>
                </a:solidFill>
                <a:latin typeface="Calibri" pitchFamily="34" charset="0"/>
                <a:ea typeface="Calibri" pitchFamily="34" charset="-122"/>
                <a:cs typeface="Calibri" pitchFamily="34" charset="-120"/>
              </a:rPr>
              <a:t>How do you know the improvement came from your change, not something else?</a:t>
            </a:r>
            <a:endParaRPr lang="en-US" sz="1150" dirty="0"/>
          </a:p>
          <a:p>
            <a:pPr marL="342900" indent="-342900">
              <a:spcAft>
                <a:spcPts val="300"/>
              </a:spcAft>
              <a:buSzPct val="100000"/>
              <a:buChar char="–"/>
            </a:pPr>
            <a:r>
              <a:rPr lang="en-US" sz="950" dirty="0">
                <a:solidFill>
                  <a:srgbClr val="231F20"/>
                </a:solidFill>
                <a:latin typeface="Calibri" pitchFamily="34" charset="0"/>
                <a:ea typeface="Calibri" pitchFamily="34" charset="-122"/>
                <a:cs typeface="Calibri" pitchFamily="34" charset="-120"/>
              </a:rPr>
              <a:t>Did it begin when your change did?</a:t>
            </a:r>
            <a:endParaRPr lang="en-US" sz="1150" dirty="0"/>
          </a:p>
          <a:p>
            <a:pPr marL="342900" indent="-342900">
              <a:spcAft>
                <a:spcPts val="300"/>
              </a:spcAft>
              <a:buSzPct val="100000"/>
              <a:buChar char="–"/>
            </a:pPr>
            <a:r>
              <a:rPr lang="en-US" sz="950" dirty="0">
                <a:solidFill>
                  <a:srgbClr val="231F20"/>
                </a:solidFill>
                <a:latin typeface="Calibri" pitchFamily="34" charset="0"/>
                <a:ea typeface="Calibri" pitchFamily="34" charset="-122"/>
                <a:cs typeface="Calibri" pitchFamily="34" charset="-120"/>
              </a:rPr>
              <a:t>What else changed at the same time?</a:t>
            </a:r>
            <a:endParaRPr lang="en-US" sz="1150" dirty="0"/>
          </a:p>
          <a:p>
            <a:pPr marL="342900" indent="-342900">
              <a:spcAft>
                <a:spcPts val="300"/>
              </a:spcAft>
              <a:buSzPct val="100000"/>
              <a:buChar char="–"/>
            </a:pPr>
            <a:r>
              <a:rPr lang="en-US" sz="950" dirty="0">
                <a:solidFill>
                  <a:srgbClr val="231F20"/>
                </a:solidFill>
                <a:latin typeface="Calibri" pitchFamily="34" charset="0"/>
                <a:ea typeface="Calibri" pitchFamily="34" charset="-122"/>
                <a:cs typeface="Calibri" pitchFamily="34" charset="-120"/>
              </a:rPr>
              <a:t>‘We can’t be certain, but the timing fits’ is a valid, honest answer</a:t>
            </a:r>
            <a:endParaRPr lang="en-US" sz="1150" dirty="0"/>
          </a:p>
          <a:p>
            <a:pPr indent="0" marL="0">
              <a:spcBef>
                <a:spcPts val="400"/>
              </a:spcBef>
              <a:buNone/>
            </a:pPr>
            <a:r>
              <a:rPr lang="en-US" sz="950" i="1" dirty="0">
                <a:solidFill>
                  <a:srgbClr val="768692"/>
                </a:solidFill>
                <a:latin typeface="Calibri" pitchFamily="34" charset="0"/>
                <a:ea typeface="Calibri" pitchFamily="34" charset="-122"/>
                <a:cs typeface="Calibri" pitchFamily="34" charset="-120"/>
              </a:rPr>
              <a:t>Enter here…</a:t>
            </a:r>
            <a:endParaRPr lang="en-US" sz="1150" dirty="0"/>
          </a:p>
        </p:txBody>
      </p:sp>
      <p:sp>
        <p:nvSpPr>
          <p:cNvPr id="6" name="Text 4"/>
          <p:cNvSpPr/>
          <p:nvPr/>
        </p:nvSpPr>
        <p:spPr>
          <a:xfrm>
            <a:off x="457200" y="4315968"/>
            <a:ext cx="8229600" cy="256032"/>
          </a:xfrm>
          <a:prstGeom prst="rect">
            <a:avLst/>
          </a:prstGeom>
          <a:noFill/>
          <a:ln/>
        </p:spPr>
        <p:txBody>
          <a:bodyPr wrap="square" lIns="0" tIns="0" rIns="0" bIns="0" rtlCol="0" anchor="ctr"/>
          <a:lstStyle/>
          <a:p>
            <a:pPr indent="0" marL="0">
              <a:buNone/>
            </a:pPr>
            <a:r>
              <a:rPr lang="en-US" sz="850" i="1" dirty="0">
                <a:solidFill>
                  <a:srgbClr val="425563"/>
                </a:solidFill>
                <a:latin typeface="Calibri" pitchFamily="34" charset="0"/>
                <a:ea typeface="Calibri" pitchFamily="34" charset="-122"/>
                <a:cs typeface="Calibri" pitchFamily="34" charset="-120"/>
              </a:rPr>
              <a:t>Measuring before AND after your change is what turns an audit into a QIP.</a:t>
            </a:r>
            <a:endParaRPr lang="en-US" sz="850" dirty="0"/>
          </a:p>
        </p:txBody>
      </p:sp>
      <p:sp>
        <p:nvSpPr>
          <p:cNvPr id="8" name="Text 5"/>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05EB8"/>
                </a:solidFill>
                <a:latin typeface="Calibri" pitchFamily="34" charset="0"/>
                <a:ea typeface="Calibri" pitchFamily="34" charset="-122"/>
                <a:cs typeface="Calibri" pitchFamily="34" charset="-120"/>
              </a:rPr>
              <a:t>AIM Quality Improvement Team  |  Queen Elizabeth Hospital Birmingham</a:t>
            </a:r>
            <a:endParaRPr lang="en-US" sz="750" dirty="0"/>
          </a:p>
        </p:txBody>
      </p:sp>
      <p:sp>
        <p:nvSpPr>
          <p:cNvPr id="9" name="Text 6"/>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AA5AA"/>
                </a:solidFill>
                <a:latin typeface="Calibri" pitchFamily="34" charset="0"/>
                <a:ea typeface="Calibri" pitchFamily="34" charset="-122"/>
                <a:cs typeface="Calibri" pitchFamily="34" charset="-120"/>
              </a:rPr>
              <a:t>SQUIRE 2.0 Presentation Template</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05EB8"/>
                </a:solidFill>
                <a:latin typeface="Calibri" pitchFamily="34" charset="0"/>
                <a:ea typeface="Calibri" pitchFamily="34" charset="-122"/>
                <a:cs typeface="Calibri" pitchFamily="34" charset="-120"/>
              </a:rPr>
              <a:t>ONE OF EACH TYPE IS ENOUGH — SMALL SAMPLES ARE FINE (10–20 CASES PER TIME POINT)</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231F20"/>
                </a:solidFill>
                <a:latin typeface="Calibri" pitchFamily="34" charset="0"/>
                <a:ea typeface="Calibri" pitchFamily="34" charset="-122"/>
                <a:cs typeface="Calibri" pitchFamily="34" charset="-120"/>
              </a:rPr>
              <a:t>Measures</a:t>
            </a:r>
            <a:endParaRPr lang="en-US" sz="2200" dirty="0"/>
          </a:p>
        </p:txBody>
      </p:sp>
      <p:sp>
        <p:nvSpPr>
          <p:cNvPr id="4" name="Text 2"/>
          <p:cNvSpPr/>
          <p:nvPr/>
        </p:nvSpPr>
        <p:spPr>
          <a:xfrm>
            <a:off x="7832750" y="292608"/>
            <a:ext cx="854050" cy="310896"/>
          </a:xfrm>
          <a:prstGeom prst="roundRect">
            <a:avLst>
              <a:gd name="adj" fmla="val 47059"/>
            </a:avLst>
          </a:prstGeom>
          <a:solidFill>
            <a:srgbClr val="005EB8"/>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ITEM 10</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932688"/>
          <a:ext cx="5486400" cy="914400"/>
        </p:xfrm>
        <a:graphic>
          <a:graphicData uri="http://schemas.openxmlformats.org/drawingml/2006/table">
            <a:tbl>
              <a:tblPr/>
              <a:tblGrid>
                <a:gridCol w="1234440"/>
                <a:gridCol w="777240"/>
                <a:gridCol w="1463040"/>
                <a:gridCol w="1097280"/>
                <a:gridCol w="914400"/>
              </a:tblGrid>
              <a:tr h="347472">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Measure</a:t>
                      </a:r>
                      <a:endParaRPr lang="en-US" sz="850" dirty="0">
                        <a:latin typeface="Calibri" charset="0"/>
                        <a:ea typeface="Calibri" charset="0"/>
                        <a:cs typeface="Calibri" charset="0"/>
                      </a:endParaRPr>
                    </a:p>
                  </a:txBody>
                  <a:tcPr marL="50800" marR="50800" marT="50800" marB="50800" anchor="ctr">
                    <a:lnL w="9525" cap="flat" cmpd="sng" algn="ctr">
                      <a:solidFill>
                        <a:srgbClr val="D8DEE1"/>
                      </a:solidFill>
                      <a:prstDash val="solid"/>
                      <a:round/>
                      <a:headEnd type="none" w="med" len="med"/>
                      <a:tailEnd type="none" w="med" len="med"/>
                    </a:lnL>
                    <a:lnR w="9525" cap="flat" cmpd="sng" algn="ctr">
                      <a:solidFill>
                        <a:srgbClr val="D8DEE1"/>
                      </a:solidFill>
                      <a:prstDash val="solid"/>
                      <a:round/>
                      <a:headEnd type="none" w="med" len="med"/>
                      <a:tailEnd type="none" w="med" len="med"/>
                    </a:lnR>
                    <a:lnT w="9525" cap="flat" cmpd="sng" algn="ctr">
                      <a:solidFill>
                        <a:srgbClr val="D8DEE1"/>
                      </a:solidFill>
                      <a:prstDash val="solid"/>
                      <a:round/>
                      <a:headEnd type="none" w="med" len="med"/>
                      <a:tailEnd type="none" w="med" len="med"/>
                    </a:lnT>
                    <a:lnB w="9525" cap="flat" cmpd="sng" algn="ctr">
                      <a:solidFill>
                        <a:srgbClr val="D8DEE1"/>
                      </a:solidFill>
                      <a:prstDash val="solid"/>
                      <a:round/>
                      <a:headEnd type="none" w="med" len="med"/>
                      <a:tailEnd type="none" w="med" len="med"/>
                    </a:lnB>
                    <a:solidFill>
                      <a:srgbClr val="005EB8"/>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Type</a:t>
                      </a:r>
                      <a:endParaRPr lang="en-US" sz="850" dirty="0">
                        <a:latin typeface="Calibri" charset="0"/>
                        <a:ea typeface="Calibri" charset="0"/>
                        <a:cs typeface="Calibri" charset="0"/>
                      </a:endParaRPr>
                    </a:p>
                  </a:txBody>
                  <a:tcPr marL="50800" marR="50800" marT="50800" marB="50800" anchor="ctr">
                    <a:lnL w="9525" cap="flat" cmpd="sng" algn="ctr">
                      <a:solidFill>
                        <a:srgbClr val="D8DEE1"/>
                      </a:solidFill>
                      <a:prstDash val="solid"/>
                      <a:round/>
                      <a:headEnd type="none" w="med" len="med"/>
                      <a:tailEnd type="none" w="med" len="med"/>
                    </a:lnL>
                    <a:lnR w="9525" cap="flat" cmpd="sng" algn="ctr">
                      <a:solidFill>
                        <a:srgbClr val="D8DEE1"/>
                      </a:solidFill>
                      <a:prstDash val="solid"/>
                      <a:round/>
                      <a:headEnd type="none" w="med" len="med"/>
                      <a:tailEnd type="none" w="med" len="med"/>
                    </a:lnR>
                    <a:lnT w="9525" cap="flat" cmpd="sng" algn="ctr">
                      <a:solidFill>
                        <a:srgbClr val="D8DEE1"/>
                      </a:solidFill>
                      <a:prstDash val="solid"/>
                      <a:round/>
                      <a:headEnd type="none" w="med" len="med"/>
                      <a:tailEnd type="none" w="med" len="med"/>
                    </a:lnT>
                    <a:lnB w="9525" cap="flat" cmpd="sng" algn="ctr">
                      <a:solidFill>
                        <a:srgbClr val="D8DEE1"/>
                      </a:solidFill>
                      <a:prstDash val="solid"/>
                      <a:round/>
                      <a:headEnd type="none" w="med" len="med"/>
                      <a:tailEnd type="none" w="med" len="med"/>
                    </a:lnB>
                    <a:solidFill>
                      <a:srgbClr val="005EB8"/>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Operational definition</a:t>
                      </a:r>
                      <a:endParaRPr lang="en-US" sz="850" dirty="0">
                        <a:latin typeface="Calibri" charset="0"/>
                        <a:ea typeface="Calibri" charset="0"/>
                        <a:cs typeface="Calibri" charset="0"/>
                      </a:endParaRPr>
                    </a:p>
                  </a:txBody>
                  <a:tcPr marL="50800" marR="50800" marT="50800" marB="50800" anchor="ctr">
                    <a:lnL w="9525" cap="flat" cmpd="sng" algn="ctr">
                      <a:solidFill>
                        <a:srgbClr val="D8DEE1"/>
                      </a:solidFill>
                      <a:prstDash val="solid"/>
                      <a:round/>
                      <a:headEnd type="none" w="med" len="med"/>
                      <a:tailEnd type="none" w="med" len="med"/>
                    </a:lnL>
                    <a:lnR w="9525" cap="flat" cmpd="sng" algn="ctr">
                      <a:solidFill>
                        <a:srgbClr val="D8DEE1"/>
                      </a:solidFill>
                      <a:prstDash val="solid"/>
                      <a:round/>
                      <a:headEnd type="none" w="med" len="med"/>
                      <a:tailEnd type="none" w="med" len="med"/>
                    </a:lnR>
                    <a:lnT w="9525" cap="flat" cmpd="sng" algn="ctr">
                      <a:solidFill>
                        <a:srgbClr val="D8DEE1"/>
                      </a:solidFill>
                      <a:prstDash val="solid"/>
                      <a:round/>
                      <a:headEnd type="none" w="med" len="med"/>
                      <a:tailEnd type="none" w="med" len="med"/>
                    </a:lnT>
                    <a:lnB w="9525" cap="flat" cmpd="sng" algn="ctr">
                      <a:solidFill>
                        <a:srgbClr val="D8DEE1"/>
                      </a:solidFill>
                      <a:prstDash val="solid"/>
                      <a:round/>
                      <a:headEnd type="none" w="med" len="med"/>
                      <a:tailEnd type="none" w="med" len="med"/>
                    </a:lnB>
                    <a:solidFill>
                      <a:srgbClr val="005EB8"/>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Data source</a:t>
                      </a:r>
                      <a:endParaRPr lang="en-US" sz="850" dirty="0">
                        <a:latin typeface="Calibri" charset="0"/>
                        <a:ea typeface="Calibri" charset="0"/>
                        <a:cs typeface="Calibri" charset="0"/>
                      </a:endParaRPr>
                    </a:p>
                  </a:txBody>
                  <a:tcPr marL="50800" marR="50800" marT="50800" marB="50800" anchor="ctr">
                    <a:lnL w="9525" cap="flat" cmpd="sng" algn="ctr">
                      <a:solidFill>
                        <a:srgbClr val="D8DEE1"/>
                      </a:solidFill>
                      <a:prstDash val="solid"/>
                      <a:round/>
                      <a:headEnd type="none" w="med" len="med"/>
                      <a:tailEnd type="none" w="med" len="med"/>
                    </a:lnL>
                    <a:lnR w="9525" cap="flat" cmpd="sng" algn="ctr">
                      <a:solidFill>
                        <a:srgbClr val="D8DEE1"/>
                      </a:solidFill>
                      <a:prstDash val="solid"/>
                      <a:round/>
                      <a:headEnd type="none" w="med" len="med"/>
                      <a:tailEnd type="none" w="med" len="med"/>
                    </a:lnR>
                    <a:lnT w="9525" cap="flat" cmpd="sng" algn="ctr">
                      <a:solidFill>
                        <a:srgbClr val="D8DEE1"/>
                      </a:solidFill>
                      <a:prstDash val="solid"/>
                      <a:round/>
                      <a:headEnd type="none" w="med" len="med"/>
                      <a:tailEnd type="none" w="med" len="med"/>
                    </a:lnT>
                    <a:lnB w="9525" cap="flat" cmpd="sng" algn="ctr">
                      <a:solidFill>
                        <a:srgbClr val="D8DEE1"/>
                      </a:solidFill>
                      <a:prstDash val="solid"/>
                      <a:round/>
                      <a:headEnd type="none" w="med" len="med"/>
                      <a:tailEnd type="none" w="med" len="med"/>
                    </a:lnB>
                    <a:solidFill>
                      <a:srgbClr val="005EB8"/>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Target</a:t>
                      </a:r>
                      <a:endParaRPr lang="en-US" sz="850" dirty="0">
                        <a:latin typeface="Calibri" charset="0"/>
                        <a:ea typeface="Calibri" charset="0"/>
                        <a:cs typeface="Calibri" charset="0"/>
                      </a:endParaRPr>
                    </a:p>
                  </a:txBody>
                  <a:tcPr marL="50800" marR="50800" marT="50800" marB="50800" anchor="ctr">
                    <a:lnL w="9525" cap="flat" cmpd="sng" algn="ctr">
                      <a:solidFill>
                        <a:srgbClr val="D8DEE1"/>
                      </a:solidFill>
                      <a:prstDash val="solid"/>
                      <a:round/>
                      <a:headEnd type="none" w="med" len="med"/>
                      <a:tailEnd type="none" w="med" len="med"/>
                    </a:lnL>
                    <a:lnR w="9525" cap="flat" cmpd="sng" algn="ctr">
                      <a:solidFill>
                        <a:srgbClr val="D8DEE1"/>
                      </a:solidFill>
                      <a:prstDash val="solid"/>
                      <a:round/>
                      <a:headEnd type="none" w="med" len="med"/>
                      <a:tailEnd type="none" w="med" len="med"/>
                    </a:lnR>
                    <a:lnT w="9525" cap="flat" cmpd="sng" algn="ctr">
                      <a:solidFill>
                        <a:srgbClr val="D8DEE1"/>
                      </a:solidFill>
                      <a:prstDash val="solid"/>
                      <a:round/>
                      <a:headEnd type="none" w="med" len="med"/>
                      <a:tailEnd type="none" w="med" len="med"/>
                    </a:lnT>
                    <a:lnB w="9525" cap="flat" cmpd="sng" algn="ctr">
                      <a:solidFill>
                        <a:srgbClr val="D8DEE1"/>
                      </a:solidFill>
                      <a:prstDash val="solid"/>
                      <a:round/>
                      <a:headEnd type="none" w="med" len="med"/>
                      <a:tailEnd type="none" w="med" len="med"/>
                    </a:lnB>
                    <a:solidFill>
                      <a:srgbClr val="005EB8"/>
                    </a:solidFill>
                  </a:tcPr>
                </a:tc>
              </a:tr>
              <a:tr h="777240">
                <a:tc>
                  <a:txBody>
                    <a:bodyPr/>
                    <a:lstStyle/>
                    <a:p>
                      <a:pPr indent="0" marL="0">
                        <a:buNone/>
                      </a:pPr>
                      <a:r>
                        <a:rPr lang="en-US" sz="850" dirty="0">
                          <a:solidFill>
                            <a:srgbClr val="231F20"/>
                          </a:solidFill>
                          <a:latin typeface="Calibri" pitchFamily="34" charset="0"/>
                          <a:ea typeface="Calibri" pitchFamily="34" charset="-122"/>
                          <a:cs typeface="Calibri" pitchFamily="34" charset="-120"/>
                        </a:rPr>
                        <a:t> </a:t>
                      </a:r>
                      <a:endParaRPr lang="en-US" sz="850" dirty="0">
                        <a:latin typeface="Calibri" charset="0"/>
                        <a:ea typeface="Calibri" charset="0"/>
                        <a:cs typeface="Calibri" charset="0"/>
                      </a:endParaRPr>
                    </a:p>
                  </a:txBody>
                  <a:tcPr marL="50800" marR="50800" marT="50800" marB="50800" anchor="ctr">
                    <a:lnL w="9525" cap="flat" cmpd="sng" algn="ctr">
                      <a:solidFill>
                        <a:srgbClr val="D8DEE1"/>
                      </a:solidFill>
                      <a:prstDash val="solid"/>
                      <a:round/>
                      <a:headEnd type="none" w="med" len="med"/>
                      <a:tailEnd type="none" w="med" len="med"/>
                    </a:lnL>
                    <a:lnR w="9525" cap="flat" cmpd="sng" algn="ctr">
                      <a:solidFill>
                        <a:srgbClr val="D8DEE1"/>
                      </a:solidFill>
                      <a:prstDash val="solid"/>
                      <a:round/>
                      <a:headEnd type="none" w="med" len="med"/>
                      <a:tailEnd type="none" w="med" len="med"/>
                    </a:lnR>
                    <a:lnT w="9525" cap="flat" cmpd="sng" algn="ctr">
                      <a:solidFill>
                        <a:srgbClr val="D8DEE1"/>
                      </a:solidFill>
                      <a:prstDash val="solid"/>
                      <a:round/>
                      <a:headEnd type="none" w="med" len="med"/>
                      <a:tailEnd type="none" w="med" len="med"/>
                    </a:lnT>
                    <a:lnB w="9525" cap="flat" cmpd="sng" algn="ctr">
                      <a:solidFill>
                        <a:srgbClr val="D8DEE1"/>
                      </a:solidFill>
                      <a:prstDash val="solid"/>
                      <a:round/>
                      <a:headEnd type="none" w="med" len="med"/>
                      <a:tailEnd type="none" w="med" len="med"/>
                    </a:lnB>
                  </a:tcPr>
                </a:tc>
                <a:tc>
                  <a:txBody>
                    <a:bodyPr/>
                    <a:lstStyle/>
                    <a:p>
                      <a:pPr indent="0" marL="0">
                        <a:buNone/>
                      </a:pPr>
                      <a:r>
                        <a:rPr lang="en-US" sz="850" b="1" dirty="0">
                          <a:solidFill>
                            <a:srgbClr val="005EB8"/>
                          </a:solidFill>
                          <a:latin typeface="Calibri" pitchFamily="34" charset="0"/>
                          <a:ea typeface="Calibri" pitchFamily="34" charset="-122"/>
                          <a:cs typeface="Calibri" pitchFamily="34" charset="-120"/>
                        </a:rPr>
                        <a:t>Outcome</a:t>
                      </a:r>
                      <a:endParaRPr lang="en-US" sz="850" dirty="0">
                        <a:latin typeface="Calibri" charset="0"/>
                        <a:ea typeface="Calibri" charset="0"/>
                        <a:cs typeface="Calibri" charset="0"/>
                      </a:endParaRPr>
                    </a:p>
                  </a:txBody>
                  <a:tcPr marL="50800" marR="50800" marT="50800" marB="50800" anchor="ctr">
                    <a:lnL w="9525" cap="flat" cmpd="sng" algn="ctr">
                      <a:solidFill>
                        <a:srgbClr val="D8DEE1"/>
                      </a:solidFill>
                      <a:prstDash val="solid"/>
                      <a:round/>
                      <a:headEnd type="none" w="med" len="med"/>
                      <a:tailEnd type="none" w="med" len="med"/>
                    </a:lnL>
                    <a:lnR w="9525" cap="flat" cmpd="sng" algn="ctr">
                      <a:solidFill>
                        <a:srgbClr val="D8DEE1"/>
                      </a:solidFill>
                      <a:prstDash val="solid"/>
                      <a:round/>
                      <a:headEnd type="none" w="med" len="med"/>
                      <a:tailEnd type="none" w="med" len="med"/>
                    </a:lnR>
                    <a:lnT w="9525" cap="flat" cmpd="sng" algn="ctr">
                      <a:solidFill>
                        <a:srgbClr val="D8DEE1"/>
                      </a:solidFill>
                      <a:prstDash val="solid"/>
                      <a:round/>
                      <a:headEnd type="none" w="med" len="med"/>
                      <a:tailEnd type="none" w="med" len="med"/>
                    </a:lnT>
                    <a:lnB w="9525" cap="flat" cmpd="sng" algn="ctr">
                      <a:solidFill>
                        <a:srgbClr val="D8DEE1"/>
                      </a:solidFill>
                      <a:prstDash val="solid"/>
                      <a:round/>
                      <a:headEnd type="none" w="med" len="med"/>
                      <a:tailEnd type="none" w="med" len="med"/>
                    </a:lnB>
                  </a:tcPr>
                </a:tc>
                <a:tc>
                  <a:txBody>
                    <a:bodyPr/>
                    <a:lstStyle/>
                    <a:p>
                      <a:pPr indent="0" marL="0">
                        <a:buNone/>
                      </a:pPr>
                      <a:r>
                        <a:rPr lang="en-US" sz="850" dirty="0">
                          <a:solidFill>
                            <a:srgbClr val="231F20"/>
                          </a:solidFill>
                          <a:latin typeface="Calibri" pitchFamily="34" charset="0"/>
                          <a:ea typeface="Calibri" pitchFamily="34" charset="-122"/>
                          <a:cs typeface="Calibri" pitchFamily="34" charset="-120"/>
                        </a:rPr>
                        <a:t> </a:t>
                      </a:r>
                      <a:endParaRPr lang="en-US" sz="850" dirty="0">
                        <a:latin typeface="Calibri" charset="0"/>
                        <a:ea typeface="Calibri" charset="0"/>
                        <a:cs typeface="Calibri" charset="0"/>
                      </a:endParaRPr>
                    </a:p>
                  </a:txBody>
                  <a:tcPr marL="50800" marR="50800" marT="50800" marB="50800" anchor="ctr">
                    <a:lnL w="9525" cap="flat" cmpd="sng" algn="ctr">
                      <a:solidFill>
                        <a:srgbClr val="D8DEE1"/>
                      </a:solidFill>
                      <a:prstDash val="solid"/>
                      <a:round/>
                      <a:headEnd type="none" w="med" len="med"/>
                      <a:tailEnd type="none" w="med" len="med"/>
                    </a:lnL>
                    <a:lnR w="9525" cap="flat" cmpd="sng" algn="ctr">
                      <a:solidFill>
                        <a:srgbClr val="D8DEE1"/>
                      </a:solidFill>
                      <a:prstDash val="solid"/>
                      <a:round/>
                      <a:headEnd type="none" w="med" len="med"/>
                      <a:tailEnd type="none" w="med" len="med"/>
                    </a:lnR>
                    <a:lnT w="9525" cap="flat" cmpd="sng" algn="ctr">
                      <a:solidFill>
                        <a:srgbClr val="D8DEE1"/>
                      </a:solidFill>
                      <a:prstDash val="solid"/>
                      <a:round/>
                      <a:headEnd type="none" w="med" len="med"/>
                      <a:tailEnd type="none" w="med" len="med"/>
                    </a:lnT>
                    <a:lnB w="9525" cap="flat" cmpd="sng" algn="ctr">
                      <a:solidFill>
                        <a:srgbClr val="D8DEE1"/>
                      </a:solidFill>
                      <a:prstDash val="solid"/>
                      <a:round/>
                      <a:headEnd type="none" w="med" len="med"/>
                      <a:tailEnd type="none" w="med" len="med"/>
                    </a:lnB>
                  </a:tcPr>
                </a:tc>
                <a:tc>
                  <a:txBody>
                    <a:bodyPr/>
                    <a:lstStyle/>
                    <a:p>
                      <a:pPr indent="0" marL="0">
                        <a:buNone/>
                      </a:pPr>
                      <a:r>
                        <a:rPr lang="en-US" sz="850" dirty="0">
                          <a:solidFill>
                            <a:srgbClr val="231F20"/>
                          </a:solidFill>
                          <a:latin typeface="Calibri" pitchFamily="34" charset="0"/>
                          <a:ea typeface="Calibri" pitchFamily="34" charset="-122"/>
                          <a:cs typeface="Calibri" pitchFamily="34" charset="-120"/>
                        </a:rPr>
                        <a:t> </a:t>
                      </a:r>
                      <a:endParaRPr lang="en-US" sz="850" dirty="0">
                        <a:latin typeface="Calibri" charset="0"/>
                        <a:ea typeface="Calibri" charset="0"/>
                        <a:cs typeface="Calibri" charset="0"/>
                      </a:endParaRPr>
                    </a:p>
                  </a:txBody>
                  <a:tcPr marL="50800" marR="50800" marT="50800" marB="50800" anchor="ctr">
                    <a:lnL w="9525" cap="flat" cmpd="sng" algn="ctr">
                      <a:solidFill>
                        <a:srgbClr val="D8DEE1"/>
                      </a:solidFill>
                      <a:prstDash val="solid"/>
                      <a:round/>
                      <a:headEnd type="none" w="med" len="med"/>
                      <a:tailEnd type="none" w="med" len="med"/>
                    </a:lnL>
                    <a:lnR w="9525" cap="flat" cmpd="sng" algn="ctr">
                      <a:solidFill>
                        <a:srgbClr val="D8DEE1"/>
                      </a:solidFill>
                      <a:prstDash val="solid"/>
                      <a:round/>
                      <a:headEnd type="none" w="med" len="med"/>
                      <a:tailEnd type="none" w="med" len="med"/>
                    </a:lnR>
                    <a:lnT w="9525" cap="flat" cmpd="sng" algn="ctr">
                      <a:solidFill>
                        <a:srgbClr val="D8DEE1"/>
                      </a:solidFill>
                      <a:prstDash val="solid"/>
                      <a:round/>
                      <a:headEnd type="none" w="med" len="med"/>
                      <a:tailEnd type="none" w="med" len="med"/>
                    </a:lnT>
                    <a:lnB w="9525" cap="flat" cmpd="sng" algn="ctr">
                      <a:solidFill>
                        <a:srgbClr val="D8DEE1"/>
                      </a:solidFill>
                      <a:prstDash val="solid"/>
                      <a:round/>
                      <a:headEnd type="none" w="med" len="med"/>
                      <a:tailEnd type="none" w="med" len="med"/>
                    </a:lnB>
                  </a:tcPr>
                </a:tc>
                <a:tc>
                  <a:txBody>
                    <a:bodyPr/>
                    <a:lstStyle/>
                    <a:p>
                      <a:pPr indent="0" marL="0">
                        <a:buNone/>
                      </a:pPr>
                      <a:r>
                        <a:rPr lang="en-US" sz="850" dirty="0">
                          <a:solidFill>
                            <a:srgbClr val="231F20"/>
                          </a:solidFill>
                          <a:latin typeface="Calibri" pitchFamily="34" charset="0"/>
                          <a:ea typeface="Calibri" pitchFamily="34" charset="-122"/>
                          <a:cs typeface="Calibri" pitchFamily="34" charset="-120"/>
                        </a:rPr>
                        <a:t> </a:t>
                      </a:r>
                      <a:endParaRPr lang="en-US" sz="850" dirty="0">
                        <a:latin typeface="Calibri" charset="0"/>
                        <a:ea typeface="Calibri" charset="0"/>
                        <a:cs typeface="Calibri" charset="0"/>
                      </a:endParaRPr>
                    </a:p>
                  </a:txBody>
                  <a:tcPr marL="50800" marR="50800" marT="50800" marB="50800" anchor="ctr">
                    <a:lnL w="9525" cap="flat" cmpd="sng" algn="ctr">
                      <a:solidFill>
                        <a:srgbClr val="D8DEE1"/>
                      </a:solidFill>
                      <a:prstDash val="solid"/>
                      <a:round/>
                      <a:headEnd type="none" w="med" len="med"/>
                      <a:tailEnd type="none" w="med" len="med"/>
                    </a:lnL>
                    <a:lnR w="9525" cap="flat" cmpd="sng" algn="ctr">
                      <a:solidFill>
                        <a:srgbClr val="D8DEE1"/>
                      </a:solidFill>
                      <a:prstDash val="solid"/>
                      <a:round/>
                      <a:headEnd type="none" w="med" len="med"/>
                      <a:tailEnd type="none" w="med" len="med"/>
                    </a:lnR>
                    <a:lnT w="9525" cap="flat" cmpd="sng" algn="ctr">
                      <a:solidFill>
                        <a:srgbClr val="D8DEE1"/>
                      </a:solidFill>
                      <a:prstDash val="solid"/>
                      <a:round/>
                      <a:headEnd type="none" w="med" len="med"/>
                      <a:tailEnd type="none" w="med" len="med"/>
                    </a:lnT>
                    <a:lnB w="9525" cap="flat" cmpd="sng" algn="ctr">
                      <a:solidFill>
                        <a:srgbClr val="D8DEE1"/>
                      </a:solidFill>
                      <a:prstDash val="solid"/>
                      <a:round/>
                      <a:headEnd type="none" w="med" len="med"/>
                      <a:tailEnd type="none" w="med" len="med"/>
                    </a:lnB>
                  </a:tcPr>
                </a:tc>
              </a:tr>
              <a:tr h="777240">
                <a:tc>
                  <a:txBody>
                    <a:bodyPr/>
                    <a:lstStyle/>
                    <a:p>
                      <a:pPr indent="0" marL="0">
                        <a:buNone/>
                      </a:pPr>
                      <a:r>
                        <a:rPr lang="en-US" sz="850" dirty="0">
                          <a:solidFill>
                            <a:srgbClr val="231F20"/>
                          </a:solidFill>
                          <a:latin typeface="Calibri" pitchFamily="34" charset="0"/>
                          <a:ea typeface="Calibri" pitchFamily="34" charset="-122"/>
                          <a:cs typeface="Calibri" pitchFamily="34" charset="-120"/>
                        </a:rPr>
                        <a:t> </a:t>
                      </a:r>
                      <a:endParaRPr lang="en-US" sz="850" dirty="0">
                        <a:latin typeface="Calibri" charset="0"/>
                        <a:ea typeface="Calibri" charset="0"/>
                        <a:cs typeface="Calibri" charset="0"/>
                      </a:endParaRPr>
                    </a:p>
                  </a:txBody>
                  <a:tcPr marL="50800" marR="50800" marT="50800" marB="50800" anchor="ctr">
                    <a:lnL w="9525" cap="flat" cmpd="sng" algn="ctr">
                      <a:solidFill>
                        <a:srgbClr val="D8DEE1"/>
                      </a:solidFill>
                      <a:prstDash val="solid"/>
                      <a:round/>
                      <a:headEnd type="none" w="med" len="med"/>
                      <a:tailEnd type="none" w="med" len="med"/>
                    </a:lnL>
                    <a:lnR w="9525" cap="flat" cmpd="sng" algn="ctr">
                      <a:solidFill>
                        <a:srgbClr val="D8DEE1"/>
                      </a:solidFill>
                      <a:prstDash val="solid"/>
                      <a:round/>
                      <a:headEnd type="none" w="med" len="med"/>
                      <a:tailEnd type="none" w="med" len="med"/>
                    </a:lnR>
                    <a:lnT w="9525" cap="flat" cmpd="sng" algn="ctr">
                      <a:solidFill>
                        <a:srgbClr val="D8DEE1"/>
                      </a:solidFill>
                      <a:prstDash val="solid"/>
                      <a:round/>
                      <a:headEnd type="none" w="med" len="med"/>
                      <a:tailEnd type="none" w="med" len="med"/>
                    </a:lnT>
                    <a:lnB w="9525" cap="flat" cmpd="sng" algn="ctr">
                      <a:solidFill>
                        <a:srgbClr val="D8DEE1"/>
                      </a:solidFill>
                      <a:prstDash val="solid"/>
                      <a:round/>
                      <a:headEnd type="none" w="med" len="med"/>
                      <a:tailEnd type="none" w="med" len="med"/>
                    </a:lnB>
                  </a:tcPr>
                </a:tc>
                <a:tc>
                  <a:txBody>
                    <a:bodyPr/>
                    <a:lstStyle/>
                    <a:p>
                      <a:pPr indent="0" marL="0">
                        <a:buNone/>
                      </a:pPr>
                      <a:r>
                        <a:rPr lang="en-US" sz="850" b="1" dirty="0">
                          <a:solidFill>
                            <a:srgbClr val="005EB8"/>
                          </a:solidFill>
                          <a:latin typeface="Calibri" pitchFamily="34" charset="0"/>
                          <a:ea typeface="Calibri" pitchFamily="34" charset="-122"/>
                          <a:cs typeface="Calibri" pitchFamily="34" charset="-120"/>
                        </a:rPr>
                        <a:t>Process</a:t>
                      </a:r>
                      <a:endParaRPr lang="en-US" sz="850" dirty="0">
                        <a:latin typeface="Calibri" charset="0"/>
                        <a:ea typeface="Calibri" charset="0"/>
                        <a:cs typeface="Calibri" charset="0"/>
                      </a:endParaRPr>
                    </a:p>
                  </a:txBody>
                  <a:tcPr marL="50800" marR="50800" marT="50800" marB="50800" anchor="ctr">
                    <a:lnL w="9525" cap="flat" cmpd="sng" algn="ctr">
                      <a:solidFill>
                        <a:srgbClr val="D8DEE1"/>
                      </a:solidFill>
                      <a:prstDash val="solid"/>
                      <a:round/>
                      <a:headEnd type="none" w="med" len="med"/>
                      <a:tailEnd type="none" w="med" len="med"/>
                    </a:lnL>
                    <a:lnR w="9525" cap="flat" cmpd="sng" algn="ctr">
                      <a:solidFill>
                        <a:srgbClr val="D8DEE1"/>
                      </a:solidFill>
                      <a:prstDash val="solid"/>
                      <a:round/>
                      <a:headEnd type="none" w="med" len="med"/>
                      <a:tailEnd type="none" w="med" len="med"/>
                    </a:lnR>
                    <a:lnT w="9525" cap="flat" cmpd="sng" algn="ctr">
                      <a:solidFill>
                        <a:srgbClr val="D8DEE1"/>
                      </a:solidFill>
                      <a:prstDash val="solid"/>
                      <a:round/>
                      <a:headEnd type="none" w="med" len="med"/>
                      <a:tailEnd type="none" w="med" len="med"/>
                    </a:lnT>
                    <a:lnB w="9525" cap="flat" cmpd="sng" algn="ctr">
                      <a:solidFill>
                        <a:srgbClr val="D8DEE1"/>
                      </a:solidFill>
                      <a:prstDash val="solid"/>
                      <a:round/>
                      <a:headEnd type="none" w="med" len="med"/>
                      <a:tailEnd type="none" w="med" len="med"/>
                    </a:lnB>
                  </a:tcPr>
                </a:tc>
                <a:tc>
                  <a:txBody>
                    <a:bodyPr/>
                    <a:lstStyle/>
                    <a:p>
                      <a:pPr indent="0" marL="0">
                        <a:buNone/>
                      </a:pPr>
                      <a:r>
                        <a:rPr lang="en-US" sz="850" dirty="0">
                          <a:solidFill>
                            <a:srgbClr val="231F20"/>
                          </a:solidFill>
                          <a:latin typeface="Calibri" pitchFamily="34" charset="0"/>
                          <a:ea typeface="Calibri" pitchFamily="34" charset="-122"/>
                          <a:cs typeface="Calibri" pitchFamily="34" charset="-120"/>
                        </a:rPr>
                        <a:t> </a:t>
                      </a:r>
                      <a:endParaRPr lang="en-US" sz="850" dirty="0">
                        <a:latin typeface="Calibri" charset="0"/>
                        <a:ea typeface="Calibri" charset="0"/>
                        <a:cs typeface="Calibri" charset="0"/>
                      </a:endParaRPr>
                    </a:p>
                  </a:txBody>
                  <a:tcPr marL="50800" marR="50800" marT="50800" marB="50800" anchor="ctr">
                    <a:lnL w="9525" cap="flat" cmpd="sng" algn="ctr">
                      <a:solidFill>
                        <a:srgbClr val="D8DEE1"/>
                      </a:solidFill>
                      <a:prstDash val="solid"/>
                      <a:round/>
                      <a:headEnd type="none" w="med" len="med"/>
                      <a:tailEnd type="none" w="med" len="med"/>
                    </a:lnL>
                    <a:lnR w="9525" cap="flat" cmpd="sng" algn="ctr">
                      <a:solidFill>
                        <a:srgbClr val="D8DEE1"/>
                      </a:solidFill>
                      <a:prstDash val="solid"/>
                      <a:round/>
                      <a:headEnd type="none" w="med" len="med"/>
                      <a:tailEnd type="none" w="med" len="med"/>
                    </a:lnR>
                    <a:lnT w="9525" cap="flat" cmpd="sng" algn="ctr">
                      <a:solidFill>
                        <a:srgbClr val="D8DEE1"/>
                      </a:solidFill>
                      <a:prstDash val="solid"/>
                      <a:round/>
                      <a:headEnd type="none" w="med" len="med"/>
                      <a:tailEnd type="none" w="med" len="med"/>
                    </a:lnT>
                    <a:lnB w="9525" cap="flat" cmpd="sng" algn="ctr">
                      <a:solidFill>
                        <a:srgbClr val="D8DEE1"/>
                      </a:solidFill>
                      <a:prstDash val="solid"/>
                      <a:round/>
                      <a:headEnd type="none" w="med" len="med"/>
                      <a:tailEnd type="none" w="med" len="med"/>
                    </a:lnB>
                  </a:tcPr>
                </a:tc>
                <a:tc>
                  <a:txBody>
                    <a:bodyPr/>
                    <a:lstStyle/>
                    <a:p>
                      <a:pPr indent="0" marL="0">
                        <a:buNone/>
                      </a:pPr>
                      <a:r>
                        <a:rPr lang="en-US" sz="850" dirty="0">
                          <a:solidFill>
                            <a:srgbClr val="231F20"/>
                          </a:solidFill>
                          <a:latin typeface="Calibri" pitchFamily="34" charset="0"/>
                          <a:ea typeface="Calibri" pitchFamily="34" charset="-122"/>
                          <a:cs typeface="Calibri" pitchFamily="34" charset="-120"/>
                        </a:rPr>
                        <a:t> </a:t>
                      </a:r>
                      <a:endParaRPr lang="en-US" sz="850" dirty="0">
                        <a:latin typeface="Calibri" charset="0"/>
                        <a:ea typeface="Calibri" charset="0"/>
                        <a:cs typeface="Calibri" charset="0"/>
                      </a:endParaRPr>
                    </a:p>
                  </a:txBody>
                  <a:tcPr marL="50800" marR="50800" marT="50800" marB="50800" anchor="ctr">
                    <a:lnL w="9525" cap="flat" cmpd="sng" algn="ctr">
                      <a:solidFill>
                        <a:srgbClr val="D8DEE1"/>
                      </a:solidFill>
                      <a:prstDash val="solid"/>
                      <a:round/>
                      <a:headEnd type="none" w="med" len="med"/>
                      <a:tailEnd type="none" w="med" len="med"/>
                    </a:lnL>
                    <a:lnR w="9525" cap="flat" cmpd="sng" algn="ctr">
                      <a:solidFill>
                        <a:srgbClr val="D8DEE1"/>
                      </a:solidFill>
                      <a:prstDash val="solid"/>
                      <a:round/>
                      <a:headEnd type="none" w="med" len="med"/>
                      <a:tailEnd type="none" w="med" len="med"/>
                    </a:lnR>
                    <a:lnT w="9525" cap="flat" cmpd="sng" algn="ctr">
                      <a:solidFill>
                        <a:srgbClr val="D8DEE1"/>
                      </a:solidFill>
                      <a:prstDash val="solid"/>
                      <a:round/>
                      <a:headEnd type="none" w="med" len="med"/>
                      <a:tailEnd type="none" w="med" len="med"/>
                    </a:lnT>
                    <a:lnB w="9525" cap="flat" cmpd="sng" algn="ctr">
                      <a:solidFill>
                        <a:srgbClr val="D8DEE1"/>
                      </a:solidFill>
                      <a:prstDash val="solid"/>
                      <a:round/>
                      <a:headEnd type="none" w="med" len="med"/>
                      <a:tailEnd type="none" w="med" len="med"/>
                    </a:lnB>
                  </a:tcPr>
                </a:tc>
                <a:tc>
                  <a:txBody>
                    <a:bodyPr/>
                    <a:lstStyle/>
                    <a:p>
                      <a:pPr indent="0" marL="0">
                        <a:buNone/>
                      </a:pPr>
                      <a:r>
                        <a:rPr lang="en-US" sz="850" dirty="0">
                          <a:solidFill>
                            <a:srgbClr val="231F20"/>
                          </a:solidFill>
                          <a:latin typeface="Calibri" pitchFamily="34" charset="0"/>
                          <a:ea typeface="Calibri" pitchFamily="34" charset="-122"/>
                          <a:cs typeface="Calibri" pitchFamily="34" charset="-120"/>
                        </a:rPr>
                        <a:t> </a:t>
                      </a:r>
                      <a:endParaRPr lang="en-US" sz="850" dirty="0">
                        <a:latin typeface="Calibri" charset="0"/>
                        <a:ea typeface="Calibri" charset="0"/>
                        <a:cs typeface="Calibri" charset="0"/>
                      </a:endParaRPr>
                    </a:p>
                  </a:txBody>
                  <a:tcPr marL="50800" marR="50800" marT="50800" marB="50800" anchor="ctr">
                    <a:lnL w="9525" cap="flat" cmpd="sng" algn="ctr">
                      <a:solidFill>
                        <a:srgbClr val="D8DEE1"/>
                      </a:solidFill>
                      <a:prstDash val="solid"/>
                      <a:round/>
                      <a:headEnd type="none" w="med" len="med"/>
                      <a:tailEnd type="none" w="med" len="med"/>
                    </a:lnL>
                    <a:lnR w="9525" cap="flat" cmpd="sng" algn="ctr">
                      <a:solidFill>
                        <a:srgbClr val="D8DEE1"/>
                      </a:solidFill>
                      <a:prstDash val="solid"/>
                      <a:round/>
                      <a:headEnd type="none" w="med" len="med"/>
                      <a:tailEnd type="none" w="med" len="med"/>
                    </a:lnR>
                    <a:lnT w="9525" cap="flat" cmpd="sng" algn="ctr">
                      <a:solidFill>
                        <a:srgbClr val="D8DEE1"/>
                      </a:solidFill>
                      <a:prstDash val="solid"/>
                      <a:round/>
                      <a:headEnd type="none" w="med" len="med"/>
                      <a:tailEnd type="none" w="med" len="med"/>
                    </a:lnT>
                    <a:lnB w="9525" cap="flat" cmpd="sng" algn="ctr">
                      <a:solidFill>
                        <a:srgbClr val="D8DEE1"/>
                      </a:solidFill>
                      <a:prstDash val="solid"/>
                      <a:round/>
                      <a:headEnd type="none" w="med" len="med"/>
                      <a:tailEnd type="none" w="med" len="med"/>
                    </a:lnB>
                  </a:tcPr>
                </a:tc>
              </a:tr>
              <a:tr h="777240">
                <a:tc>
                  <a:txBody>
                    <a:bodyPr/>
                    <a:lstStyle/>
                    <a:p>
                      <a:pPr indent="0" marL="0">
                        <a:buNone/>
                      </a:pPr>
                      <a:r>
                        <a:rPr lang="en-US" sz="850" dirty="0">
                          <a:solidFill>
                            <a:srgbClr val="231F20"/>
                          </a:solidFill>
                          <a:latin typeface="Calibri" pitchFamily="34" charset="0"/>
                          <a:ea typeface="Calibri" pitchFamily="34" charset="-122"/>
                          <a:cs typeface="Calibri" pitchFamily="34" charset="-120"/>
                        </a:rPr>
                        <a:t> </a:t>
                      </a:r>
                      <a:endParaRPr lang="en-US" sz="850" dirty="0">
                        <a:latin typeface="Calibri" charset="0"/>
                        <a:ea typeface="Calibri" charset="0"/>
                        <a:cs typeface="Calibri" charset="0"/>
                      </a:endParaRPr>
                    </a:p>
                  </a:txBody>
                  <a:tcPr marL="50800" marR="50800" marT="50800" marB="50800" anchor="ctr">
                    <a:lnL w="9525" cap="flat" cmpd="sng" algn="ctr">
                      <a:solidFill>
                        <a:srgbClr val="D8DEE1"/>
                      </a:solidFill>
                      <a:prstDash val="solid"/>
                      <a:round/>
                      <a:headEnd type="none" w="med" len="med"/>
                      <a:tailEnd type="none" w="med" len="med"/>
                    </a:lnL>
                    <a:lnR w="9525" cap="flat" cmpd="sng" algn="ctr">
                      <a:solidFill>
                        <a:srgbClr val="D8DEE1"/>
                      </a:solidFill>
                      <a:prstDash val="solid"/>
                      <a:round/>
                      <a:headEnd type="none" w="med" len="med"/>
                      <a:tailEnd type="none" w="med" len="med"/>
                    </a:lnR>
                    <a:lnT w="9525" cap="flat" cmpd="sng" algn="ctr">
                      <a:solidFill>
                        <a:srgbClr val="D8DEE1"/>
                      </a:solidFill>
                      <a:prstDash val="solid"/>
                      <a:round/>
                      <a:headEnd type="none" w="med" len="med"/>
                      <a:tailEnd type="none" w="med" len="med"/>
                    </a:lnT>
                    <a:lnB w="9525" cap="flat" cmpd="sng" algn="ctr">
                      <a:solidFill>
                        <a:srgbClr val="D8DEE1"/>
                      </a:solidFill>
                      <a:prstDash val="solid"/>
                      <a:round/>
                      <a:headEnd type="none" w="med" len="med"/>
                      <a:tailEnd type="none" w="med" len="med"/>
                    </a:lnB>
                  </a:tcPr>
                </a:tc>
                <a:tc>
                  <a:txBody>
                    <a:bodyPr/>
                    <a:lstStyle/>
                    <a:p>
                      <a:pPr indent="0" marL="0">
                        <a:buNone/>
                      </a:pPr>
                      <a:r>
                        <a:rPr lang="en-US" sz="850" b="1" dirty="0">
                          <a:solidFill>
                            <a:srgbClr val="005EB8"/>
                          </a:solidFill>
                          <a:latin typeface="Calibri" pitchFamily="34" charset="0"/>
                          <a:ea typeface="Calibri" pitchFamily="34" charset="-122"/>
                          <a:cs typeface="Calibri" pitchFamily="34" charset="-120"/>
                        </a:rPr>
                        <a:t>Balancing</a:t>
                      </a:r>
                      <a:endParaRPr lang="en-US" sz="850" dirty="0">
                        <a:latin typeface="Calibri" charset="0"/>
                        <a:ea typeface="Calibri" charset="0"/>
                        <a:cs typeface="Calibri" charset="0"/>
                      </a:endParaRPr>
                    </a:p>
                  </a:txBody>
                  <a:tcPr marL="50800" marR="50800" marT="50800" marB="50800" anchor="ctr">
                    <a:lnL w="9525" cap="flat" cmpd="sng" algn="ctr">
                      <a:solidFill>
                        <a:srgbClr val="D8DEE1"/>
                      </a:solidFill>
                      <a:prstDash val="solid"/>
                      <a:round/>
                      <a:headEnd type="none" w="med" len="med"/>
                      <a:tailEnd type="none" w="med" len="med"/>
                    </a:lnL>
                    <a:lnR w="9525" cap="flat" cmpd="sng" algn="ctr">
                      <a:solidFill>
                        <a:srgbClr val="D8DEE1"/>
                      </a:solidFill>
                      <a:prstDash val="solid"/>
                      <a:round/>
                      <a:headEnd type="none" w="med" len="med"/>
                      <a:tailEnd type="none" w="med" len="med"/>
                    </a:lnR>
                    <a:lnT w="9525" cap="flat" cmpd="sng" algn="ctr">
                      <a:solidFill>
                        <a:srgbClr val="D8DEE1"/>
                      </a:solidFill>
                      <a:prstDash val="solid"/>
                      <a:round/>
                      <a:headEnd type="none" w="med" len="med"/>
                      <a:tailEnd type="none" w="med" len="med"/>
                    </a:lnT>
                    <a:lnB w="9525" cap="flat" cmpd="sng" algn="ctr">
                      <a:solidFill>
                        <a:srgbClr val="D8DEE1"/>
                      </a:solidFill>
                      <a:prstDash val="solid"/>
                      <a:round/>
                      <a:headEnd type="none" w="med" len="med"/>
                      <a:tailEnd type="none" w="med" len="med"/>
                    </a:lnB>
                  </a:tcPr>
                </a:tc>
                <a:tc>
                  <a:txBody>
                    <a:bodyPr/>
                    <a:lstStyle/>
                    <a:p>
                      <a:pPr indent="0" marL="0">
                        <a:buNone/>
                      </a:pPr>
                      <a:r>
                        <a:rPr lang="en-US" sz="850" dirty="0">
                          <a:solidFill>
                            <a:srgbClr val="231F20"/>
                          </a:solidFill>
                          <a:latin typeface="Calibri" pitchFamily="34" charset="0"/>
                          <a:ea typeface="Calibri" pitchFamily="34" charset="-122"/>
                          <a:cs typeface="Calibri" pitchFamily="34" charset="-120"/>
                        </a:rPr>
                        <a:t> </a:t>
                      </a:r>
                      <a:endParaRPr lang="en-US" sz="850" dirty="0">
                        <a:latin typeface="Calibri" charset="0"/>
                        <a:ea typeface="Calibri" charset="0"/>
                        <a:cs typeface="Calibri" charset="0"/>
                      </a:endParaRPr>
                    </a:p>
                  </a:txBody>
                  <a:tcPr marL="50800" marR="50800" marT="50800" marB="50800" anchor="ctr">
                    <a:lnL w="9525" cap="flat" cmpd="sng" algn="ctr">
                      <a:solidFill>
                        <a:srgbClr val="D8DEE1"/>
                      </a:solidFill>
                      <a:prstDash val="solid"/>
                      <a:round/>
                      <a:headEnd type="none" w="med" len="med"/>
                      <a:tailEnd type="none" w="med" len="med"/>
                    </a:lnL>
                    <a:lnR w="9525" cap="flat" cmpd="sng" algn="ctr">
                      <a:solidFill>
                        <a:srgbClr val="D8DEE1"/>
                      </a:solidFill>
                      <a:prstDash val="solid"/>
                      <a:round/>
                      <a:headEnd type="none" w="med" len="med"/>
                      <a:tailEnd type="none" w="med" len="med"/>
                    </a:lnR>
                    <a:lnT w="9525" cap="flat" cmpd="sng" algn="ctr">
                      <a:solidFill>
                        <a:srgbClr val="D8DEE1"/>
                      </a:solidFill>
                      <a:prstDash val="solid"/>
                      <a:round/>
                      <a:headEnd type="none" w="med" len="med"/>
                      <a:tailEnd type="none" w="med" len="med"/>
                    </a:lnT>
                    <a:lnB w="9525" cap="flat" cmpd="sng" algn="ctr">
                      <a:solidFill>
                        <a:srgbClr val="D8DEE1"/>
                      </a:solidFill>
                      <a:prstDash val="solid"/>
                      <a:round/>
                      <a:headEnd type="none" w="med" len="med"/>
                      <a:tailEnd type="none" w="med" len="med"/>
                    </a:lnB>
                  </a:tcPr>
                </a:tc>
                <a:tc>
                  <a:txBody>
                    <a:bodyPr/>
                    <a:lstStyle/>
                    <a:p>
                      <a:pPr indent="0" marL="0">
                        <a:buNone/>
                      </a:pPr>
                      <a:r>
                        <a:rPr lang="en-US" sz="850" dirty="0">
                          <a:solidFill>
                            <a:srgbClr val="231F20"/>
                          </a:solidFill>
                          <a:latin typeface="Calibri" pitchFamily="34" charset="0"/>
                          <a:ea typeface="Calibri" pitchFamily="34" charset="-122"/>
                          <a:cs typeface="Calibri" pitchFamily="34" charset="-120"/>
                        </a:rPr>
                        <a:t> </a:t>
                      </a:r>
                      <a:endParaRPr lang="en-US" sz="850" dirty="0">
                        <a:latin typeface="Calibri" charset="0"/>
                        <a:ea typeface="Calibri" charset="0"/>
                        <a:cs typeface="Calibri" charset="0"/>
                      </a:endParaRPr>
                    </a:p>
                  </a:txBody>
                  <a:tcPr marL="50800" marR="50800" marT="50800" marB="50800" anchor="ctr">
                    <a:lnL w="9525" cap="flat" cmpd="sng" algn="ctr">
                      <a:solidFill>
                        <a:srgbClr val="D8DEE1"/>
                      </a:solidFill>
                      <a:prstDash val="solid"/>
                      <a:round/>
                      <a:headEnd type="none" w="med" len="med"/>
                      <a:tailEnd type="none" w="med" len="med"/>
                    </a:lnL>
                    <a:lnR w="9525" cap="flat" cmpd="sng" algn="ctr">
                      <a:solidFill>
                        <a:srgbClr val="D8DEE1"/>
                      </a:solidFill>
                      <a:prstDash val="solid"/>
                      <a:round/>
                      <a:headEnd type="none" w="med" len="med"/>
                      <a:tailEnd type="none" w="med" len="med"/>
                    </a:lnR>
                    <a:lnT w="9525" cap="flat" cmpd="sng" algn="ctr">
                      <a:solidFill>
                        <a:srgbClr val="D8DEE1"/>
                      </a:solidFill>
                      <a:prstDash val="solid"/>
                      <a:round/>
                      <a:headEnd type="none" w="med" len="med"/>
                      <a:tailEnd type="none" w="med" len="med"/>
                    </a:lnT>
                    <a:lnB w="9525" cap="flat" cmpd="sng" algn="ctr">
                      <a:solidFill>
                        <a:srgbClr val="D8DEE1"/>
                      </a:solidFill>
                      <a:prstDash val="solid"/>
                      <a:round/>
                      <a:headEnd type="none" w="med" len="med"/>
                      <a:tailEnd type="none" w="med" len="med"/>
                    </a:lnB>
                  </a:tcPr>
                </a:tc>
                <a:tc>
                  <a:txBody>
                    <a:bodyPr/>
                    <a:lstStyle/>
                    <a:p>
                      <a:pPr indent="0" marL="0">
                        <a:buNone/>
                      </a:pPr>
                      <a:r>
                        <a:rPr lang="en-US" sz="850" dirty="0">
                          <a:solidFill>
                            <a:srgbClr val="231F20"/>
                          </a:solidFill>
                          <a:latin typeface="Calibri" pitchFamily="34" charset="0"/>
                          <a:ea typeface="Calibri" pitchFamily="34" charset="-122"/>
                          <a:cs typeface="Calibri" pitchFamily="34" charset="-120"/>
                        </a:rPr>
                        <a:t> </a:t>
                      </a:r>
                      <a:endParaRPr lang="en-US" sz="850" dirty="0">
                        <a:latin typeface="Calibri" charset="0"/>
                        <a:ea typeface="Calibri" charset="0"/>
                        <a:cs typeface="Calibri" charset="0"/>
                      </a:endParaRPr>
                    </a:p>
                  </a:txBody>
                  <a:tcPr marL="50800" marR="50800" marT="50800" marB="50800" anchor="ctr">
                    <a:lnL w="9525" cap="flat" cmpd="sng" algn="ctr">
                      <a:solidFill>
                        <a:srgbClr val="D8DEE1"/>
                      </a:solidFill>
                      <a:prstDash val="solid"/>
                      <a:round/>
                      <a:headEnd type="none" w="med" len="med"/>
                      <a:tailEnd type="none" w="med" len="med"/>
                    </a:lnL>
                    <a:lnR w="9525" cap="flat" cmpd="sng" algn="ctr">
                      <a:solidFill>
                        <a:srgbClr val="D8DEE1"/>
                      </a:solidFill>
                      <a:prstDash val="solid"/>
                      <a:round/>
                      <a:headEnd type="none" w="med" len="med"/>
                      <a:tailEnd type="none" w="med" len="med"/>
                    </a:lnR>
                    <a:lnT w="9525" cap="flat" cmpd="sng" algn="ctr">
                      <a:solidFill>
                        <a:srgbClr val="D8DEE1"/>
                      </a:solidFill>
                      <a:prstDash val="solid"/>
                      <a:round/>
                      <a:headEnd type="none" w="med" len="med"/>
                      <a:tailEnd type="none" w="med" len="med"/>
                    </a:lnT>
                    <a:lnB w="9525" cap="flat" cmpd="sng" algn="ctr">
                      <a:solidFill>
                        <a:srgbClr val="D8DEE1"/>
                      </a:solidFill>
                      <a:prstDash val="solid"/>
                      <a:round/>
                      <a:headEnd type="none" w="med" len="med"/>
                      <a:tailEnd type="none" w="med" len="med"/>
                    </a:lnB>
                  </a:tcPr>
                </a:tc>
              </a:tr>
            </a:tbl>
          </a:graphicData>
        </a:graphic>
      </p:graphicFrame>
      <p:sp>
        <p:nvSpPr>
          <p:cNvPr id="6" name="Text 3"/>
          <p:cNvSpPr/>
          <p:nvPr/>
        </p:nvSpPr>
        <p:spPr>
          <a:xfrm>
            <a:off x="6126480" y="932688"/>
            <a:ext cx="2560320" cy="1371600"/>
          </a:xfrm>
          <a:prstGeom prst="roundRect">
            <a:avLst>
              <a:gd name="adj" fmla="val 4667"/>
            </a:avLst>
          </a:prstGeom>
          <a:solidFill>
            <a:srgbClr val="F0F4F5"/>
          </a:solidFill>
          <a:ln/>
        </p:spPr>
        <p:txBody>
          <a:bodyPr wrap="square" lIns="114300" tIns="114300" rIns="114300" bIns="114300" rtlCol="0" anchor="t"/>
          <a:lstStyle/>
          <a:p>
            <a:pPr indent="0" marL="0">
              <a:spcAft>
                <a:spcPts val="400"/>
              </a:spcAft>
              <a:buNone/>
            </a:pPr>
            <a:r>
              <a:rPr lang="en-US" sz="1050" b="1" dirty="0">
                <a:solidFill>
                  <a:srgbClr val="005EB8"/>
                </a:solidFill>
                <a:latin typeface="Calibri" pitchFamily="34" charset="0"/>
                <a:ea typeface="Calibri" pitchFamily="34" charset="-122"/>
                <a:cs typeface="Calibri" pitchFamily="34" charset="-120"/>
              </a:rPr>
              <a:t>Context Tracking — 10b</a:t>
            </a:r>
            <a:endParaRPr lang="en-US" sz="1050" dirty="0"/>
          </a:p>
          <a:p>
            <a:pPr indent="0" marL="0">
              <a:buNone/>
            </a:pPr>
            <a:r>
              <a:rPr lang="en-US" sz="850" dirty="0">
                <a:solidFill>
                  <a:srgbClr val="231F20"/>
                </a:solidFill>
                <a:latin typeface="Calibri" pitchFamily="34" charset="0"/>
                <a:ea typeface="Calibri" pitchFamily="34" charset="-122"/>
                <a:cs typeface="Calibri" pitchFamily="34" charset="-120"/>
              </a:rPr>
              <a:t>Keep a project diary — jot down anything that changed around you (staffing, pressures, season).</a:t>
            </a:r>
            <a:endParaRPr lang="en-US" sz="1050" dirty="0"/>
          </a:p>
        </p:txBody>
      </p:sp>
      <p:sp>
        <p:nvSpPr>
          <p:cNvPr id="7" name="Text 4"/>
          <p:cNvSpPr/>
          <p:nvPr/>
        </p:nvSpPr>
        <p:spPr>
          <a:xfrm>
            <a:off x="6126480" y="2432304"/>
            <a:ext cx="2560320" cy="1371600"/>
          </a:xfrm>
          <a:prstGeom prst="roundRect">
            <a:avLst>
              <a:gd name="adj" fmla="val 4667"/>
            </a:avLst>
          </a:prstGeom>
          <a:solidFill>
            <a:srgbClr val="F0F4F5"/>
          </a:solidFill>
          <a:ln/>
        </p:spPr>
        <p:txBody>
          <a:bodyPr wrap="square" lIns="114300" tIns="114300" rIns="114300" bIns="114300" rtlCol="0" anchor="t"/>
          <a:lstStyle/>
          <a:p>
            <a:pPr indent="0" marL="0">
              <a:spcAft>
                <a:spcPts val="400"/>
              </a:spcAft>
              <a:buNone/>
            </a:pPr>
            <a:r>
              <a:rPr lang="en-US" sz="1050" b="1" dirty="0">
                <a:solidFill>
                  <a:srgbClr val="005EB8"/>
                </a:solidFill>
                <a:latin typeface="Calibri" pitchFamily="34" charset="0"/>
                <a:ea typeface="Calibri" pitchFamily="34" charset="-122"/>
                <a:cs typeface="Calibri" pitchFamily="34" charset="-120"/>
              </a:rPr>
              <a:t>Data Quality — 10c</a:t>
            </a:r>
            <a:endParaRPr lang="en-US" sz="1050" dirty="0"/>
          </a:p>
          <a:p>
            <a:pPr indent="0" marL="0">
              <a:buNone/>
            </a:pPr>
            <a:r>
              <a:rPr lang="en-US" sz="850" dirty="0">
                <a:solidFill>
                  <a:srgbClr val="231F20"/>
                </a:solidFill>
                <a:latin typeface="Calibri" pitchFamily="34" charset="0"/>
                <a:ea typeface="Calibri" pitchFamily="34" charset="-122"/>
                <a:cs typeface="Calibri" pitchFamily="34" charset="-120"/>
              </a:rPr>
              <a:t>How did you check your counting? e.g. a colleague re-counted 5 cases and matched.</a:t>
            </a:r>
            <a:endParaRPr lang="en-US" sz="1050" dirty="0"/>
          </a:p>
        </p:txBody>
      </p:sp>
      <p:sp>
        <p:nvSpPr>
          <p:cNvPr id="8" name="Text 5"/>
          <p:cNvSpPr/>
          <p:nvPr/>
        </p:nvSpPr>
        <p:spPr>
          <a:xfrm>
            <a:off x="457200" y="4114800"/>
            <a:ext cx="8229600" cy="274320"/>
          </a:xfrm>
          <a:prstGeom prst="rect">
            <a:avLst/>
          </a:prstGeom>
          <a:noFill/>
          <a:ln/>
        </p:spPr>
        <p:txBody>
          <a:bodyPr wrap="square" lIns="0" tIns="0" rIns="0" bIns="0" rtlCol="0" anchor="ctr"/>
          <a:lstStyle/>
          <a:p>
            <a:pPr indent="0" marL="0">
              <a:buNone/>
            </a:pPr>
            <a:r>
              <a:rPr lang="en-US" sz="850" b="1" dirty="0">
                <a:solidFill>
                  <a:srgbClr val="005EB8"/>
                </a:solidFill>
                <a:latin typeface="Calibri" pitchFamily="34" charset="0"/>
                <a:ea typeface="Calibri" pitchFamily="34" charset="-122"/>
                <a:cs typeface="Calibri" pitchFamily="34" charset="-120"/>
              </a:rPr>
              <a:t>Outcome </a:t>
            </a:r>
            <a:pPr indent="0" marL="0">
              <a:buNone/>
            </a:pPr>
            <a:r>
              <a:rPr lang="en-US" sz="850" dirty="0">
                <a:solidFill>
                  <a:srgbClr val="425563"/>
                </a:solidFill>
                <a:latin typeface="Calibri" pitchFamily="34" charset="0"/>
                <a:ea typeface="Calibri" pitchFamily="34" charset="-122"/>
                <a:cs typeface="Calibri" pitchFamily="34" charset="-120"/>
              </a:rPr>
              <a:t>— the result patients feel.    </a:t>
            </a:r>
            <a:pPr indent="0" marL="0">
              <a:buNone/>
            </a:pPr>
            <a:r>
              <a:rPr lang="en-US" sz="850" b="1" dirty="0">
                <a:solidFill>
                  <a:srgbClr val="005EB8"/>
                </a:solidFill>
                <a:latin typeface="Calibri" pitchFamily="34" charset="0"/>
                <a:ea typeface="Calibri" pitchFamily="34" charset="-122"/>
                <a:cs typeface="Calibri" pitchFamily="34" charset="-120"/>
              </a:rPr>
              <a:t>Process </a:t>
            </a:r>
            <a:pPr indent="0" marL="0">
              <a:buNone/>
            </a:pPr>
            <a:r>
              <a:rPr lang="en-US" sz="850" dirty="0">
                <a:solidFill>
                  <a:srgbClr val="425563"/>
                </a:solidFill>
                <a:latin typeface="Calibri" pitchFamily="34" charset="0"/>
                <a:ea typeface="Calibri" pitchFamily="34" charset="-122"/>
                <a:cs typeface="Calibri" pitchFamily="34" charset="-120"/>
              </a:rPr>
              <a:t>— is the change being done?    </a:t>
            </a:r>
            <a:pPr indent="0" marL="0">
              <a:buNone/>
            </a:pPr>
            <a:r>
              <a:rPr lang="en-US" sz="850" b="1" dirty="0">
                <a:solidFill>
                  <a:srgbClr val="005EB8"/>
                </a:solidFill>
                <a:latin typeface="Calibri" pitchFamily="34" charset="0"/>
                <a:ea typeface="Calibri" pitchFamily="34" charset="-122"/>
                <a:cs typeface="Calibri" pitchFamily="34" charset="-120"/>
              </a:rPr>
              <a:t>Balancing </a:t>
            </a:r>
            <a:pPr indent="0" marL="0">
              <a:buNone/>
            </a:pPr>
            <a:r>
              <a:rPr lang="en-US" sz="850" dirty="0">
                <a:solidFill>
                  <a:srgbClr val="425563"/>
                </a:solidFill>
                <a:latin typeface="Calibri" pitchFamily="34" charset="0"/>
                <a:ea typeface="Calibri" pitchFamily="34" charset="-122"/>
                <a:cs typeface="Calibri" pitchFamily="34" charset="-120"/>
              </a:rPr>
              <a:t>— is anything getting worse elsewhere?</a:t>
            </a:r>
            <a:endParaRPr lang="en-US" sz="850" dirty="0"/>
          </a:p>
        </p:txBody>
      </p:sp>
      <p:sp>
        <p:nvSpPr>
          <p:cNvPr id="10" name="Text 6"/>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05EB8"/>
                </a:solidFill>
                <a:latin typeface="Calibri" pitchFamily="34" charset="0"/>
                <a:ea typeface="Calibri" pitchFamily="34" charset="-122"/>
                <a:cs typeface="Calibri" pitchFamily="34" charset="-120"/>
              </a:rPr>
              <a:t>AIM Quality Improvement Team  |  Queen Elizabeth Hospital Birmingham</a:t>
            </a:r>
            <a:endParaRPr lang="en-US" sz="750" dirty="0"/>
          </a:p>
        </p:txBody>
      </p:sp>
      <p:sp>
        <p:nvSpPr>
          <p:cNvPr id="11" name="Text 7"/>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AA5AA"/>
                </a:solidFill>
                <a:latin typeface="Calibri" pitchFamily="34" charset="0"/>
                <a:ea typeface="Calibri" pitchFamily="34" charset="-122"/>
                <a:cs typeface="Calibri" pitchFamily="34" charset="-120"/>
              </a:rPr>
              <a:t>SQUIRE 2.0 Presentation Template</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274320"/>
            <a:ext cx="6766560" cy="475488"/>
          </a:xfrm>
          <a:prstGeom prst="rect">
            <a:avLst/>
          </a:prstGeom>
          <a:noFill/>
          <a:ln/>
        </p:spPr>
        <p:txBody>
          <a:bodyPr wrap="square" lIns="0" tIns="0" rIns="0" bIns="0" rtlCol="0" anchor="ctr"/>
          <a:lstStyle/>
          <a:p>
            <a:pPr indent="0" marL="0">
              <a:buNone/>
            </a:pPr>
            <a:r>
              <a:rPr lang="en-US" sz="2200" b="1" dirty="0">
                <a:solidFill>
                  <a:srgbClr val="231F20"/>
                </a:solidFill>
                <a:latin typeface="Calibri" pitchFamily="34" charset="0"/>
                <a:ea typeface="Calibri" pitchFamily="34" charset="-122"/>
                <a:cs typeface="Calibri" pitchFamily="34" charset="-120"/>
              </a:rPr>
              <a:t>Analysis</a:t>
            </a:r>
            <a:endParaRPr lang="en-US" sz="2200" dirty="0"/>
          </a:p>
        </p:txBody>
      </p:sp>
      <p:sp>
        <p:nvSpPr>
          <p:cNvPr id="3" name="Text 1"/>
          <p:cNvSpPr/>
          <p:nvPr/>
        </p:nvSpPr>
        <p:spPr>
          <a:xfrm>
            <a:off x="7832750" y="292608"/>
            <a:ext cx="854050" cy="310896"/>
          </a:xfrm>
          <a:prstGeom prst="roundRect">
            <a:avLst>
              <a:gd name="adj" fmla="val 47059"/>
            </a:avLst>
          </a:prstGeom>
          <a:solidFill>
            <a:srgbClr val="005EB8"/>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ITEM 11</a:t>
            </a:r>
            <a:endParaRPr lang="en-US" sz="900" dirty="0"/>
          </a:p>
        </p:txBody>
      </p:sp>
      <p:sp>
        <p:nvSpPr>
          <p:cNvPr id="4" name="Text 2"/>
          <p:cNvSpPr/>
          <p:nvPr/>
        </p:nvSpPr>
        <p:spPr>
          <a:xfrm>
            <a:off x="457200" y="932688"/>
            <a:ext cx="4023360" cy="3200400"/>
          </a:xfrm>
          <a:prstGeom prst="roundRect">
            <a:avLst>
              <a:gd name="adj" fmla="val 2000"/>
            </a:avLst>
          </a:prstGeom>
          <a:solidFill>
            <a:srgbClr val="F0F4F5"/>
          </a:solidFill>
          <a:ln/>
        </p:spPr>
        <p:txBody>
          <a:bodyPr wrap="square" lIns="114300" tIns="114300" rIns="114300" bIns="114300" rtlCol="0" anchor="t"/>
          <a:lstStyle/>
          <a:p>
            <a:pPr indent="0" marL="0">
              <a:spcAft>
                <a:spcPts val="400"/>
              </a:spcAft>
              <a:buNone/>
            </a:pPr>
            <a:r>
              <a:rPr lang="en-US" sz="1150" b="1" dirty="0">
                <a:solidFill>
                  <a:srgbClr val="005EB8"/>
                </a:solidFill>
                <a:latin typeface="Calibri" pitchFamily="34" charset="0"/>
                <a:ea typeface="Calibri" pitchFamily="34" charset="-122"/>
                <a:cs typeface="Calibri" pitchFamily="34" charset="-120"/>
              </a:rPr>
              <a:t>The Numbers — 11a &amp; 11b</a:t>
            </a:r>
            <a:endParaRPr lang="en-US" sz="1150" dirty="0"/>
          </a:p>
          <a:p>
            <a:pPr marL="342900" indent="-342900">
              <a:spcAft>
                <a:spcPts val="300"/>
              </a:spcAft>
              <a:buSzPct val="100000"/>
              <a:buChar char="–"/>
            </a:pPr>
            <a:r>
              <a:rPr lang="en-US" sz="950" dirty="0">
                <a:solidFill>
                  <a:srgbClr val="231F20"/>
                </a:solidFill>
                <a:latin typeface="Calibri" pitchFamily="34" charset="0"/>
                <a:ea typeface="Calibri" pitchFamily="34" charset="-122"/>
                <a:cs typeface="Calibri" pitchFamily="34" charset="-120"/>
              </a:rPr>
              <a:t>Plot your measure over time — an Excel run chart is enough</a:t>
            </a:r>
            <a:endParaRPr lang="en-US" sz="1150" dirty="0"/>
          </a:p>
          <a:p>
            <a:pPr marL="342900" indent="-342900">
              <a:spcAft>
                <a:spcPts val="300"/>
              </a:spcAft>
              <a:buSzPct val="100000"/>
              <a:buChar char="–"/>
            </a:pPr>
            <a:r>
              <a:rPr lang="en-US" sz="950" dirty="0">
                <a:solidFill>
                  <a:srgbClr val="231F20"/>
                </a:solidFill>
                <a:latin typeface="Calibri" pitchFamily="34" charset="0"/>
                <a:ea typeface="Calibri" pitchFamily="34" charset="-122"/>
                <a:cs typeface="Calibri" pitchFamily="34" charset="-120"/>
              </a:rPr>
              <a:t>Mark the point where you made your change</a:t>
            </a:r>
            <a:endParaRPr lang="en-US" sz="1150" dirty="0"/>
          </a:p>
          <a:p>
            <a:pPr marL="342900" indent="-342900">
              <a:spcAft>
                <a:spcPts val="300"/>
              </a:spcAft>
              <a:buSzPct val="100000"/>
              <a:buChar char="–"/>
            </a:pPr>
            <a:r>
              <a:rPr lang="en-US" sz="950" dirty="0">
                <a:solidFill>
                  <a:srgbClr val="231F20"/>
                </a:solidFill>
                <a:latin typeface="Calibri" pitchFamily="34" charset="0"/>
                <a:ea typeface="Calibri" pitchFamily="34" charset="-122"/>
                <a:cs typeface="Calibri" pitchFamily="34" charset="-120"/>
              </a:rPr>
              <a:t>No statistics needed for most first QIPs</a:t>
            </a:r>
            <a:endParaRPr lang="en-US" sz="1150" dirty="0"/>
          </a:p>
          <a:p>
            <a:pPr indent="0" marL="0">
              <a:spcBef>
                <a:spcPts val="400"/>
              </a:spcBef>
              <a:buNone/>
            </a:pPr>
            <a:r>
              <a:rPr lang="en-US" sz="950" i="1" dirty="0">
                <a:solidFill>
                  <a:srgbClr val="768692"/>
                </a:solidFill>
                <a:latin typeface="Calibri" pitchFamily="34" charset="0"/>
                <a:ea typeface="Calibri" pitchFamily="34" charset="-122"/>
                <a:cs typeface="Calibri" pitchFamily="34" charset="-120"/>
              </a:rPr>
              <a:t>Enter here…</a:t>
            </a:r>
            <a:endParaRPr lang="en-US" sz="1150" dirty="0"/>
          </a:p>
        </p:txBody>
      </p:sp>
      <p:sp>
        <p:nvSpPr>
          <p:cNvPr id="5" name="Text 3"/>
          <p:cNvSpPr/>
          <p:nvPr/>
        </p:nvSpPr>
        <p:spPr>
          <a:xfrm>
            <a:off x="4663440" y="932688"/>
            <a:ext cx="4023360" cy="3200400"/>
          </a:xfrm>
          <a:prstGeom prst="roundRect">
            <a:avLst>
              <a:gd name="adj" fmla="val 2000"/>
            </a:avLst>
          </a:prstGeom>
          <a:solidFill>
            <a:srgbClr val="F0F4F5"/>
          </a:solidFill>
          <a:ln/>
        </p:spPr>
        <p:txBody>
          <a:bodyPr wrap="square" lIns="114300" tIns="114300" rIns="114300" bIns="114300" rtlCol="0" anchor="t"/>
          <a:lstStyle/>
          <a:p>
            <a:pPr indent="0" marL="0">
              <a:spcAft>
                <a:spcPts val="400"/>
              </a:spcAft>
              <a:buNone/>
            </a:pPr>
            <a:r>
              <a:rPr lang="en-US" sz="1150" b="1" dirty="0">
                <a:solidFill>
                  <a:srgbClr val="005EB8"/>
                </a:solidFill>
                <a:latin typeface="Calibri" pitchFamily="34" charset="0"/>
                <a:ea typeface="Calibri" pitchFamily="34" charset="-122"/>
                <a:cs typeface="Calibri" pitchFamily="34" charset="-120"/>
              </a:rPr>
              <a:t>The Words — 11a</a:t>
            </a:r>
            <a:endParaRPr lang="en-US" sz="1150" dirty="0"/>
          </a:p>
          <a:p>
            <a:pPr marL="342900" indent="-342900">
              <a:spcAft>
                <a:spcPts val="300"/>
              </a:spcAft>
              <a:buSzPct val="100000"/>
              <a:buChar char="–"/>
            </a:pPr>
            <a:r>
              <a:rPr lang="en-US" sz="950" dirty="0">
                <a:solidFill>
                  <a:srgbClr val="231F20"/>
                </a:solidFill>
                <a:latin typeface="Calibri" pitchFamily="34" charset="0"/>
                <a:ea typeface="Calibri" pitchFamily="34" charset="-122"/>
                <a:cs typeface="Calibri" pitchFamily="34" charset="-120"/>
              </a:rPr>
              <a:t>Group staff and patient comments into 2–3 themes</a:t>
            </a:r>
            <a:endParaRPr lang="en-US" sz="1150" dirty="0"/>
          </a:p>
          <a:p>
            <a:pPr marL="342900" indent="-342900">
              <a:spcAft>
                <a:spcPts val="300"/>
              </a:spcAft>
              <a:buSzPct val="100000"/>
              <a:buChar char="–"/>
            </a:pPr>
            <a:r>
              <a:rPr lang="en-US" sz="950" dirty="0">
                <a:solidFill>
                  <a:srgbClr val="231F20"/>
                </a:solidFill>
                <a:latin typeface="Calibri" pitchFamily="34" charset="0"/>
                <a:ea typeface="Calibri" pitchFamily="34" charset="-122"/>
                <a:cs typeface="Calibri" pitchFamily="34" charset="-120"/>
              </a:rPr>
              <a:t>Quotes are data — include one or two</a:t>
            </a:r>
            <a:endParaRPr lang="en-US" sz="1150" dirty="0"/>
          </a:p>
          <a:p>
            <a:pPr indent="0" marL="0">
              <a:spcBef>
                <a:spcPts val="400"/>
              </a:spcBef>
              <a:buNone/>
            </a:pPr>
            <a:r>
              <a:rPr lang="en-US" sz="950" i="1" dirty="0">
                <a:solidFill>
                  <a:srgbClr val="768692"/>
                </a:solidFill>
                <a:latin typeface="Calibri" pitchFamily="34" charset="0"/>
                <a:ea typeface="Calibri" pitchFamily="34" charset="-122"/>
                <a:cs typeface="Calibri" pitchFamily="34" charset="-120"/>
              </a:rPr>
              <a:t>Enter here…</a:t>
            </a:r>
            <a:endParaRPr lang="en-US" sz="1150" dirty="0"/>
          </a:p>
        </p:txBody>
      </p:sp>
      <p:sp>
        <p:nvSpPr>
          <p:cNvPr id="6" name="Text 4"/>
          <p:cNvSpPr/>
          <p:nvPr/>
        </p:nvSpPr>
        <p:spPr>
          <a:xfrm>
            <a:off x="457200" y="4315968"/>
            <a:ext cx="8229600" cy="256032"/>
          </a:xfrm>
          <a:prstGeom prst="rect">
            <a:avLst/>
          </a:prstGeom>
          <a:noFill/>
          <a:ln/>
        </p:spPr>
        <p:txBody>
          <a:bodyPr wrap="square" lIns="0" tIns="0" rIns="0" bIns="0" rtlCol="0" anchor="ctr"/>
          <a:lstStyle/>
          <a:p>
            <a:pPr indent="0" marL="0">
              <a:buNone/>
            </a:pPr>
            <a:r>
              <a:rPr lang="en-US" sz="850" i="1" dirty="0">
                <a:solidFill>
                  <a:srgbClr val="425563"/>
                </a:solidFill>
                <a:latin typeface="Calibri" pitchFamily="34" charset="0"/>
                <a:ea typeface="Calibri" pitchFamily="34" charset="-122"/>
                <a:cs typeface="Calibri" pitchFamily="34" charset="-120"/>
              </a:rPr>
              <a:t>A dot every week or two beats one big before/after number — time tells the story.</a:t>
            </a:r>
            <a:endParaRPr lang="en-US" sz="850" dirty="0"/>
          </a:p>
        </p:txBody>
      </p:sp>
      <p:sp>
        <p:nvSpPr>
          <p:cNvPr id="8" name="Text 5"/>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05EB8"/>
                </a:solidFill>
                <a:latin typeface="Calibri" pitchFamily="34" charset="0"/>
                <a:ea typeface="Calibri" pitchFamily="34" charset="-122"/>
                <a:cs typeface="Calibri" pitchFamily="34" charset="-120"/>
              </a:rPr>
              <a:t>AIM Quality Improvement Team  |  Queen Elizabeth Hospital Birmingham</a:t>
            </a:r>
            <a:endParaRPr lang="en-US" sz="750" dirty="0"/>
          </a:p>
        </p:txBody>
      </p:sp>
      <p:sp>
        <p:nvSpPr>
          <p:cNvPr id="9" name="Text 6"/>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AA5AA"/>
                </a:solidFill>
                <a:latin typeface="Calibri" pitchFamily="34" charset="0"/>
                <a:ea typeface="Calibri" pitchFamily="34" charset="-122"/>
                <a:cs typeface="Calibri" pitchFamily="34" charset="-120"/>
              </a:rPr>
              <a:t>SQUIRE 2.0 Presentation Template</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05EB8"/>
                </a:solidFill>
                <a:latin typeface="Calibri" pitchFamily="34" charset="0"/>
                <a:ea typeface="Calibri" pitchFamily="34" charset="-122"/>
                <a:cs typeface="Calibri" pitchFamily="34" charset="-120"/>
              </a:rPr>
              <a:t>IMPLEMENTING AND STUDYING THE INTERVENTION</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231F20"/>
                </a:solidFill>
                <a:latin typeface="Calibri" pitchFamily="34" charset="0"/>
                <a:ea typeface="Calibri" pitchFamily="34" charset="-122"/>
                <a:cs typeface="Calibri" pitchFamily="34" charset="-120"/>
              </a:rPr>
              <a:t>Ethical Considerations</a:t>
            </a:r>
            <a:endParaRPr lang="en-US" sz="2200" dirty="0"/>
          </a:p>
        </p:txBody>
      </p:sp>
      <p:sp>
        <p:nvSpPr>
          <p:cNvPr id="4" name="Text 2"/>
          <p:cNvSpPr/>
          <p:nvPr/>
        </p:nvSpPr>
        <p:spPr>
          <a:xfrm>
            <a:off x="7832750" y="292608"/>
            <a:ext cx="854050" cy="310896"/>
          </a:xfrm>
          <a:prstGeom prst="roundRect">
            <a:avLst>
              <a:gd name="adj" fmla="val 47059"/>
            </a:avLst>
          </a:prstGeom>
          <a:solidFill>
            <a:srgbClr val="005EB8"/>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ITEM 12</a:t>
            </a:r>
            <a:endParaRPr lang="en-US" sz="900" dirty="0"/>
          </a:p>
        </p:txBody>
      </p:sp>
      <p:sp>
        <p:nvSpPr>
          <p:cNvPr id="5" name="Text 3"/>
          <p:cNvSpPr/>
          <p:nvPr/>
        </p:nvSpPr>
        <p:spPr>
          <a:xfrm>
            <a:off x="457200" y="932688"/>
            <a:ext cx="2624328" cy="3108960"/>
          </a:xfrm>
          <a:prstGeom prst="roundRect">
            <a:avLst>
              <a:gd name="adj" fmla="val 2439"/>
            </a:avLst>
          </a:prstGeom>
          <a:solidFill>
            <a:srgbClr val="F0F4F5"/>
          </a:solidFill>
          <a:ln/>
        </p:spPr>
        <p:txBody>
          <a:bodyPr wrap="square" lIns="114300" tIns="114300" rIns="114300" bIns="114300" rtlCol="0" anchor="t"/>
          <a:lstStyle/>
          <a:p>
            <a:pPr indent="0" marL="0">
              <a:spcAft>
                <a:spcPts val="400"/>
              </a:spcAft>
              <a:buNone/>
            </a:pPr>
            <a:r>
              <a:rPr lang="en-US" sz="1150" b="1" dirty="0">
                <a:solidFill>
                  <a:srgbClr val="005EB8"/>
                </a:solidFill>
                <a:latin typeface="Calibri" pitchFamily="34" charset="0"/>
                <a:ea typeface="Calibri" pitchFamily="34" charset="-122"/>
                <a:cs typeface="Calibri" pitchFamily="34" charset="-120"/>
              </a:rPr>
              <a:t>Register It First</a:t>
            </a:r>
            <a:endParaRPr lang="en-US" sz="1150" dirty="0"/>
          </a:p>
          <a:p>
            <a:pPr indent="0" marL="0">
              <a:spcAft>
                <a:spcPts val="300"/>
              </a:spcAft>
              <a:buNone/>
            </a:pPr>
            <a:r>
              <a:rPr lang="en-US" sz="950" dirty="0">
                <a:solidFill>
                  <a:srgbClr val="231F20"/>
                </a:solidFill>
                <a:latin typeface="Calibri" pitchFamily="34" charset="0"/>
                <a:ea typeface="Calibri" pitchFamily="34" charset="-122"/>
                <a:cs typeface="Calibri" pitchFamily="34" charset="-120"/>
              </a:rPr>
              <a:t>Most QIPs don’t need formal ethics approval — but always register locally before starting (CARMS at UHB).</a:t>
            </a:r>
            <a:endParaRPr lang="en-US" sz="1150" dirty="0"/>
          </a:p>
          <a:p>
            <a:pPr indent="0" marL="0">
              <a:spcBef>
                <a:spcPts val="400"/>
              </a:spcBef>
              <a:buNone/>
            </a:pPr>
            <a:r>
              <a:rPr lang="en-US" sz="950" i="1" dirty="0">
                <a:solidFill>
                  <a:srgbClr val="768692"/>
                </a:solidFill>
                <a:latin typeface="Calibri" pitchFamily="34" charset="0"/>
                <a:ea typeface="Calibri" pitchFamily="34" charset="-122"/>
                <a:cs typeface="Calibri" pitchFamily="34" charset="-120"/>
              </a:rPr>
              <a:t>Enter here…</a:t>
            </a:r>
            <a:endParaRPr lang="en-US" sz="1150" dirty="0"/>
          </a:p>
        </p:txBody>
      </p:sp>
      <p:sp>
        <p:nvSpPr>
          <p:cNvPr id="6" name="Text 4"/>
          <p:cNvSpPr/>
          <p:nvPr/>
        </p:nvSpPr>
        <p:spPr>
          <a:xfrm>
            <a:off x="3259836" y="932688"/>
            <a:ext cx="2624328" cy="3108960"/>
          </a:xfrm>
          <a:prstGeom prst="roundRect">
            <a:avLst>
              <a:gd name="adj" fmla="val 2439"/>
            </a:avLst>
          </a:prstGeom>
          <a:solidFill>
            <a:srgbClr val="F0F4F5"/>
          </a:solidFill>
          <a:ln/>
        </p:spPr>
        <p:txBody>
          <a:bodyPr wrap="square" lIns="114300" tIns="114300" rIns="114300" bIns="114300" rtlCol="0" anchor="t"/>
          <a:lstStyle/>
          <a:p>
            <a:pPr indent="0" marL="0">
              <a:spcAft>
                <a:spcPts val="400"/>
              </a:spcAft>
              <a:buNone/>
            </a:pPr>
            <a:r>
              <a:rPr lang="en-US" sz="1150" b="1" dirty="0">
                <a:solidFill>
                  <a:srgbClr val="005EB8"/>
                </a:solidFill>
                <a:latin typeface="Calibri" pitchFamily="34" charset="0"/>
                <a:ea typeface="Calibri" pitchFamily="34" charset="-122"/>
                <a:cs typeface="Calibri" pitchFamily="34" charset="-120"/>
              </a:rPr>
              <a:t>Keep Data Safe</a:t>
            </a:r>
            <a:endParaRPr lang="en-US" sz="1150" dirty="0"/>
          </a:p>
          <a:p>
            <a:pPr indent="0" marL="0">
              <a:spcAft>
                <a:spcPts val="300"/>
              </a:spcAft>
              <a:buNone/>
            </a:pPr>
            <a:r>
              <a:rPr lang="en-US" sz="950" dirty="0">
                <a:solidFill>
                  <a:srgbClr val="231F20"/>
                </a:solidFill>
                <a:latin typeface="Calibri" pitchFamily="34" charset="0"/>
                <a:ea typeface="Calibri" pitchFamily="34" charset="-122"/>
                <a:cs typeface="Calibri" pitchFamily="34" charset="-120"/>
              </a:rPr>
              <a:t>Collect counts, not names — no patient-identifiable data you don’t need.</a:t>
            </a:r>
            <a:endParaRPr lang="en-US" sz="1150" dirty="0"/>
          </a:p>
          <a:p>
            <a:pPr indent="0" marL="0">
              <a:spcBef>
                <a:spcPts val="400"/>
              </a:spcBef>
              <a:buNone/>
            </a:pPr>
            <a:r>
              <a:rPr lang="en-US" sz="950" i="1" dirty="0">
                <a:solidFill>
                  <a:srgbClr val="768692"/>
                </a:solidFill>
                <a:latin typeface="Calibri" pitchFamily="34" charset="0"/>
                <a:ea typeface="Calibri" pitchFamily="34" charset="-122"/>
                <a:cs typeface="Calibri" pitchFamily="34" charset="-120"/>
              </a:rPr>
              <a:t>Enter here…</a:t>
            </a:r>
            <a:endParaRPr lang="en-US" sz="1150" dirty="0"/>
          </a:p>
        </p:txBody>
      </p:sp>
      <p:sp>
        <p:nvSpPr>
          <p:cNvPr id="7" name="Text 5"/>
          <p:cNvSpPr/>
          <p:nvPr/>
        </p:nvSpPr>
        <p:spPr>
          <a:xfrm>
            <a:off x="6062472" y="932688"/>
            <a:ext cx="2624328" cy="3108960"/>
          </a:xfrm>
          <a:prstGeom prst="roundRect">
            <a:avLst>
              <a:gd name="adj" fmla="val 2439"/>
            </a:avLst>
          </a:prstGeom>
          <a:solidFill>
            <a:srgbClr val="F0F4F5"/>
          </a:solidFill>
          <a:ln/>
        </p:spPr>
        <p:txBody>
          <a:bodyPr wrap="square" lIns="114300" tIns="114300" rIns="114300" bIns="114300" rtlCol="0" anchor="t"/>
          <a:lstStyle/>
          <a:p>
            <a:pPr indent="0" marL="0">
              <a:spcAft>
                <a:spcPts val="400"/>
              </a:spcAft>
              <a:buNone/>
            </a:pPr>
            <a:r>
              <a:rPr lang="en-US" sz="1150" b="1" dirty="0">
                <a:solidFill>
                  <a:srgbClr val="005EB8"/>
                </a:solidFill>
                <a:latin typeface="Calibri" pitchFamily="34" charset="0"/>
                <a:ea typeface="Calibri" pitchFamily="34" charset="-122"/>
                <a:cs typeface="Calibri" pitchFamily="34" charset="-120"/>
              </a:rPr>
              <a:t>Conflicts of Interest</a:t>
            </a:r>
            <a:endParaRPr lang="en-US" sz="1150" dirty="0"/>
          </a:p>
          <a:p>
            <a:pPr indent="0" marL="0">
              <a:spcAft>
                <a:spcPts val="300"/>
              </a:spcAft>
              <a:buNone/>
            </a:pPr>
            <a:r>
              <a:rPr lang="en-US" sz="950" dirty="0">
                <a:solidFill>
                  <a:srgbClr val="231F20"/>
                </a:solidFill>
                <a:latin typeface="Calibri" pitchFamily="34" charset="0"/>
                <a:ea typeface="Calibri" pitchFamily="34" charset="-122"/>
                <a:cs typeface="Calibri" pitchFamily="34" charset="-120"/>
              </a:rPr>
              <a:t>Usually none on a first QIP — but say so explicitly.</a:t>
            </a:r>
            <a:endParaRPr lang="en-US" sz="1150" dirty="0"/>
          </a:p>
          <a:p>
            <a:pPr indent="0" marL="0">
              <a:spcBef>
                <a:spcPts val="400"/>
              </a:spcBef>
              <a:buNone/>
            </a:pPr>
            <a:r>
              <a:rPr lang="en-US" sz="950" i="1" dirty="0">
                <a:solidFill>
                  <a:srgbClr val="768692"/>
                </a:solidFill>
                <a:latin typeface="Calibri" pitchFamily="34" charset="0"/>
                <a:ea typeface="Calibri" pitchFamily="34" charset="-122"/>
                <a:cs typeface="Calibri" pitchFamily="34" charset="-120"/>
              </a:rPr>
              <a:t>Enter here…</a:t>
            </a:r>
            <a:endParaRPr lang="en-US" sz="1150" dirty="0"/>
          </a:p>
        </p:txBody>
      </p:sp>
      <p:sp>
        <p:nvSpPr>
          <p:cNvPr id="9" name="Text 6"/>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05EB8"/>
                </a:solidFill>
                <a:latin typeface="Calibri" pitchFamily="34" charset="0"/>
                <a:ea typeface="Calibri" pitchFamily="34" charset="-122"/>
                <a:cs typeface="Calibri" pitchFamily="34" charset="-120"/>
              </a:rPr>
              <a:t>AIM Quality Improvement Team  |  Queen Elizabeth Hospital Birmingham</a:t>
            </a:r>
            <a:endParaRPr lang="en-US" sz="750" dirty="0"/>
          </a:p>
        </p:txBody>
      </p:sp>
      <p:sp>
        <p:nvSpPr>
          <p:cNvPr id="10" name="Text 7"/>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AA5AA"/>
                </a:solidFill>
                <a:latin typeface="Calibri" pitchFamily="34" charset="0"/>
                <a:ea typeface="Calibri" pitchFamily="34" charset="-122"/>
                <a:cs typeface="Calibri" pitchFamily="34" charset="-120"/>
              </a:rPr>
              <a:t>SQUIRE 2.0 Presentation Template</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3087"/>
        </a:solidFill>
      </p:bgPr>
    </p:bg>
    <p:spTree>
      <p:nvGrpSpPr>
        <p:cNvPr id="1" name=""/>
        <p:cNvGrpSpPr/>
        <p:nvPr/>
      </p:nvGrpSpPr>
      <p:grpSpPr>
        <a:xfrm>
          <a:off x="0" y="0"/>
          <a:ext cx="0" cy="0"/>
          <a:chOff x="0" y="0"/>
          <a:chExt cx="0" cy="0"/>
        </a:xfrm>
      </p:grpSpPr>
      <p:sp>
        <p:nvSpPr>
          <p:cNvPr id="2" name="Text 0"/>
          <p:cNvSpPr/>
          <p:nvPr/>
        </p:nvSpPr>
        <p:spPr>
          <a:xfrm>
            <a:off x="5120640" y="502920"/>
            <a:ext cx="3749040" cy="2377440"/>
          </a:xfrm>
          <a:prstGeom prst="rect">
            <a:avLst/>
          </a:prstGeom>
          <a:noFill/>
          <a:ln/>
        </p:spPr>
        <p:txBody>
          <a:bodyPr wrap="square" lIns="0" tIns="0" rIns="0" bIns="0" rtlCol="0" anchor="ctr"/>
          <a:lstStyle/>
          <a:p>
            <a:pPr algn="r" indent="0" marL="0">
              <a:buNone/>
            </a:pPr>
            <a:r>
              <a:rPr lang="en-US" sz="15000" b="1" dirty="0">
                <a:solidFill>
                  <a:srgbClr val="003087"/>
                </a:solidFill>
                <a:latin typeface="Calibri" pitchFamily="34" charset="0"/>
                <a:ea typeface="Calibri" pitchFamily="34" charset="-122"/>
                <a:cs typeface="Calibri" pitchFamily="34" charset="-120"/>
              </a:rPr>
              <a:t>04</a:t>
            </a:r>
            <a:endParaRPr lang="en-US" sz="15000" dirty="0"/>
          </a:p>
        </p:txBody>
      </p:sp>
      <p:sp>
        <p:nvSpPr>
          <p:cNvPr id="3" name="Text 1"/>
          <p:cNvSpPr/>
          <p:nvPr/>
        </p:nvSpPr>
        <p:spPr>
          <a:xfrm>
            <a:off x="640080" y="1298448"/>
            <a:ext cx="6858000" cy="256032"/>
          </a:xfrm>
          <a:prstGeom prst="rect">
            <a:avLst/>
          </a:prstGeom>
          <a:noFill/>
          <a:ln/>
        </p:spPr>
        <p:txBody>
          <a:bodyPr wrap="square" lIns="0" tIns="0" rIns="0" bIns="0" rtlCol="0" anchor="ctr"/>
          <a:lstStyle/>
          <a:p>
            <a:pPr indent="0" marL="0">
              <a:buNone/>
            </a:pPr>
            <a:r>
              <a:rPr lang="en-US" sz="1050" b="1" spc="200" kern="0" dirty="0">
                <a:solidFill>
                  <a:srgbClr val="41B6E6"/>
                </a:solidFill>
                <a:latin typeface="Calibri" pitchFamily="34" charset="0"/>
                <a:ea typeface="Calibri" pitchFamily="34" charset="-122"/>
                <a:cs typeface="Calibri" pitchFamily="34" charset="-120"/>
              </a:rPr>
              <a:t>SECTION 4  ·  ITEM 13</a:t>
            </a:r>
            <a:endParaRPr lang="en-US" sz="1050" dirty="0"/>
          </a:p>
        </p:txBody>
      </p:sp>
      <p:sp>
        <p:nvSpPr>
          <p:cNvPr id="4" name="Text 2"/>
          <p:cNvSpPr/>
          <p:nvPr/>
        </p:nvSpPr>
        <p:spPr>
          <a:xfrm>
            <a:off x="640080" y="1609344"/>
            <a:ext cx="7498080" cy="77724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Results</a:t>
            </a:r>
            <a:endParaRPr lang="en-US" sz="4000" dirty="0"/>
          </a:p>
        </p:txBody>
      </p:sp>
      <p:sp>
        <p:nvSpPr>
          <p:cNvPr id="5" name="Text 3"/>
          <p:cNvSpPr/>
          <p:nvPr/>
        </p:nvSpPr>
        <p:spPr>
          <a:xfrm>
            <a:off x="640080" y="2450592"/>
            <a:ext cx="7498080" cy="365760"/>
          </a:xfrm>
          <a:prstGeom prst="rect">
            <a:avLst/>
          </a:prstGeom>
          <a:noFill/>
          <a:ln/>
        </p:spPr>
        <p:txBody>
          <a:bodyPr wrap="square" lIns="0" tIns="0" rIns="0" bIns="0" rtlCol="0" anchor="ctr"/>
          <a:lstStyle/>
          <a:p>
            <a:pPr indent="0" marL="0">
              <a:buNone/>
            </a:pPr>
            <a:r>
              <a:rPr lang="en-US" sz="1350" i="1" dirty="0">
                <a:solidFill>
                  <a:srgbClr val="E8EDEE"/>
                </a:solidFill>
                <a:latin typeface="Calibri" pitchFamily="34" charset="0"/>
                <a:ea typeface="Calibri" pitchFamily="34" charset="-122"/>
                <a:cs typeface="Calibri" pitchFamily="34" charset="-120"/>
              </a:rPr>
              <a:t>“What did you find?”</a:t>
            </a:r>
            <a:endParaRPr lang="en-US" sz="1350" dirty="0"/>
          </a:p>
        </p:txBody>
      </p:sp>
      <p:sp>
        <p:nvSpPr>
          <p:cNvPr id="6" name="Text 4"/>
          <p:cNvSpPr/>
          <p:nvPr/>
        </p:nvSpPr>
        <p:spPr>
          <a:xfrm>
            <a:off x="640080" y="3310128"/>
            <a:ext cx="1344168" cy="347472"/>
          </a:xfrm>
          <a:prstGeom prst="roundRect">
            <a:avLst>
              <a:gd name="adj" fmla="val 47368"/>
            </a:avLst>
          </a:prstGeom>
          <a:solidFill>
            <a:srgbClr val="0072CE"/>
          </a:solid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13a · Evolution</a:t>
            </a:r>
            <a:endParaRPr lang="en-US" sz="900" dirty="0"/>
          </a:p>
        </p:txBody>
      </p:sp>
      <p:sp>
        <p:nvSpPr>
          <p:cNvPr id="7" name="Text 5"/>
          <p:cNvSpPr/>
          <p:nvPr/>
        </p:nvSpPr>
        <p:spPr>
          <a:xfrm>
            <a:off x="2112264" y="3310128"/>
            <a:ext cx="2223821" cy="347472"/>
          </a:xfrm>
          <a:prstGeom prst="roundRect">
            <a:avLst>
              <a:gd name="adj" fmla="val 47368"/>
            </a:avLst>
          </a:prstGeom>
          <a:solidFill>
            <a:srgbClr val="0072CE"/>
          </a:solid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13b · Process &amp; Outcome Data</a:t>
            </a:r>
            <a:endParaRPr lang="en-US" sz="900" dirty="0"/>
          </a:p>
        </p:txBody>
      </p:sp>
      <p:sp>
        <p:nvSpPr>
          <p:cNvPr id="8" name="Text 6"/>
          <p:cNvSpPr/>
          <p:nvPr/>
        </p:nvSpPr>
        <p:spPr>
          <a:xfrm>
            <a:off x="4464101" y="3310128"/>
            <a:ext cx="2359152" cy="347472"/>
          </a:xfrm>
          <a:prstGeom prst="roundRect">
            <a:avLst>
              <a:gd name="adj" fmla="val 47368"/>
            </a:avLst>
          </a:prstGeom>
          <a:solidFill>
            <a:srgbClr val="0072CE"/>
          </a:solid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13c–d · Context &amp; Associations</a:t>
            </a:r>
            <a:endParaRPr lang="en-US" sz="900" dirty="0"/>
          </a:p>
        </p:txBody>
      </p:sp>
      <p:sp>
        <p:nvSpPr>
          <p:cNvPr id="9" name="Text 7"/>
          <p:cNvSpPr/>
          <p:nvPr/>
        </p:nvSpPr>
        <p:spPr>
          <a:xfrm>
            <a:off x="640080" y="3785616"/>
            <a:ext cx="3103474" cy="347472"/>
          </a:xfrm>
          <a:prstGeom prst="roundRect">
            <a:avLst>
              <a:gd name="adj" fmla="val 47368"/>
            </a:avLst>
          </a:prstGeom>
          <a:solidFill>
            <a:srgbClr val="0072CE"/>
          </a:solid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13e–f · Unintended Effects · Missing Data</a:t>
            </a:r>
            <a:endParaRPr lang="en-US" sz="900" dirty="0"/>
          </a:p>
        </p:txBody>
      </p:sp>
      <p:sp>
        <p:nvSpPr>
          <p:cNvPr id="10" name="Text 8"/>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41B6E6"/>
                </a:solidFill>
                <a:latin typeface="Calibri" pitchFamily="34" charset="0"/>
                <a:ea typeface="Calibri" pitchFamily="34" charset="-122"/>
                <a:cs typeface="Calibri" pitchFamily="34" charset="-120"/>
              </a:rPr>
              <a:t>AIM Quality Improvement Team  |  Queen Elizabeth Hospital Birmingham</a:t>
            </a:r>
            <a:endParaRPr lang="en-US" sz="750" dirty="0"/>
          </a:p>
        </p:txBody>
      </p:sp>
      <p:sp>
        <p:nvSpPr>
          <p:cNvPr id="11" name="Text 9"/>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FB6BC"/>
                </a:solidFill>
                <a:latin typeface="Calibri" pitchFamily="34" charset="0"/>
                <a:ea typeface="Calibri" pitchFamily="34" charset="-122"/>
                <a:cs typeface="Calibri" pitchFamily="34" charset="-120"/>
              </a:rPr>
              <a:t>SQUIRE 2.0 Presentation Template</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05EB8"/>
                </a:solidFill>
                <a:latin typeface="Calibri" pitchFamily="34" charset="0"/>
                <a:ea typeface="Calibri" pitchFamily="34" charset="-122"/>
                <a:cs typeface="Calibri" pitchFamily="34" charset="-120"/>
              </a:rPr>
              <a:t>INITIAL STEPS, MODIFICATIONS AND ADAPTATIONS OVER TIME</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231F20"/>
                </a:solidFill>
                <a:latin typeface="Calibri" pitchFamily="34" charset="0"/>
                <a:ea typeface="Calibri" pitchFamily="34" charset="-122"/>
                <a:cs typeface="Calibri" pitchFamily="34" charset="-120"/>
              </a:rPr>
              <a:t>How the Intervention Evolved</a:t>
            </a:r>
            <a:endParaRPr lang="en-US" sz="2200" dirty="0"/>
          </a:p>
        </p:txBody>
      </p:sp>
      <p:sp>
        <p:nvSpPr>
          <p:cNvPr id="4" name="Text 2"/>
          <p:cNvSpPr/>
          <p:nvPr/>
        </p:nvSpPr>
        <p:spPr>
          <a:xfrm>
            <a:off x="7757770" y="292608"/>
            <a:ext cx="929030" cy="310896"/>
          </a:xfrm>
          <a:prstGeom prst="roundRect">
            <a:avLst>
              <a:gd name="adj" fmla="val 47059"/>
            </a:avLst>
          </a:prstGeom>
          <a:solidFill>
            <a:srgbClr val="005EB8"/>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ITEM 13a</a:t>
            </a:r>
            <a:endParaRPr lang="en-US" sz="900" dirty="0"/>
          </a:p>
        </p:txBody>
      </p:sp>
      <p:sp>
        <p:nvSpPr>
          <p:cNvPr id="5" name="Shape 3"/>
          <p:cNvSpPr/>
          <p:nvPr/>
        </p:nvSpPr>
        <p:spPr>
          <a:xfrm>
            <a:off x="1005840" y="1463040"/>
            <a:ext cx="7132320" cy="13716"/>
          </a:xfrm>
          <a:prstGeom prst="rect">
            <a:avLst/>
          </a:prstGeom>
          <a:solidFill>
            <a:srgbClr val="D8DEE1"/>
          </a:solidFill>
          <a:ln w="12700">
            <a:solidFill>
              <a:srgbClr val="D8DEE1"/>
            </a:solidFill>
            <a:prstDash val="solid"/>
          </a:ln>
        </p:spPr>
      </p:sp>
      <p:sp>
        <p:nvSpPr>
          <p:cNvPr id="6" name="Text 4"/>
          <p:cNvSpPr/>
          <p:nvPr/>
        </p:nvSpPr>
        <p:spPr>
          <a:xfrm>
            <a:off x="1188720" y="1243584"/>
            <a:ext cx="457200" cy="457200"/>
          </a:xfrm>
          <a:prstGeom prst="ellipse">
            <a:avLst/>
          </a:prstGeom>
          <a:solidFill>
            <a:srgbClr val="005EB8"/>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429768" y="1828800"/>
            <a:ext cx="1975104" cy="384048"/>
          </a:xfrm>
          <a:prstGeom prst="rect">
            <a:avLst/>
          </a:prstGeom>
          <a:noFill/>
          <a:ln/>
        </p:spPr>
        <p:txBody>
          <a:bodyPr wrap="square" lIns="0" tIns="0" rIns="0" bIns="0" rtlCol="0" anchor="ctr"/>
          <a:lstStyle/>
          <a:p>
            <a:pPr algn="ctr" indent="0" marL="0">
              <a:buNone/>
            </a:pPr>
            <a:r>
              <a:rPr lang="en-US" sz="950" b="1" dirty="0">
                <a:solidFill>
                  <a:srgbClr val="231F20"/>
                </a:solidFill>
                <a:latin typeface="Calibri" pitchFamily="34" charset="0"/>
                <a:ea typeface="Calibri" pitchFamily="34" charset="-122"/>
                <a:cs typeface="Calibri" pitchFamily="34" charset="-120"/>
              </a:rPr>
              <a:t>Baseline &amp; data collection</a:t>
            </a:r>
            <a:endParaRPr lang="en-US" sz="950" dirty="0"/>
          </a:p>
        </p:txBody>
      </p:sp>
      <p:sp>
        <p:nvSpPr>
          <p:cNvPr id="8" name="Text 6"/>
          <p:cNvSpPr/>
          <p:nvPr/>
        </p:nvSpPr>
        <p:spPr>
          <a:xfrm>
            <a:off x="429768" y="2231136"/>
            <a:ext cx="1975104" cy="274320"/>
          </a:xfrm>
          <a:prstGeom prst="rect">
            <a:avLst/>
          </a:prstGeom>
          <a:noFill/>
          <a:ln/>
        </p:spPr>
        <p:txBody>
          <a:bodyPr wrap="square" lIns="0" tIns="0" rIns="0" bIns="0" rtlCol="0" anchor="ctr"/>
          <a:lstStyle/>
          <a:p>
            <a:pPr algn="ctr" indent="0" marL="0">
              <a:buNone/>
            </a:pPr>
            <a:r>
              <a:rPr lang="en-US" sz="850" i="1" dirty="0">
                <a:solidFill>
                  <a:srgbClr val="768692"/>
                </a:solidFill>
                <a:latin typeface="Calibri" pitchFamily="34" charset="0"/>
                <a:ea typeface="Calibri" pitchFamily="34" charset="-122"/>
                <a:cs typeface="Calibri" pitchFamily="34" charset="-120"/>
              </a:rPr>
              <a:t>Enter date &amp; detail…</a:t>
            </a:r>
            <a:endParaRPr lang="en-US" sz="850" dirty="0"/>
          </a:p>
        </p:txBody>
      </p:sp>
      <p:sp>
        <p:nvSpPr>
          <p:cNvPr id="9" name="Text 7"/>
          <p:cNvSpPr/>
          <p:nvPr/>
        </p:nvSpPr>
        <p:spPr>
          <a:xfrm>
            <a:off x="3291840" y="1243584"/>
            <a:ext cx="457200" cy="457200"/>
          </a:xfrm>
          <a:prstGeom prst="ellipse">
            <a:avLst/>
          </a:prstGeom>
          <a:solidFill>
            <a:srgbClr val="005EB8"/>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2532888" y="1828800"/>
            <a:ext cx="1975104" cy="384048"/>
          </a:xfrm>
          <a:prstGeom prst="rect">
            <a:avLst/>
          </a:prstGeom>
          <a:noFill/>
          <a:ln/>
        </p:spPr>
        <p:txBody>
          <a:bodyPr wrap="square" lIns="0" tIns="0" rIns="0" bIns="0" rtlCol="0" anchor="ctr"/>
          <a:lstStyle/>
          <a:p>
            <a:pPr algn="ctr" indent="0" marL="0">
              <a:buNone/>
            </a:pPr>
            <a:r>
              <a:rPr lang="en-US" sz="950" b="1" dirty="0">
                <a:solidFill>
                  <a:srgbClr val="231F20"/>
                </a:solidFill>
                <a:latin typeface="Calibri" pitchFamily="34" charset="0"/>
                <a:ea typeface="Calibri" pitchFamily="34" charset="-122"/>
                <a:cs typeface="Calibri" pitchFamily="34" charset="-120"/>
              </a:rPr>
              <a:t>PDSA Cycle 1 begins</a:t>
            </a:r>
            <a:endParaRPr lang="en-US" sz="950" dirty="0"/>
          </a:p>
        </p:txBody>
      </p:sp>
      <p:sp>
        <p:nvSpPr>
          <p:cNvPr id="11" name="Text 9"/>
          <p:cNvSpPr/>
          <p:nvPr/>
        </p:nvSpPr>
        <p:spPr>
          <a:xfrm>
            <a:off x="2532888" y="2231136"/>
            <a:ext cx="1975104" cy="274320"/>
          </a:xfrm>
          <a:prstGeom prst="rect">
            <a:avLst/>
          </a:prstGeom>
          <a:noFill/>
          <a:ln/>
        </p:spPr>
        <p:txBody>
          <a:bodyPr wrap="square" lIns="0" tIns="0" rIns="0" bIns="0" rtlCol="0" anchor="ctr"/>
          <a:lstStyle/>
          <a:p>
            <a:pPr algn="ctr" indent="0" marL="0">
              <a:buNone/>
            </a:pPr>
            <a:r>
              <a:rPr lang="en-US" sz="850" i="1" dirty="0">
                <a:solidFill>
                  <a:srgbClr val="768692"/>
                </a:solidFill>
                <a:latin typeface="Calibri" pitchFamily="34" charset="0"/>
                <a:ea typeface="Calibri" pitchFamily="34" charset="-122"/>
                <a:cs typeface="Calibri" pitchFamily="34" charset="-120"/>
              </a:rPr>
              <a:t>Enter date &amp; detail…</a:t>
            </a:r>
            <a:endParaRPr lang="en-US" sz="850" dirty="0"/>
          </a:p>
        </p:txBody>
      </p:sp>
      <p:sp>
        <p:nvSpPr>
          <p:cNvPr id="12" name="Text 10"/>
          <p:cNvSpPr/>
          <p:nvPr/>
        </p:nvSpPr>
        <p:spPr>
          <a:xfrm>
            <a:off x="5394960" y="1243584"/>
            <a:ext cx="457200" cy="457200"/>
          </a:xfrm>
          <a:prstGeom prst="ellipse">
            <a:avLst/>
          </a:prstGeom>
          <a:solidFill>
            <a:srgbClr val="005EB8"/>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p:nvPr/>
        </p:nvSpPr>
        <p:spPr>
          <a:xfrm>
            <a:off x="4636008" y="1828800"/>
            <a:ext cx="1975104" cy="384048"/>
          </a:xfrm>
          <a:prstGeom prst="rect">
            <a:avLst/>
          </a:prstGeom>
          <a:noFill/>
          <a:ln/>
        </p:spPr>
        <p:txBody>
          <a:bodyPr wrap="square" lIns="0" tIns="0" rIns="0" bIns="0" rtlCol="0" anchor="ctr"/>
          <a:lstStyle/>
          <a:p>
            <a:pPr algn="ctr" indent="0" marL="0">
              <a:buNone/>
            </a:pPr>
            <a:r>
              <a:rPr lang="en-US" sz="950" b="1" dirty="0">
                <a:solidFill>
                  <a:srgbClr val="231F20"/>
                </a:solidFill>
                <a:latin typeface="Calibri" pitchFamily="34" charset="0"/>
                <a:ea typeface="Calibri" pitchFamily="34" charset="-122"/>
                <a:cs typeface="Calibri" pitchFamily="34" charset="-120"/>
              </a:rPr>
              <a:t>Modification made</a:t>
            </a:r>
            <a:endParaRPr lang="en-US" sz="950" dirty="0"/>
          </a:p>
        </p:txBody>
      </p:sp>
      <p:sp>
        <p:nvSpPr>
          <p:cNvPr id="14" name="Text 12"/>
          <p:cNvSpPr/>
          <p:nvPr/>
        </p:nvSpPr>
        <p:spPr>
          <a:xfrm>
            <a:off x="4636008" y="2231136"/>
            <a:ext cx="1975104" cy="274320"/>
          </a:xfrm>
          <a:prstGeom prst="rect">
            <a:avLst/>
          </a:prstGeom>
          <a:noFill/>
          <a:ln/>
        </p:spPr>
        <p:txBody>
          <a:bodyPr wrap="square" lIns="0" tIns="0" rIns="0" bIns="0" rtlCol="0" anchor="ctr"/>
          <a:lstStyle/>
          <a:p>
            <a:pPr algn="ctr" indent="0" marL="0">
              <a:buNone/>
            </a:pPr>
            <a:r>
              <a:rPr lang="en-US" sz="850" i="1" dirty="0">
                <a:solidFill>
                  <a:srgbClr val="768692"/>
                </a:solidFill>
                <a:latin typeface="Calibri" pitchFamily="34" charset="0"/>
                <a:ea typeface="Calibri" pitchFamily="34" charset="-122"/>
                <a:cs typeface="Calibri" pitchFamily="34" charset="-120"/>
              </a:rPr>
              <a:t>Enter date &amp; detail…</a:t>
            </a:r>
            <a:endParaRPr lang="en-US" sz="850" dirty="0"/>
          </a:p>
        </p:txBody>
      </p:sp>
      <p:sp>
        <p:nvSpPr>
          <p:cNvPr id="15" name="Text 13"/>
          <p:cNvSpPr/>
          <p:nvPr/>
        </p:nvSpPr>
        <p:spPr>
          <a:xfrm>
            <a:off x="7498080" y="1243584"/>
            <a:ext cx="457200" cy="457200"/>
          </a:xfrm>
          <a:prstGeom prst="ellipse">
            <a:avLst/>
          </a:prstGeom>
          <a:solidFill>
            <a:srgbClr val="005EB8"/>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p:nvPr/>
        </p:nvSpPr>
        <p:spPr>
          <a:xfrm>
            <a:off x="6739128" y="1828800"/>
            <a:ext cx="1975104" cy="384048"/>
          </a:xfrm>
          <a:prstGeom prst="rect">
            <a:avLst/>
          </a:prstGeom>
          <a:noFill/>
          <a:ln/>
        </p:spPr>
        <p:txBody>
          <a:bodyPr wrap="square" lIns="0" tIns="0" rIns="0" bIns="0" rtlCol="0" anchor="ctr"/>
          <a:lstStyle/>
          <a:p>
            <a:pPr algn="ctr" indent="0" marL="0">
              <a:buNone/>
            </a:pPr>
            <a:r>
              <a:rPr lang="en-US" sz="950" b="1" dirty="0">
                <a:solidFill>
                  <a:srgbClr val="231F20"/>
                </a:solidFill>
                <a:latin typeface="Calibri" pitchFamily="34" charset="0"/>
                <a:ea typeface="Calibri" pitchFamily="34" charset="-122"/>
                <a:cs typeface="Calibri" pitchFamily="34" charset="-120"/>
              </a:rPr>
              <a:t>Re-audit / PDSA Cycle 2</a:t>
            </a:r>
            <a:endParaRPr lang="en-US" sz="950" dirty="0"/>
          </a:p>
        </p:txBody>
      </p:sp>
      <p:sp>
        <p:nvSpPr>
          <p:cNvPr id="17" name="Text 15"/>
          <p:cNvSpPr/>
          <p:nvPr/>
        </p:nvSpPr>
        <p:spPr>
          <a:xfrm>
            <a:off x="6739128" y="2231136"/>
            <a:ext cx="1975104" cy="274320"/>
          </a:xfrm>
          <a:prstGeom prst="rect">
            <a:avLst/>
          </a:prstGeom>
          <a:noFill/>
          <a:ln/>
        </p:spPr>
        <p:txBody>
          <a:bodyPr wrap="square" lIns="0" tIns="0" rIns="0" bIns="0" rtlCol="0" anchor="ctr"/>
          <a:lstStyle/>
          <a:p>
            <a:pPr algn="ctr" indent="0" marL="0">
              <a:buNone/>
            </a:pPr>
            <a:r>
              <a:rPr lang="en-US" sz="850" i="1" dirty="0">
                <a:solidFill>
                  <a:srgbClr val="768692"/>
                </a:solidFill>
                <a:latin typeface="Calibri" pitchFamily="34" charset="0"/>
                <a:ea typeface="Calibri" pitchFamily="34" charset="-122"/>
                <a:cs typeface="Calibri" pitchFamily="34" charset="-120"/>
              </a:rPr>
              <a:t>Enter date &amp; detail…</a:t>
            </a:r>
            <a:endParaRPr lang="en-US" sz="850" dirty="0"/>
          </a:p>
        </p:txBody>
      </p:sp>
      <p:sp>
        <p:nvSpPr>
          <p:cNvPr id="18" name="Text 16"/>
          <p:cNvSpPr/>
          <p:nvPr/>
        </p:nvSpPr>
        <p:spPr>
          <a:xfrm>
            <a:off x="457200" y="2880360"/>
            <a:ext cx="8229600" cy="1463040"/>
          </a:xfrm>
          <a:prstGeom prst="roundRect">
            <a:avLst>
              <a:gd name="adj" fmla="val 4375"/>
            </a:avLst>
          </a:prstGeom>
          <a:solidFill>
            <a:srgbClr val="F0F4F5"/>
          </a:solidFill>
          <a:ln/>
        </p:spPr>
        <p:txBody>
          <a:bodyPr wrap="square" lIns="114300" tIns="114300" rIns="114300" bIns="114300" rtlCol="0" anchor="t"/>
          <a:lstStyle/>
          <a:p>
            <a:pPr indent="0" marL="0">
              <a:spcAft>
                <a:spcPts val="400"/>
              </a:spcAft>
              <a:buNone/>
            </a:pPr>
            <a:r>
              <a:rPr lang="en-US" sz="1150" b="1" dirty="0">
                <a:solidFill>
                  <a:srgbClr val="005EB8"/>
                </a:solidFill>
                <a:latin typeface="Calibri" pitchFamily="34" charset="0"/>
                <a:ea typeface="Calibri" pitchFamily="34" charset="-122"/>
                <a:cs typeface="Calibri" pitchFamily="34" charset="-120"/>
              </a:rPr>
              <a:t>Changes made along the way</a:t>
            </a:r>
            <a:endParaRPr lang="en-US" sz="1150" dirty="0"/>
          </a:p>
          <a:p>
            <a:pPr indent="0" marL="0">
              <a:spcAft>
                <a:spcPts val="300"/>
              </a:spcAft>
              <a:buNone/>
            </a:pPr>
            <a:r>
              <a:rPr lang="en-US" sz="950" dirty="0">
                <a:solidFill>
                  <a:srgbClr val="231F20"/>
                </a:solidFill>
                <a:latin typeface="Calibri" pitchFamily="34" charset="0"/>
                <a:ea typeface="Calibri" pitchFamily="34" charset="-122"/>
                <a:cs typeface="Calibri" pitchFamily="34" charset="-120"/>
              </a:rPr>
              <a:t>Changed the plan halfway through? Write it down — adaptations are findings, not failures.</a:t>
            </a:r>
            <a:endParaRPr lang="en-US" sz="1150" dirty="0"/>
          </a:p>
          <a:p>
            <a:pPr indent="0" marL="0">
              <a:spcBef>
                <a:spcPts val="400"/>
              </a:spcBef>
              <a:buNone/>
            </a:pPr>
            <a:r>
              <a:rPr lang="en-US" sz="950" i="1" dirty="0">
                <a:solidFill>
                  <a:srgbClr val="768692"/>
                </a:solidFill>
                <a:latin typeface="Calibri" pitchFamily="34" charset="0"/>
                <a:ea typeface="Calibri" pitchFamily="34" charset="-122"/>
                <a:cs typeface="Calibri" pitchFamily="34" charset="-120"/>
              </a:rPr>
              <a:t>Enter here…</a:t>
            </a:r>
            <a:endParaRPr lang="en-US" sz="1150" dirty="0"/>
          </a:p>
        </p:txBody>
      </p:sp>
      <p:sp>
        <p:nvSpPr>
          <p:cNvPr id="19" name="Text 17"/>
          <p:cNvSpPr/>
          <p:nvPr/>
        </p:nvSpPr>
        <p:spPr>
          <a:xfrm>
            <a:off x="457200" y="4498848"/>
            <a:ext cx="8229600" cy="256032"/>
          </a:xfrm>
          <a:prstGeom prst="rect">
            <a:avLst/>
          </a:prstGeom>
          <a:noFill/>
          <a:ln/>
        </p:spPr>
        <p:txBody>
          <a:bodyPr wrap="square" lIns="0" tIns="0" rIns="0" bIns="0" rtlCol="0" anchor="ctr"/>
          <a:lstStyle/>
          <a:p>
            <a:pPr indent="0" marL="0">
              <a:buNone/>
            </a:pPr>
            <a:r>
              <a:rPr lang="en-US" sz="850" i="1" dirty="0">
                <a:solidFill>
                  <a:srgbClr val="425563"/>
                </a:solidFill>
                <a:latin typeface="Calibri" pitchFamily="34" charset="0"/>
                <a:ea typeface="Calibri" pitchFamily="34" charset="-122"/>
                <a:cs typeface="Calibri" pitchFamily="34" charset="-120"/>
              </a:rPr>
              <a:t>Item 13a — show the initial steps of the intervention(s) and their evolution, including modifications made during the project.</a:t>
            </a:r>
            <a:endParaRPr lang="en-US" sz="850" dirty="0"/>
          </a:p>
        </p:txBody>
      </p:sp>
      <p:sp>
        <p:nvSpPr>
          <p:cNvPr id="21" name="Text 18"/>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05EB8"/>
                </a:solidFill>
                <a:latin typeface="Calibri" pitchFamily="34" charset="0"/>
                <a:ea typeface="Calibri" pitchFamily="34" charset="-122"/>
                <a:cs typeface="Calibri" pitchFamily="34" charset="-120"/>
              </a:rPr>
              <a:t>AIM Quality Improvement Team  |  Queen Elizabeth Hospital Birmingham</a:t>
            </a:r>
            <a:endParaRPr lang="en-US" sz="750" dirty="0"/>
          </a:p>
        </p:txBody>
      </p:sp>
      <p:sp>
        <p:nvSpPr>
          <p:cNvPr id="22" name="Text 19"/>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AA5AA"/>
                </a:solidFill>
                <a:latin typeface="Calibri" pitchFamily="34" charset="0"/>
                <a:ea typeface="Calibri" pitchFamily="34" charset="-122"/>
                <a:cs typeface="Calibri" pitchFamily="34" charset="-120"/>
              </a:rPr>
              <a:t>SQUIRE 2.0 Presentation Template</a:t>
            </a:r>
            <a:endParaRPr lang="en-US" sz="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274320"/>
            <a:ext cx="6766560" cy="475488"/>
          </a:xfrm>
          <a:prstGeom prst="rect">
            <a:avLst/>
          </a:prstGeom>
          <a:noFill/>
          <a:ln/>
        </p:spPr>
        <p:txBody>
          <a:bodyPr wrap="square" lIns="0" tIns="0" rIns="0" bIns="0" rtlCol="0" anchor="ctr"/>
          <a:lstStyle/>
          <a:p>
            <a:pPr indent="0" marL="0">
              <a:buNone/>
            </a:pPr>
            <a:r>
              <a:rPr lang="en-US" sz="2200" b="1" dirty="0">
                <a:solidFill>
                  <a:srgbClr val="231F20"/>
                </a:solidFill>
                <a:latin typeface="Calibri" pitchFamily="34" charset="0"/>
                <a:ea typeface="Calibri" pitchFamily="34" charset="-122"/>
                <a:cs typeface="Calibri" pitchFamily="34" charset="-120"/>
              </a:rPr>
              <a:t>Key Findings — Process &amp; Outcome Data</a:t>
            </a:r>
            <a:endParaRPr lang="en-US" sz="2200" dirty="0"/>
          </a:p>
        </p:txBody>
      </p:sp>
      <p:sp>
        <p:nvSpPr>
          <p:cNvPr id="3" name="Text 1"/>
          <p:cNvSpPr/>
          <p:nvPr/>
        </p:nvSpPr>
        <p:spPr>
          <a:xfrm>
            <a:off x="7757770" y="292608"/>
            <a:ext cx="929030" cy="310896"/>
          </a:xfrm>
          <a:prstGeom prst="roundRect">
            <a:avLst>
              <a:gd name="adj" fmla="val 47059"/>
            </a:avLst>
          </a:prstGeom>
          <a:solidFill>
            <a:srgbClr val="005EB8"/>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ITEM 13b</a:t>
            </a:r>
            <a:endParaRPr lang="en-US" sz="900" dirty="0"/>
          </a:p>
        </p:txBody>
      </p:sp>
      <p:sp>
        <p:nvSpPr>
          <p:cNvPr id="4" name="Text 2"/>
          <p:cNvSpPr/>
          <p:nvPr/>
        </p:nvSpPr>
        <p:spPr>
          <a:xfrm>
            <a:off x="457200" y="932688"/>
            <a:ext cx="5486400" cy="3246120"/>
          </a:xfrm>
          <a:prstGeom prst="rect">
            <a:avLst/>
          </a:prstGeom>
          <a:solidFill>
            <a:srgbClr val="F0F4F5"/>
          </a:solidFill>
          <a:ln w="12700">
            <a:solidFill>
              <a:srgbClr val="005EB8"/>
            </a:solidFill>
            <a:prstDash val="dash"/>
          </a:ln>
        </p:spPr>
        <p:txBody>
          <a:bodyPr wrap="square" lIns="228600" tIns="228600" rIns="228600" bIns="228600" rtlCol="0" anchor="ctr"/>
          <a:lstStyle/>
          <a:p>
            <a:pPr algn="ctr" indent="0" marL="0">
              <a:buNone/>
            </a:pPr>
            <a:r>
              <a:rPr lang="en-US" sz="1050" i="1" dirty="0">
                <a:solidFill>
                  <a:srgbClr val="768692"/>
                </a:solidFill>
                <a:latin typeface="Calibri" pitchFamily="34" charset="0"/>
                <a:ea typeface="Calibri" pitchFamily="34" charset="-122"/>
                <a:cs typeface="Calibri" pitchFamily="34" charset="-120"/>
              </a:rPr>
              <a:t>Insert your run chart here — your measure over time,</a:t>
            </a:r>
            <a:endParaRPr lang="en-US" sz="1050" dirty="0"/>
          </a:p>
          <a:p>
            <a:pPr algn="ctr" indent="0" marL="0">
              <a:buNone/>
            </a:pPr>
            <a:r>
              <a:rPr lang="en-US" sz="1050" i="1" dirty="0">
                <a:solidFill>
                  <a:srgbClr val="768692"/>
                </a:solidFill>
                <a:latin typeface="Calibri" pitchFamily="34" charset="0"/>
                <a:ea typeface="Calibri" pitchFamily="34" charset="-122"/>
                <a:cs typeface="Calibri" pitchFamily="34" charset="-120"/>
              </a:rPr>
              <a:t>with an arrow marking when you made your change.</a:t>
            </a:r>
            <a:endParaRPr lang="en-US" sz="1050" dirty="0"/>
          </a:p>
        </p:txBody>
      </p:sp>
      <p:sp>
        <p:nvSpPr>
          <p:cNvPr id="5" name="Text 3"/>
          <p:cNvSpPr/>
          <p:nvPr/>
        </p:nvSpPr>
        <p:spPr>
          <a:xfrm>
            <a:off x="6126480" y="932688"/>
            <a:ext cx="2560320" cy="1554480"/>
          </a:xfrm>
          <a:prstGeom prst="roundRect">
            <a:avLst>
              <a:gd name="adj" fmla="val 4118"/>
            </a:avLst>
          </a:prstGeom>
          <a:solidFill>
            <a:srgbClr val="F0F4F5"/>
          </a:solidFill>
          <a:ln/>
        </p:spPr>
        <p:txBody>
          <a:bodyPr wrap="square" lIns="114300" tIns="114300" rIns="114300" bIns="114300" rtlCol="0" anchor="t"/>
          <a:lstStyle/>
          <a:p>
            <a:pPr indent="0" marL="0">
              <a:spcAft>
                <a:spcPts val="400"/>
              </a:spcAft>
              <a:buNone/>
            </a:pPr>
            <a:r>
              <a:rPr lang="en-US" sz="1050" b="1" dirty="0">
                <a:solidFill>
                  <a:srgbClr val="005EB8"/>
                </a:solidFill>
                <a:latin typeface="Calibri" pitchFamily="34" charset="0"/>
                <a:ea typeface="Calibri" pitchFamily="34" charset="-122"/>
                <a:cs typeface="Calibri" pitchFamily="34" charset="-120"/>
              </a:rPr>
              <a:t>Headline Result</a:t>
            </a:r>
            <a:endParaRPr lang="en-US" sz="1050" dirty="0"/>
          </a:p>
          <a:p>
            <a:pPr indent="0" marL="0">
              <a:spcAft>
                <a:spcPts val="400"/>
              </a:spcAft>
              <a:buNone/>
            </a:pPr>
            <a:r>
              <a:rPr lang="en-US" sz="850" dirty="0">
                <a:solidFill>
                  <a:srgbClr val="231F20"/>
                </a:solidFill>
                <a:latin typeface="Calibri" pitchFamily="34" charset="0"/>
                <a:ea typeface="Calibri" pitchFamily="34" charset="-122"/>
                <a:cs typeface="Calibri" pitchFamily="34" charset="-120"/>
              </a:rPr>
              <a:t>Before vs after, against your aim — e.g. “60% → 85%”.</a:t>
            </a:r>
            <a:endParaRPr lang="en-US" sz="1050" dirty="0"/>
          </a:p>
          <a:p>
            <a:pPr indent="0" marL="0">
              <a:spcBef>
                <a:spcPts val="400"/>
              </a:spcBef>
              <a:buNone/>
            </a:pPr>
            <a:r>
              <a:rPr lang="en-US" sz="950" i="1" dirty="0">
                <a:solidFill>
                  <a:srgbClr val="768692"/>
                </a:solidFill>
                <a:latin typeface="Calibri" pitchFamily="34" charset="0"/>
                <a:ea typeface="Calibri" pitchFamily="34" charset="-122"/>
                <a:cs typeface="Calibri" pitchFamily="34" charset="-120"/>
              </a:rPr>
              <a:t>Enter here…</a:t>
            </a:r>
            <a:endParaRPr lang="en-US" sz="1050" dirty="0"/>
          </a:p>
        </p:txBody>
      </p:sp>
      <p:sp>
        <p:nvSpPr>
          <p:cNvPr id="6" name="Text 4"/>
          <p:cNvSpPr/>
          <p:nvPr/>
        </p:nvSpPr>
        <p:spPr>
          <a:xfrm>
            <a:off x="6126480" y="2624328"/>
            <a:ext cx="2560320" cy="1554480"/>
          </a:xfrm>
          <a:prstGeom prst="roundRect">
            <a:avLst>
              <a:gd name="adj" fmla="val 4118"/>
            </a:avLst>
          </a:prstGeom>
          <a:solidFill>
            <a:srgbClr val="F0F4F5"/>
          </a:solidFill>
          <a:ln/>
        </p:spPr>
        <p:txBody>
          <a:bodyPr wrap="square" lIns="114300" tIns="114300" rIns="114300" bIns="114300" rtlCol="0" anchor="t"/>
          <a:lstStyle/>
          <a:p>
            <a:pPr indent="0" marL="0">
              <a:spcAft>
                <a:spcPts val="400"/>
              </a:spcAft>
              <a:buNone/>
            </a:pPr>
            <a:r>
              <a:rPr lang="en-US" sz="1050" b="1" dirty="0">
                <a:solidFill>
                  <a:srgbClr val="005EB8"/>
                </a:solidFill>
                <a:latin typeface="Calibri" pitchFamily="34" charset="0"/>
                <a:ea typeface="Calibri" pitchFamily="34" charset="-122"/>
                <a:cs typeface="Calibri" pitchFamily="34" charset="-120"/>
              </a:rPr>
              <a:t>Signals of Change</a:t>
            </a:r>
            <a:endParaRPr lang="en-US" sz="1050" dirty="0"/>
          </a:p>
          <a:p>
            <a:pPr indent="0" marL="0">
              <a:spcAft>
                <a:spcPts val="300"/>
              </a:spcAft>
              <a:buNone/>
            </a:pPr>
            <a:r>
              <a:rPr lang="en-US" sz="850" dirty="0">
                <a:solidFill>
                  <a:srgbClr val="231F20"/>
                </a:solidFill>
                <a:latin typeface="Calibri" pitchFamily="34" charset="0"/>
                <a:ea typeface="Calibri" pitchFamily="34" charset="-122"/>
                <a:cs typeface="Calibri" pitchFamily="34" charset="-120"/>
              </a:rPr>
              <a:t>Shift — 6+ points same side of the median.</a:t>
            </a:r>
            <a:endParaRPr lang="en-US" sz="1050" dirty="0"/>
          </a:p>
          <a:p>
            <a:pPr indent="0" marL="0">
              <a:buNone/>
            </a:pPr>
            <a:r>
              <a:rPr lang="en-US" sz="850" dirty="0">
                <a:solidFill>
                  <a:srgbClr val="231F20"/>
                </a:solidFill>
                <a:latin typeface="Calibri" pitchFamily="34" charset="0"/>
                <a:ea typeface="Calibri" pitchFamily="34" charset="-122"/>
                <a:cs typeface="Calibri" pitchFamily="34" charset="-120"/>
              </a:rPr>
              <a:t>Trend — 5+ points all rising or falling.</a:t>
            </a:r>
            <a:endParaRPr lang="en-US" sz="1050" dirty="0"/>
          </a:p>
        </p:txBody>
      </p:sp>
      <p:sp>
        <p:nvSpPr>
          <p:cNvPr id="7" name="Text 5"/>
          <p:cNvSpPr/>
          <p:nvPr/>
        </p:nvSpPr>
        <p:spPr>
          <a:xfrm>
            <a:off x="457200" y="4343400"/>
            <a:ext cx="8229600" cy="256032"/>
          </a:xfrm>
          <a:prstGeom prst="rect">
            <a:avLst/>
          </a:prstGeom>
          <a:noFill/>
          <a:ln/>
        </p:spPr>
        <p:txBody>
          <a:bodyPr wrap="square" lIns="0" tIns="0" rIns="0" bIns="0" rtlCol="0" anchor="ctr"/>
          <a:lstStyle/>
          <a:p>
            <a:pPr indent="0" marL="0">
              <a:buNone/>
            </a:pPr>
            <a:r>
              <a:rPr lang="en-US" sz="850" i="1" dirty="0">
                <a:solidFill>
                  <a:srgbClr val="425563"/>
                </a:solidFill>
                <a:latin typeface="Calibri" pitchFamily="34" charset="0"/>
                <a:ea typeface="Calibri" pitchFamily="34" charset="-122"/>
                <a:cs typeface="Calibri" pitchFamily="34" charset="-120"/>
              </a:rPr>
              <a:t>One message per slide. Didn’t hit the target? Show it anyway — honest data is good data.</a:t>
            </a:r>
            <a:endParaRPr lang="en-US" sz="850" dirty="0"/>
          </a:p>
        </p:txBody>
      </p:sp>
      <p:sp>
        <p:nvSpPr>
          <p:cNvPr id="9" name="Text 6"/>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05EB8"/>
                </a:solidFill>
                <a:latin typeface="Calibri" pitchFamily="34" charset="0"/>
                <a:ea typeface="Calibri" pitchFamily="34" charset="-122"/>
                <a:cs typeface="Calibri" pitchFamily="34" charset="-120"/>
              </a:rPr>
              <a:t>AIM Quality Improvement Team  |  Queen Elizabeth Hospital Birmingham</a:t>
            </a:r>
            <a:endParaRPr lang="en-US" sz="750" dirty="0"/>
          </a:p>
        </p:txBody>
      </p:sp>
      <p:sp>
        <p:nvSpPr>
          <p:cNvPr id="10" name="Text 7"/>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AA5AA"/>
                </a:solidFill>
                <a:latin typeface="Calibri" pitchFamily="34" charset="0"/>
                <a:ea typeface="Calibri" pitchFamily="34" charset="-122"/>
                <a:cs typeface="Calibri" pitchFamily="34" charset="-120"/>
              </a:rPr>
              <a:t>SQUIRE 2.0 Presentation Template</a:t>
            </a:r>
            <a:endParaRPr lang="en-US" sz="7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274320"/>
            <a:ext cx="6766560" cy="475488"/>
          </a:xfrm>
          <a:prstGeom prst="rect">
            <a:avLst/>
          </a:prstGeom>
          <a:noFill/>
          <a:ln/>
        </p:spPr>
        <p:txBody>
          <a:bodyPr wrap="square" lIns="0" tIns="0" rIns="0" bIns="0" rtlCol="0" anchor="ctr"/>
          <a:lstStyle/>
          <a:p>
            <a:pPr indent="0" marL="0">
              <a:buNone/>
            </a:pPr>
            <a:r>
              <a:rPr lang="en-US" sz="2200" b="1" dirty="0">
                <a:solidFill>
                  <a:srgbClr val="231F20"/>
                </a:solidFill>
                <a:latin typeface="Calibri" pitchFamily="34" charset="0"/>
                <a:ea typeface="Calibri" pitchFamily="34" charset="-122"/>
                <a:cs typeface="Calibri" pitchFamily="34" charset="-120"/>
              </a:rPr>
              <a:t>Context &amp; Associations</a:t>
            </a:r>
            <a:endParaRPr lang="en-US" sz="2200" dirty="0"/>
          </a:p>
        </p:txBody>
      </p:sp>
      <p:sp>
        <p:nvSpPr>
          <p:cNvPr id="3" name="Text 1"/>
          <p:cNvSpPr/>
          <p:nvPr/>
        </p:nvSpPr>
        <p:spPr>
          <a:xfrm>
            <a:off x="7532827" y="292608"/>
            <a:ext cx="1153973" cy="310896"/>
          </a:xfrm>
          <a:prstGeom prst="roundRect">
            <a:avLst>
              <a:gd name="adj" fmla="val 47059"/>
            </a:avLst>
          </a:prstGeom>
          <a:solidFill>
            <a:srgbClr val="005EB8"/>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ITEMS 13c–d</a:t>
            </a:r>
            <a:endParaRPr lang="en-US" sz="900" dirty="0"/>
          </a:p>
        </p:txBody>
      </p:sp>
      <p:sp>
        <p:nvSpPr>
          <p:cNvPr id="4" name="Text 2"/>
          <p:cNvSpPr/>
          <p:nvPr/>
        </p:nvSpPr>
        <p:spPr>
          <a:xfrm>
            <a:off x="457200" y="932688"/>
            <a:ext cx="4023360" cy="3291840"/>
          </a:xfrm>
          <a:prstGeom prst="roundRect">
            <a:avLst>
              <a:gd name="adj" fmla="val 1944"/>
            </a:avLst>
          </a:prstGeom>
          <a:solidFill>
            <a:srgbClr val="F0F4F5"/>
          </a:solidFill>
          <a:ln/>
        </p:spPr>
        <p:txBody>
          <a:bodyPr wrap="square" lIns="114300" tIns="114300" rIns="114300" bIns="114300" rtlCol="0" anchor="t"/>
          <a:lstStyle/>
          <a:p>
            <a:pPr indent="0" marL="0">
              <a:spcAft>
                <a:spcPts val="400"/>
              </a:spcAft>
              <a:buNone/>
            </a:pPr>
            <a:r>
              <a:rPr lang="en-US" sz="1150" b="1" dirty="0">
                <a:solidFill>
                  <a:srgbClr val="005EB8"/>
                </a:solidFill>
                <a:latin typeface="Calibri" pitchFamily="34" charset="0"/>
                <a:ea typeface="Calibri" pitchFamily="34" charset="-122"/>
                <a:cs typeface="Calibri" pitchFamily="34" charset="-120"/>
              </a:rPr>
              <a:t>Contextual Interactions — 13c</a:t>
            </a:r>
            <a:endParaRPr lang="en-US" sz="1150" dirty="0"/>
          </a:p>
          <a:p>
            <a:pPr indent="0" marL="0">
              <a:spcAft>
                <a:spcPts val="300"/>
              </a:spcAft>
              <a:buNone/>
            </a:pPr>
            <a:r>
              <a:rPr lang="en-US" sz="950" dirty="0">
                <a:solidFill>
                  <a:srgbClr val="231F20"/>
                </a:solidFill>
                <a:latin typeface="Calibri" pitchFamily="34" charset="0"/>
                <a:ea typeface="Calibri" pitchFamily="34" charset="-122"/>
                <a:cs typeface="Calibri" pitchFamily="34" charset="-120"/>
              </a:rPr>
              <a:t>What helped or got in the way — a supportive ward sister, winter pressures, rota gaps?</a:t>
            </a:r>
            <a:endParaRPr lang="en-US" sz="1150" dirty="0"/>
          </a:p>
          <a:p>
            <a:pPr indent="0" marL="0">
              <a:spcBef>
                <a:spcPts val="400"/>
              </a:spcBef>
              <a:buNone/>
            </a:pPr>
            <a:r>
              <a:rPr lang="en-US" sz="950" i="1" dirty="0">
                <a:solidFill>
                  <a:srgbClr val="768692"/>
                </a:solidFill>
                <a:latin typeface="Calibri" pitchFamily="34" charset="0"/>
                <a:ea typeface="Calibri" pitchFamily="34" charset="-122"/>
                <a:cs typeface="Calibri" pitchFamily="34" charset="-120"/>
              </a:rPr>
              <a:t>Enter here…</a:t>
            </a:r>
            <a:endParaRPr lang="en-US" sz="1150" dirty="0"/>
          </a:p>
        </p:txBody>
      </p:sp>
      <p:sp>
        <p:nvSpPr>
          <p:cNvPr id="5" name="Text 3"/>
          <p:cNvSpPr/>
          <p:nvPr/>
        </p:nvSpPr>
        <p:spPr>
          <a:xfrm>
            <a:off x="4663440" y="932688"/>
            <a:ext cx="4023360" cy="3291840"/>
          </a:xfrm>
          <a:prstGeom prst="roundRect">
            <a:avLst>
              <a:gd name="adj" fmla="val 1944"/>
            </a:avLst>
          </a:prstGeom>
          <a:solidFill>
            <a:srgbClr val="F0F4F5"/>
          </a:solidFill>
          <a:ln/>
        </p:spPr>
        <p:txBody>
          <a:bodyPr wrap="square" lIns="114300" tIns="114300" rIns="114300" bIns="114300" rtlCol="0" anchor="t"/>
          <a:lstStyle/>
          <a:p>
            <a:pPr indent="0" marL="0">
              <a:spcAft>
                <a:spcPts val="400"/>
              </a:spcAft>
              <a:buNone/>
            </a:pPr>
            <a:r>
              <a:rPr lang="en-US" sz="1150" b="1" dirty="0">
                <a:solidFill>
                  <a:srgbClr val="005EB8"/>
                </a:solidFill>
                <a:latin typeface="Calibri" pitchFamily="34" charset="0"/>
                <a:ea typeface="Calibri" pitchFamily="34" charset="-122"/>
                <a:cs typeface="Calibri" pitchFamily="34" charset="-120"/>
              </a:rPr>
              <a:t>Observed Associations — 13d</a:t>
            </a:r>
            <a:endParaRPr lang="en-US" sz="1150" dirty="0"/>
          </a:p>
          <a:p>
            <a:pPr indent="0" marL="0">
              <a:spcAft>
                <a:spcPts val="300"/>
              </a:spcAft>
              <a:buNone/>
            </a:pPr>
            <a:r>
              <a:rPr lang="en-US" sz="950" dirty="0">
                <a:solidFill>
                  <a:srgbClr val="231F20"/>
                </a:solidFill>
                <a:latin typeface="Calibri" pitchFamily="34" charset="0"/>
                <a:ea typeface="Calibri" pitchFamily="34" charset="-122"/>
                <a:cs typeface="Calibri" pitchFamily="34" charset="-120"/>
              </a:rPr>
              <a:t>What patterns did you notice? e.g. “scores dipped every weekend”.</a:t>
            </a:r>
            <a:endParaRPr lang="en-US" sz="1150" dirty="0"/>
          </a:p>
          <a:p>
            <a:pPr indent="0" marL="0">
              <a:spcBef>
                <a:spcPts val="400"/>
              </a:spcBef>
              <a:buNone/>
            </a:pPr>
            <a:r>
              <a:rPr lang="en-US" sz="950" i="1" dirty="0">
                <a:solidFill>
                  <a:srgbClr val="768692"/>
                </a:solidFill>
                <a:latin typeface="Calibri" pitchFamily="34" charset="0"/>
                <a:ea typeface="Calibri" pitchFamily="34" charset="-122"/>
                <a:cs typeface="Calibri" pitchFamily="34" charset="-120"/>
              </a:rPr>
              <a:t>Enter here…</a:t>
            </a:r>
            <a:endParaRPr lang="en-US" sz="1150" dirty="0"/>
          </a:p>
        </p:txBody>
      </p:sp>
      <p:sp>
        <p:nvSpPr>
          <p:cNvPr id="7" name="Text 4"/>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05EB8"/>
                </a:solidFill>
                <a:latin typeface="Calibri" pitchFamily="34" charset="0"/>
                <a:ea typeface="Calibri" pitchFamily="34" charset="-122"/>
                <a:cs typeface="Calibri" pitchFamily="34" charset="-120"/>
              </a:rPr>
              <a:t>AIM Quality Improvement Team  |  Queen Elizabeth Hospital Birmingham</a:t>
            </a:r>
            <a:endParaRPr lang="en-US" sz="750" dirty="0"/>
          </a:p>
        </p:txBody>
      </p:sp>
      <p:sp>
        <p:nvSpPr>
          <p:cNvPr id="8" name="Text 5"/>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AA5AA"/>
                </a:solidFill>
                <a:latin typeface="Calibri" pitchFamily="34" charset="0"/>
                <a:ea typeface="Calibri" pitchFamily="34" charset="-122"/>
                <a:cs typeface="Calibri" pitchFamily="34" charset="-120"/>
              </a:rPr>
              <a:t>SQUIRE 2.0 Presentation Template</a:t>
            </a:r>
            <a:endParaRPr lang="en-US" sz="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274320"/>
            <a:ext cx="6766560" cy="475488"/>
          </a:xfrm>
          <a:prstGeom prst="rect">
            <a:avLst/>
          </a:prstGeom>
          <a:noFill/>
          <a:ln/>
        </p:spPr>
        <p:txBody>
          <a:bodyPr wrap="square" lIns="0" tIns="0" rIns="0" bIns="0" rtlCol="0" anchor="ctr"/>
          <a:lstStyle/>
          <a:p>
            <a:pPr indent="0" marL="0">
              <a:buNone/>
            </a:pPr>
            <a:r>
              <a:rPr lang="en-US" sz="2200" b="1" dirty="0">
                <a:solidFill>
                  <a:srgbClr val="231F20"/>
                </a:solidFill>
                <a:latin typeface="Calibri" pitchFamily="34" charset="0"/>
                <a:ea typeface="Calibri" pitchFamily="34" charset="-122"/>
                <a:cs typeface="Calibri" pitchFamily="34" charset="-120"/>
              </a:rPr>
              <a:t>Unintended Consequences &amp; Missing Data</a:t>
            </a:r>
            <a:endParaRPr lang="en-US" sz="2200" dirty="0"/>
          </a:p>
        </p:txBody>
      </p:sp>
      <p:sp>
        <p:nvSpPr>
          <p:cNvPr id="3" name="Text 1"/>
          <p:cNvSpPr/>
          <p:nvPr/>
        </p:nvSpPr>
        <p:spPr>
          <a:xfrm>
            <a:off x="7532827" y="292608"/>
            <a:ext cx="1153973" cy="310896"/>
          </a:xfrm>
          <a:prstGeom prst="roundRect">
            <a:avLst>
              <a:gd name="adj" fmla="val 47059"/>
            </a:avLst>
          </a:prstGeom>
          <a:solidFill>
            <a:srgbClr val="005EB8"/>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ITEMS 13e–f</a:t>
            </a:r>
            <a:endParaRPr lang="en-US" sz="900" dirty="0"/>
          </a:p>
        </p:txBody>
      </p:sp>
      <p:sp>
        <p:nvSpPr>
          <p:cNvPr id="4" name="Text 2"/>
          <p:cNvSpPr/>
          <p:nvPr/>
        </p:nvSpPr>
        <p:spPr>
          <a:xfrm>
            <a:off x="457200" y="932688"/>
            <a:ext cx="4023360" cy="1700784"/>
          </a:xfrm>
          <a:prstGeom prst="roundRect">
            <a:avLst>
              <a:gd name="adj" fmla="val 3763"/>
            </a:avLst>
          </a:prstGeom>
          <a:solidFill>
            <a:srgbClr val="F0F4F5"/>
          </a:solidFill>
          <a:ln/>
        </p:spPr>
        <p:txBody>
          <a:bodyPr wrap="square" lIns="114300" tIns="114300" rIns="114300" bIns="114300" rtlCol="0" anchor="t"/>
          <a:lstStyle/>
          <a:p>
            <a:pPr indent="0" marL="0">
              <a:spcAft>
                <a:spcPts val="400"/>
              </a:spcAft>
              <a:buNone/>
            </a:pPr>
            <a:r>
              <a:rPr lang="en-US" sz="1150" b="1" dirty="0">
                <a:solidFill>
                  <a:srgbClr val="005EB8"/>
                </a:solidFill>
                <a:latin typeface="Calibri" pitchFamily="34" charset="0"/>
                <a:ea typeface="Calibri" pitchFamily="34" charset="-122"/>
                <a:cs typeface="Calibri" pitchFamily="34" charset="-120"/>
              </a:rPr>
              <a:t>Unexpected Benefits</a:t>
            </a:r>
            <a:endParaRPr lang="en-US" sz="1150" dirty="0"/>
          </a:p>
          <a:p>
            <a:pPr indent="0" marL="0">
              <a:spcAft>
                <a:spcPts val="300"/>
              </a:spcAft>
              <a:buNone/>
            </a:pPr>
            <a:r>
              <a:rPr lang="en-US" sz="950" dirty="0">
                <a:solidFill>
                  <a:srgbClr val="231F20"/>
                </a:solidFill>
                <a:latin typeface="Calibri" pitchFamily="34" charset="0"/>
                <a:ea typeface="Calibri" pitchFamily="34" charset="-122"/>
                <a:cs typeface="Calibri" pitchFamily="34" charset="-120"/>
              </a:rPr>
              <a:t>Positive outcomes you didn’t anticipate in your original aims.</a:t>
            </a:r>
            <a:endParaRPr lang="en-US" sz="1150" dirty="0"/>
          </a:p>
          <a:p>
            <a:pPr indent="0" marL="0">
              <a:spcBef>
                <a:spcPts val="400"/>
              </a:spcBef>
              <a:buNone/>
            </a:pPr>
            <a:r>
              <a:rPr lang="en-US" sz="950" i="1" dirty="0">
                <a:solidFill>
                  <a:srgbClr val="768692"/>
                </a:solidFill>
                <a:latin typeface="Calibri" pitchFamily="34" charset="0"/>
                <a:ea typeface="Calibri" pitchFamily="34" charset="-122"/>
                <a:cs typeface="Calibri" pitchFamily="34" charset="-120"/>
              </a:rPr>
              <a:t>Enter here…</a:t>
            </a:r>
            <a:endParaRPr lang="en-US" sz="1150" dirty="0"/>
          </a:p>
        </p:txBody>
      </p:sp>
      <p:sp>
        <p:nvSpPr>
          <p:cNvPr id="5" name="Text 3"/>
          <p:cNvSpPr/>
          <p:nvPr/>
        </p:nvSpPr>
        <p:spPr>
          <a:xfrm>
            <a:off x="4663440" y="932688"/>
            <a:ext cx="4023360" cy="1700784"/>
          </a:xfrm>
          <a:prstGeom prst="roundRect">
            <a:avLst>
              <a:gd name="adj" fmla="val 3763"/>
            </a:avLst>
          </a:prstGeom>
          <a:solidFill>
            <a:srgbClr val="F0F4F5"/>
          </a:solidFill>
          <a:ln/>
        </p:spPr>
        <p:txBody>
          <a:bodyPr wrap="square" lIns="114300" tIns="114300" rIns="114300" bIns="114300" rtlCol="0" anchor="t"/>
          <a:lstStyle/>
          <a:p>
            <a:pPr indent="0" marL="0">
              <a:spcAft>
                <a:spcPts val="400"/>
              </a:spcAft>
              <a:buNone/>
            </a:pPr>
            <a:r>
              <a:rPr lang="en-US" sz="1150" b="1" dirty="0">
                <a:solidFill>
                  <a:srgbClr val="005EB8"/>
                </a:solidFill>
                <a:latin typeface="Calibri" pitchFamily="34" charset="0"/>
                <a:ea typeface="Calibri" pitchFamily="34" charset="-122"/>
                <a:cs typeface="Calibri" pitchFamily="34" charset="-120"/>
              </a:rPr>
              <a:t>Problems &amp; Failures</a:t>
            </a:r>
            <a:endParaRPr lang="en-US" sz="1150" dirty="0"/>
          </a:p>
          <a:p>
            <a:pPr indent="0" marL="0">
              <a:spcAft>
                <a:spcPts val="300"/>
              </a:spcAft>
              <a:buNone/>
            </a:pPr>
            <a:r>
              <a:rPr lang="en-US" sz="950" dirty="0">
                <a:solidFill>
                  <a:srgbClr val="231F20"/>
                </a:solidFill>
                <a:latin typeface="Calibri" pitchFamily="34" charset="0"/>
                <a:ea typeface="Calibri" pitchFamily="34" charset="-122"/>
                <a:cs typeface="Calibri" pitchFamily="34" charset="-120"/>
              </a:rPr>
              <a:t>Difficulties or negative consequences encountered along the way.</a:t>
            </a:r>
            <a:endParaRPr lang="en-US" sz="1150" dirty="0"/>
          </a:p>
          <a:p>
            <a:pPr indent="0" marL="0">
              <a:spcBef>
                <a:spcPts val="400"/>
              </a:spcBef>
              <a:buNone/>
            </a:pPr>
            <a:r>
              <a:rPr lang="en-US" sz="950" i="1" dirty="0">
                <a:solidFill>
                  <a:srgbClr val="768692"/>
                </a:solidFill>
                <a:latin typeface="Calibri" pitchFamily="34" charset="0"/>
                <a:ea typeface="Calibri" pitchFamily="34" charset="-122"/>
                <a:cs typeface="Calibri" pitchFamily="34" charset="-120"/>
              </a:rPr>
              <a:t>Enter here…</a:t>
            </a:r>
            <a:endParaRPr lang="en-US" sz="1150" dirty="0"/>
          </a:p>
        </p:txBody>
      </p:sp>
      <p:sp>
        <p:nvSpPr>
          <p:cNvPr id="6" name="Text 4"/>
          <p:cNvSpPr/>
          <p:nvPr/>
        </p:nvSpPr>
        <p:spPr>
          <a:xfrm>
            <a:off x="457200" y="2743200"/>
            <a:ext cx="4023360" cy="1700784"/>
          </a:xfrm>
          <a:prstGeom prst="roundRect">
            <a:avLst>
              <a:gd name="adj" fmla="val 3763"/>
            </a:avLst>
          </a:prstGeom>
          <a:solidFill>
            <a:srgbClr val="F0F4F5"/>
          </a:solidFill>
          <a:ln/>
        </p:spPr>
        <p:txBody>
          <a:bodyPr wrap="square" lIns="114300" tIns="114300" rIns="114300" bIns="114300" rtlCol="0" anchor="t"/>
          <a:lstStyle/>
          <a:p>
            <a:pPr indent="0" marL="0">
              <a:spcAft>
                <a:spcPts val="400"/>
              </a:spcAft>
              <a:buNone/>
            </a:pPr>
            <a:r>
              <a:rPr lang="en-US" sz="1150" b="1" dirty="0">
                <a:solidFill>
                  <a:srgbClr val="005EB8"/>
                </a:solidFill>
                <a:latin typeface="Calibri" pitchFamily="34" charset="0"/>
                <a:ea typeface="Calibri" pitchFamily="34" charset="-122"/>
                <a:cs typeface="Calibri" pitchFamily="34" charset="-120"/>
              </a:rPr>
              <a:t>Costs &amp; Resource Impact</a:t>
            </a:r>
            <a:endParaRPr lang="en-US" sz="1150" dirty="0"/>
          </a:p>
          <a:p>
            <a:pPr indent="0" marL="0">
              <a:spcAft>
                <a:spcPts val="300"/>
              </a:spcAft>
              <a:buNone/>
            </a:pPr>
            <a:r>
              <a:rPr lang="en-US" sz="950" dirty="0">
                <a:solidFill>
                  <a:srgbClr val="231F20"/>
                </a:solidFill>
                <a:latin typeface="Calibri" pitchFamily="34" charset="0"/>
                <a:ea typeface="Calibri" pitchFamily="34" charset="-122"/>
                <a:cs typeface="Calibri" pitchFamily="34" charset="-120"/>
              </a:rPr>
              <a:t>Unexpected costs, time requirements or opportunity costs.</a:t>
            </a:r>
            <a:endParaRPr lang="en-US" sz="1150" dirty="0"/>
          </a:p>
          <a:p>
            <a:pPr indent="0" marL="0">
              <a:spcBef>
                <a:spcPts val="400"/>
              </a:spcBef>
              <a:buNone/>
            </a:pPr>
            <a:r>
              <a:rPr lang="en-US" sz="950" i="1" dirty="0">
                <a:solidFill>
                  <a:srgbClr val="768692"/>
                </a:solidFill>
                <a:latin typeface="Calibri" pitchFamily="34" charset="0"/>
                <a:ea typeface="Calibri" pitchFamily="34" charset="-122"/>
                <a:cs typeface="Calibri" pitchFamily="34" charset="-120"/>
              </a:rPr>
              <a:t>Enter here…</a:t>
            </a:r>
            <a:endParaRPr lang="en-US" sz="1150" dirty="0"/>
          </a:p>
        </p:txBody>
      </p:sp>
      <p:sp>
        <p:nvSpPr>
          <p:cNvPr id="7" name="Text 5"/>
          <p:cNvSpPr/>
          <p:nvPr/>
        </p:nvSpPr>
        <p:spPr>
          <a:xfrm>
            <a:off x="4663440" y="2743200"/>
            <a:ext cx="4023360" cy="1700784"/>
          </a:xfrm>
          <a:prstGeom prst="roundRect">
            <a:avLst>
              <a:gd name="adj" fmla="val 3763"/>
            </a:avLst>
          </a:prstGeom>
          <a:solidFill>
            <a:srgbClr val="F0F4F5"/>
          </a:solidFill>
          <a:ln/>
        </p:spPr>
        <p:txBody>
          <a:bodyPr wrap="square" lIns="114300" tIns="114300" rIns="114300" bIns="114300" rtlCol="0" anchor="t"/>
          <a:lstStyle/>
          <a:p>
            <a:pPr indent="0" marL="0">
              <a:spcAft>
                <a:spcPts val="400"/>
              </a:spcAft>
              <a:buNone/>
            </a:pPr>
            <a:r>
              <a:rPr lang="en-US" sz="1150" b="1" dirty="0">
                <a:solidFill>
                  <a:srgbClr val="005EB8"/>
                </a:solidFill>
                <a:latin typeface="Calibri" pitchFamily="34" charset="0"/>
                <a:ea typeface="Calibri" pitchFamily="34" charset="-122"/>
                <a:cs typeface="Calibri" pitchFamily="34" charset="-120"/>
              </a:rPr>
              <a:t>Missing Data — 13f</a:t>
            </a:r>
            <a:endParaRPr lang="en-US" sz="1150" dirty="0"/>
          </a:p>
          <a:p>
            <a:pPr indent="0" marL="0">
              <a:spcAft>
                <a:spcPts val="300"/>
              </a:spcAft>
              <a:buNone/>
            </a:pPr>
            <a:r>
              <a:rPr lang="en-US" sz="950" dirty="0">
                <a:solidFill>
                  <a:srgbClr val="231F20"/>
                </a:solidFill>
                <a:latin typeface="Calibri" pitchFamily="34" charset="0"/>
                <a:ea typeface="Calibri" pitchFamily="34" charset="-122"/>
                <a:cs typeface="Calibri" pitchFamily="34" charset="-120"/>
              </a:rPr>
              <a:t>What you couldn’t collect — e.g. night shifts — and whether it changes your conclusions.</a:t>
            </a:r>
            <a:endParaRPr lang="en-US" sz="1150" dirty="0"/>
          </a:p>
          <a:p>
            <a:pPr indent="0" marL="0">
              <a:spcBef>
                <a:spcPts val="400"/>
              </a:spcBef>
              <a:buNone/>
            </a:pPr>
            <a:r>
              <a:rPr lang="en-US" sz="950" i="1" dirty="0">
                <a:solidFill>
                  <a:srgbClr val="768692"/>
                </a:solidFill>
                <a:latin typeface="Calibri" pitchFamily="34" charset="0"/>
                <a:ea typeface="Calibri" pitchFamily="34" charset="-122"/>
                <a:cs typeface="Calibri" pitchFamily="34" charset="-120"/>
              </a:rPr>
              <a:t>Enter here…</a:t>
            </a:r>
            <a:endParaRPr lang="en-US" sz="1150" dirty="0"/>
          </a:p>
        </p:txBody>
      </p:sp>
      <p:sp>
        <p:nvSpPr>
          <p:cNvPr id="9" name="Text 6"/>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05EB8"/>
                </a:solidFill>
                <a:latin typeface="Calibri" pitchFamily="34" charset="0"/>
                <a:ea typeface="Calibri" pitchFamily="34" charset="-122"/>
                <a:cs typeface="Calibri" pitchFamily="34" charset="-120"/>
              </a:rPr>
              <a:t>AIM Quality Improvement Team  |  Queen Elizabeth Hospital Birmingham</a:t>
            </a:r>
            <a:endParaRPr lang="en-US" sz="750" dirty="0"/>
          </a:p>
        </p:txBody>
      </p:sp>
      <p:sp>
        <p:nvSpPr>
          <p:cNvPr id="10" name="Text 7"/>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AA5AA"/>
                </a:solidFill>
                <a:latin typeface="Calibri" pitchFamily="34" charset="0"/>
                <a:ea typeface="Calibri" pitchFamily="34" charset="-122"/>
                <a:cs typeface="Calibri" pitchFamily="34" charset="-120"/>
              </a:rPr>
              <a:t>SQUIRE 2.0 Presentation Template</a:t>
            </a:r>
            <a:endParaRPr lang="en-US" sz="7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03087"/>
        </a:solidFill>
      </p:bgPr>
    </p:bg>
    <p:spTree>
      <p:nvGrpSpPr>
        <p:cNvPr id="1" name=""/>
        <p:cNvGrpSpPr/>
        <p:nvPr/>
      </p:nvGrpSpPr>
      <p:grpSpPr>
        <a:xfrm>
          <a:off x="0" y="0"/>
          <a:ext cx="0" cy="0"/>
          <a:chOff x="0" y="0"/>
          <a:chExt cx="0" cy="0"/>
        </a:xfrm>
      </p:grpSpPr>
      <p:sp>
        <p:nvSpPr>
          <p:cNvPr id="2" name="Text 0"/>
          <p:cNvSpPr/>
          <p:nvPr/>
        </p:nvSpPr>
        <p:spPr>
          <a:xfrm>
            <a:off x="5120640" y="502920"/>
            <a:ext cx="3749040" cy="2377440"/>
          </a:xfrm>
          <a:prstGeom prst="rect">
            <a:avLst/>
          </a:prstGeom>
          <a:noFill/>
          <a:ln/>
        </p:spPr>
        <p:txBody>
          <a:bodyPr wrap="square" lIns="0" tIns="0" rIns="0" bIns="0" rtlCol="0" anchor="ctr"/>
          <a:lstStyle/>
          <a:p>
            <a:pPr algn="r" indent="0" marL="0">
              <a:buNone/>
            </a:pPr>
            <a:r>
              <a:rPr lang="en-US" sz="15000" b="1" dirty="0">
                <a:solidFill>
                  <a:srgbClr val="003087"/>
                </a:solidFill>
                <a:latin typeface="Calibri" pitchFamily="34" charset="0"/>
                <a:ea typeface="Calibri" pitchFamily="34" charset="-122"/>
                <a:cs typeface="Calibri" pitchFamily="34" charset="-120"/>
              </a:rPr>
              <a:t>05</a:t>
            </a:r>
            <a:endParaRPr lang="en-US" sz="15000" dirty="0"/>
          </a:p>
        </p:txBody>
      </p:sp>
      <p:sp>
        <p:nvSpPr>
          <p:cNvPr id="3" name="Text 1"/>
          <p:cNvSpPr/>
          <p:nvPr/>
        </p:nvSpPr>
        <p:spPr>
          <a:xfrm>
            <a:off x="640080" y="1298448"/>
            <a:ext cx="6858000" cy="256032"/>
          </a:xfrm>
          <a:prstGeom prst="rect">
            <a:avLst/>
          </a:prstGeom>
          <a:noFill/>
          <a:ln/>
        </p:spPr>
        <p:txBody>
          <a:bodyPr wrap="square" lIns="0" tIns="0" rIns="0" bIns="0" rtlCol="0" anchor="ctr"/>
          <a:lstStyle/>
          <a:p>
            <a:pPr indent="0" marL="0">
              <a:buNone/>
            </a:pPr>
            <a:r>
              <a:rPr lang="en-US" sz="1050" b="1" spc="200" kern="0" dirty="0">
                <a:solidFill>
                  <a:srgbClr val="41B6E6"/>
                </a:solidFill>
                <a:latin typeface="Calibri" pitchFamily="34" charset="0"/>
                <a:ea typeface="Calibri" pitchFamily="34" charset="-122"/>
                <a:cs typeface="Calibri" pitchFamily="34" charset="-120"/>
              </a:rPr>
              <a:t>SECTION 5  ·  ITEMS 14–17</a:t>
            </a:r>
            <a:endParaRPr lang="en-US" sz="1050" dirty="0"/>
          </a:p>
        </p:txBody>
      </p:sp>
      <p:sp>
        <p:nvSpPr>
          <p:cNvPr id="4" name="Text 2"/>
          <p:cNvSpPr/>
          <p:nvPr/>
        </p:nvSpPr>
        <p:spPr>
          <a:xfrm>
            <a:off x="640080" y="1609344"/>
            <a:ext cx="7498080" cy="77724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Discussion</a:t>
            </a:r>
            <a:endParaRPr lang="en-US" sz="4000" dirty="0"/>
          </a:p>
        </p:txBody>
      </p:sp>
      <p:sp>
        <p:nvSpPr>
          <p:cNvPr id="5" name="Text 3"/>
          <p:cNvSpPr/>
          <p:nvPr/>
        </p:nvSpPr>
        <p:spPr>
          <a:xfrm>
            <a:off x="640080" y="2450592"/>
            <a:ext cx="7498080" cy="365760"/>
          </a:xfrm>
          <a:prstGeom prst="rect">
            <a:avLst/>
          </a:prstGeom>
          <a:noFill/>
          <a:ln/>
        </p:spPr>
        <p:txBody>
          <a:bodyPr wrap="square" lIns="0" tIns="0" rIns="0" bIns="0" rtlCol="0" anchor="ctr"/>
          <a:lstStyle/>
          <a:p>
            <a:pPr indent="0" marL="0">
              <a:buNone/>
            </a:pPr>
            <a:r>
              <a:rPr lang="en-US" sz="1350" i="1" dirty="0">
                <a:solidFill>
                  <a:srgbClr val="E8EDEE"/>
                </a:solidFill>
                <a:latin typeface="Calibri" pitchFamily="34" charset="0"/>
                <a:ea typeface="Calibri" pitchFamily="34" charset="-122"/>
                <a:cs typeface="Calibri" pitchFamily="34" charset="-120"/>
              </a:rPr>
              <a:t>“What does it mean?”</a:t>
            </a:r>
            <a:endParaRPr lang="en-US" sz="1350" dirty="0"/>
          </a:p>
        </p:txBody>
      </p:sp>
      <p:sp>
        <p:nvSpPr>
          <p:cNvPr id="6" name="Text 4"/>
          <p:cNvSpPr/>
          <p:nvPr/>
        </p:nvSpPr>
        <p:spPr>
          <a:xfrm>
            <a:off x="640080" y="3310128"/>
            <a:ext cx="1141171" cy="347472"/>
          </a:xfrm>
          <a:prstGeom prst="roundRect">
            <a:avLst>
              <a:gd name="adj" fmla="val 47368"/>
            </a:avLst>
          </a:prstGeom>
          <a:solidFill>
            <a:srgbClr val="0072CE"/>
          </a:solid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14 · Summary</a:t>
            </a:r>
            <a:endParaRPr lang="en-US" sz="900" dirty="0"/>
          </a:p>
        </p:txBody>
      </p:sp>
      <p:sp>
        <p:nvSpPr>
          <p:cNvPr id="7" name="Text 5"/>
          <p:cNvSpPr/>
          <p:nvPr/>
        </p:nvSpPr>
        <p:spPr>
          <a:xfrm>
            <a:off x="1909267" y="3310128"/>
            <a:ext cx="1614830" cy="347472"/>
          </a:xfrm>
          <a:prstGeom prst="roundRect">
            <a:avLst>
              <a:gd name="adj" fmla="val 47368"/>
            </a:avLst>
          </a:prstGeom>
          <a:solidFill>
            <a:srgbClr val="0072CE"/>
          </a:solid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15 · Interpretation</a:t>
            </a:r>
            <a:endParaRPr lang="en-US" sz="900" dirty="0"/>
          </a:p>
        </p:txBody>
      </p:sp>
      <p:sp>
        <p:nvSpPr>
          <p:cNvPr id="8" name="Text 6"/>
          <p:cNvSpPr/>
          <p:nvPr/>
        </p:nvSpPr>
        <p:spPr>
          <a:xfrm>
            <a:off x="3652114" y="3310128"/>
            <a:ext cx="1411834" cy="347472"/>
          </a:xfrm>
          <a:prstGeom prst="roundRect">
            <a:avLst>
              <a:gd name="adj" fmla="val 47368"/>
            </a:avLst>
          </a:prstGeom>
          <a:solidFill>
            <a:srgbClr val="0072CE"/>
          </a:solid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16 · Limitations</a:t>
            </a:r>
            <a:endParaRPr lang="en-US" sz="900" dirty="0"/>
          </a:p>
        </p:txBody>
      </p:sp>
      <p:sp>
        <p:nvSpPr>
          <p:cNvPr id="9" name="Text 7"/>
          <p:cNvSpPr/>
          <p:nvPr/>
        </p:nvSpPr>
        <p:spPr>
          <a:xfrm>
            <a:off x="5191963" y="3310128"/>
            <a:ext cx="1411834" cy="347472"/>
          </a:xfrm>
          <a:prstGeom prst="roundRect">
            <a:avLst>
              <a:gd name="adj" fmla="val 47368"/>
            </a:avLst>
          </a:prstGeom>
          <a:solidFill>
            <a:srgbClr val="0072CE"/>
          </a:solid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17 · Conclusions</a:t>
            </a:r>
            <a:endParaRPr lang="en-US" sz="900" dirty="0"/>
          </a:p>
        </p:txBody>
      </p:sp>
      <p:sp>
        <p:nvSpPr>
          <p:cNvPr id="10" name="Text 8"/>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41B6E6"/>
                </a:solidFill>
                <a:latin typeface="Calibri" pitchFamily="34" charset="0"/>
                <a:ea typeface="Calibri" pitchFamily="34" charset="-122"/>
                <a:cs typeface="Calibri" pitchFamily="34" charset="-120"/>
              </a:rPr>
              <a:t>AIM Quality Improvement Team  |  Queen Elizabeth Hospital Birmingham</a:t>
            </a:r>
            <a:endParaRPr lang="en-US" sz="750" dirty="0"/>
          </a:p>
        </p:txBody>
      </p:sp>
      <p:sp>
        <p:nvSpPr>
          <p:cNvPr id="11" name="Text 9"/>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FB6BC"/>
                </a:solidFill>
                <a:latin typeface="Calibri" pitchFamily="34" charset="0"/>
                <a:ea typeface="Calibri" pitchFamily="34" charset="-122"/>
                <a:cs typeface="Calibri" pitchFamily="34" charset="-120"/>
              </a:rPr>
              <a:t>SQUIRE 2.0 Presentation Template</a:t>
            </a:r>
            <a:endParaRPr lang="en-US" sz="7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274320"/>
            <a:ext cx="6766560" cy="475488"/>
          </a:xfrm>
          <a:prstGeom prst="rect">
            <a:avLst/>
          </a:prstGeom>
          <a:noFill/>
          <a:ln/>
        </p:spPr>
        <p:txBody>
          <a:bodyPr wrap="square" lIns="0" tIns="0" rIns="0" bIns="0" rtlCol="0" anchor="ctr"/>
          <a:lstStyle/>
          <a:p>
            <a:pPr indent="0" marL="0">
              <a:buNone/>
            </a:pPr>
            <a:r>
              <a:rPr lang="en-US" sz="2200" b="1" dirty="0">
                <a:solidFill>
                  <a:srgbClr val="231F20"/>
                </a:solidFill>
                <a:latin typeface="Calibri" pitchFamily="34" charset="0"/>
                <a:ea typeface="Calibri" pitchFamily="34" charset="-122"/>
                <a:cs typeface="Calibri" pitchFamily="34" charset="-120"/>
              </a:rPr>
              <a:t>Summary</a:t>
            </a:r>
            <a:endParaRPr lang="en-US" sz="2200" dirty="0"/>
          </a:p>
        </p:txBody>
      </p:sp>
      <p:sp>
        <p:nvSpPr>
          <p:cNvPr id="3" name="Text 1"/>
          <p:cNvSpPr/>
          <p:nvPr/>
        </p:nvSpPr>
        <p:spPr>
          <a:xfrm>
            <a:off x="7832750" y="292608"/>
            <a:ext cx="854050" cy="310896"/>
          </a:xfrm>
          <a:prstGeom prst="roundRect">
            <a:avLst>
              <a:gd name="adj" fmla="val 47059"/>
            </a:avLst>
          </a:prstGeom>
          <a:solidFill>
            <a:srgbClr val="005EB8"/>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ITEM 14</a:t>
            </a:r>
            <a:endParaRPr lang="en-US" sz="900" dirty="0"/>
          </a:p>
        </p:txBody>
      </p:sp>
      <p:sp>
        <p:nvSpPr>
          <p:cNvPr id="4" name="Text 2"/>
          <p:cNvSpPr/>
          <p:nvPr/>
        </p:nvSpPr>
        <p:spPr>
          <a:xfrm>
            <a:off x="457200" y="932688"/>
            <a:ext cx="4892040" cy="3383280"/>
          </a:xfrm>
          <a:prstGeom prst="roundRect">
            <a:avLst>
              <a:gd name="adj" fmla="val 1892"/>
            </a:avLst>
          </a:prstGeom>
          <a:solidFill>
            <a:srgbClr val="F0F4F5"/>
          </a:solidFill>
          <a:ln/>
        </p:spPr>
        <p:txBody>
          <a:bodyPr wrap="square" lIns="114300" tIns="114300" rIns="114300" bIns="114300" rtlCol="0" anchor="t"/>
          <a:lstStyle/>
          <a:p>
            <a:pPr indent="0" marL="0">
              <a:spcAft>
                <a:spcPts val="400"/>
              </a:spcAft>
              <a:buNone/>
            </a:pPr>
            <a:r>
              <a:rPr lang="en-US" sz="1150" b="1" dirty="0">
                <a:solidFill>
                  <a:srgbClr val="005EB8"/>
                </a:solidFill>
                <a:latin typeface="Calibri" pitchFamily="34" charset="0"/>
                <a:ea typeface="Calibri" pitchFamily="34" charset="-122"/>
                <a:cs typeface="Calibri" pitchFamily="34" charset="-120"/>
              </a:rPr>
              <a:t>Key Findings — 14a</a:t>
            </a:r>
            <a:endParaRPr lang="en-US" sz="1150" dirty="0"/>
          </a:p>
          <a:p>
            <a:pPr indent="0" marL="0">
              <a:spcAft>
                <a:spcPts val="300"/>
              </a:spcAft>
              <a:buNone/>
            </a:pPr>
            <a:r>
              <a:rPr lang="en-US" sz="950" dirty="0">
                <a:solidFill>
                  <a:srgbClr val="231F20"/>
                </a:solidFill>
                <a:latin typeface="Calibri" pitchFamily="34" charset="0"/>
                <a:ea typeface="Calibri" pitchFamily="34" charset="-122"/>
                <a:cs typeface="Calibri" pitchFamily="34" charset="-120"/>
              </a:rPr>
              <a:t>Your top 2–3 findings — link each back to your aim.</a:t>
            </a:r>
            <a:endParaRPr lang="en-US" sz="1150" dirty="0"/>
          </a:p>
          <a:p>
            <a:pPr indent="0" marL="0">
              <a:spcBef>
                <a:spcPts val="300"/>
              </a:spcBef>
              <a:spcAft>
                <a:spcPts val="400"/>
              </a:spcAft>
              <a:buNone/>
            </a:pPr>
            <a:r>
              <a:rPr lang="en-US" sz="950" i="1" dirty="0">
                <a:solidFill>
                  <a:srgbClr val="768692"/>
                </a:solidFill>
                <a:latin typeface="Calibri" pitchFamily="34" charset="0"/>
                <a:ea typeface="Calibri" pitchFamily="34" charset="-122"/>
                <a:cs typeface="Calibri" pitchFamily="34" charset="-120"/>
              </a:rPr>
              <a:t>1.  Enter…</a:t>
            </a:r>
            <a:endParaRPr lang="en-US" sz="1150" dirty="0"/>
          </a:p>
          <a:p>
            <a:pPr indent="0" marL="0">
              <a:spcAft>
                <a:spcPts val="400"/>
              </a:spcAft>
              <a:buNone/>
            </a:pPr>
            <a:r>
              <a:rPr lang="en-US" sz="950" i="1" dirty="0">
                <a:solidFill>
                  <a:srgbClr val="768692"/>
                </a:solidFill>
                <a:latin typeface="Calibri" pitchFamily="34" charset="0"/>
                <a:ea typeface="Calibri" pitchFamily="34" charset="-122"/>
                <a:cs typeface="Calibri" pitchFamily="34" charset="-120"/>
              </a:rPr>
              <a:t>2.  Enter…</a:t>
            </a:r>
            <a:endParaRPr lang="en-US" sz="1150" dirty="0"/>
          </a:p>
          <a:p>
            <a:pPr indent="0" marL="0">
              <a:buNone/>
            </a:pPr>
            <a:r>
              <a:rPr lang="en-US" sz="950" i="1" dirty="0">
                <a:solidFill>
                  <a:srgbClr val="768692"/>
                </a:solidFill>
                <a:latin typeface="Calibri" pitchFamily="34" charset="0"/>
                <a:ea typeface="Calibri" pitchFamily="34" charset="-122"/>
                <a:cs typeface="Calibri" pitchFamily="34" charset="-120"/>
              </a:rPr>
              <a:t>3.  Enter…</a:t>
            </a:r>
            <a:endParaRPr lang="en-US" sz="1150" dirty="0"/>
          </a:p>
        </p:txBody>
      </p:sp>
      <p:sp>
        <p:nvSpPr>
          <p:cNvPr id="5" name="Text 3"/>
          <p:cNvSpPr/>
          <p:nvPr/>
        </p:nvSpPr>
        <p:spPr>
          <a:xfrm>
            <a:off x="5504688" y="932688"/>
            <a:ext cx="3182112" cy="3383280"/>
          </a:xfrm>
          <a:prstGeom prst="roundRect">
            <a:avLst>
              <a:gd name="adj" fmla="val 2011"/>
            </a:avLst>
          </a:prstGeom>
          <a:solidFill>
            <a:srgbClr val="F0F4F5"/>
          </a:solidFill>
          <a:ln/>
        </p:spPr>
        <p:txBody>
          <a:bodyPr wrap="square" lIns="114300" tIns="114300" rIns="114300" bIns="114300" rtlCol="0" anchor="t"/>
          <a:lstStyle/>
          <a:p>
            <a:pPr indent="0" marL="0">
              <a:spcAft>
                <a:spcPts val="400"/>
              </a:spcAft>
              <a:buNone/>
            </a:pPr>
            <a:r>
              <a:rPr lang="en-US" sz="1150" b="1" dirty="0">
                <a:solidFill>
                  <a:srgbClr val="005EB8"/>
                </a:solidFill>
                <a:latin typeface="Calibri" pitchFamily="34" charset="0"/>
                <a:ea typeface="Calibri" pitchFamily="34" charset="-122"/>
                <a:cs typeface="Calibri" pitchFamily="34" charset="-120"/>
              </a:rPr>
              <a:t>Project Strengths — 14b</a:t>
            </a:r>
            <a:endParaRPr lang="en-US" sz="1150" dirty="0"/>
          </a:p>
          <a:p>
            <a:pPr indent="0" marL="0">
              <a:spcAft>
                <a:spcPts val="300"/>
              </a:spcAft>
              <a:buNone/>
            </a:pPr>
            <a:r>
              <a:rPr lang="en-US" sz="950" dirty="0">
                <a:solidFill>
                  <a:srgbClr val="231F20"/>
                </a:solidFill>
                <a:latin typeface="Calibri" pitchFamily="34" charset="0"/>
                <a:ea typeface="Calibri" pitchFamily="34" charset="-122"/>
                <a:cs typeface="Calibri" pitchFamily="34" charset="-120"/>
              </a:rPr>
              <a:t>What made it work — a keen team, a simple change, regular measurement?</a:t>
            </a:r>
            <a:endParaRPr lang="en-US" sz="1150" dirty="0"/>
          </a:p>
          <a:p>
            <a:pPr indent="0" marL="0">
              <a:spcBef>
                <a:spcPts val="400"/>
              </a:spcBef>
              <a:buNone/>
            </a:pPr>
            <a:r>
              <a:rPr lang="en-US" sz="950" i="1" dirty="0">
                <a:solidFill>
                  <a:srgbClr val="768692"/>
                </a:solidFill>
                <a:latin typeface="Calibri" pitchFamily="34" charset="0"/>
                <a:ea typeface="Calibri" pitchFamily="34" charset="-122"/>
                <a:cs typeface="Calibri" pitchFamily="34" charset="-120"/>
              </a:rPr>
              <a:t>Enter here…</a:t>
            </a:r>
            <a:endParaRPr lang="en-US" sz="1150" dirty="0"/>
          </a:p>
        </p:txBody>
      </p:sp>
      <p:sp>
        <p:nvSpPr>
          <p:cNvPr id="7" name="Text 4"/>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05EB8"/>
                </a:solidFill>
                <a:latin typeface="Calibri" pitchFamily="34" charset="0"/>
                <a:ea typeface="Calibri" pitchFamily="34" charset="-122"/>
                <a:cs typeface="Calibri" pitchFamily="34" charset="-120"/>
              </a:rPr>
              <a:t>AIM Quality Improvement Team  |  Queen Elizabeth Hospital Birmingham</a:t>
            </a:r>
            <a:endParaRPr lang="en-US" sz="750" dirty="0"/>
          </a:p>
        </p:txBody>
      </p:sp>
      <p:sp>
        <p:nvSpPr>
          <p:cNvPr id="8" name="Text 5"/>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AA5AA"/>
                </a:solidFill>
                <a:latin typeface="Calibri" pitchFamily="34" charset="0"/>
                <a:ea typeface="Calibri" pitchFamily="34" charset="-122"/>
                <a:cs typeface="Calibri" pitchFamily="34" charset="-120"/>
              </a:rPr>
              <a:t>SQUIRE 2.0 Presentation Template</a:t>
            </a:r>
            <a:endParaRPr lang="en-US" sz="7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05EB8"/>
                </a:solidFill>
                <a:latin typeface="Calibri" pitchFamily="34" charset="0"/>
                <a:ea typeface="Calibri" pitchFamily="34" charset="-122"/>
                <a:cs typeface="Calibri" pitchFamily="34" charset="-120"/>
              </a:rPr>
              <a:t>COMPLETE THE PANELS RELEVANT TO YOUR PROJECT</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231F20"/>
                </a:solidFill>
                <a:latin typeface="Calibri" pitchFamily="34" charset="0"/>
                <a:ea typeface="Calibri" pitchFamily="34" charset="-122"/>
                <a:cs typeface="Calibri" pitchFamily="34" charset="-120"/>
              </a:rPr>
              <a:t>Interpretation</a:t>
            </a:r>
            <a:endParaRPr lang="en-US" sz="2200" dirty="0"/>
          </a:p>
        </p:txBody>
      </p:sp>
      <p:sp>
        <p:nvSpPr>
          <p:cNvPr id="4" name="Text 2"/>
          <p:cNvSpPr/>
          <p:nvPr/>
        </p:nvSpPr>
        <p:spPr>
          <a:xfrm>
            <a:off x="7832750" y="292608"/>
            <a:ext cx="854050" cy="310896"/>
          </a:xfrm>
          <a:prstGeom prst="roundRect">
            <a:avLst>
              <a:gd name="adj" fmla="val 47059"/>
            </a:avLst>
          </a:prstGeom>
          <a:solidFill>
            <a:srgbClr val="005EB8"/>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ITEM 15</a:t>
            </a:r>
            <a:endParaRPr lang="en-US" sz="900" dirty="0"/>
          </a:p>
        </p:txBody>
      </p:sp>
      <p:sp>
        <p:nvSpPr>
          <p:cNvPr id="5" name="Text 3"/>
          <p:cNvSpPr/>
          <p:nvPr/>
        </p:nvSpPr>
        <p:spPr>
          <a:xfrm>
            <a:off x="457200" y="932688"/>
            <a:ext cx="2624328" cy="1572768"/>
          </a:xfrm>
          <a:prstGeom prst="roundRect">
            <a:avLst>
              <a:gd name="adj" fmla="val 4070"/>
            </a:avLst>
          </a:prstGeom>
          <a:solidFill>
            <a:srgbClr val="F0F4F5"/>
          </a:solidFill>
          <a:ln/>
        </p:spPr>
        <p:txBody>
          <a:bodyPr wrap="square" lIns="114300" tIns="114300" rIns="114300" bIns="114300" rtlCol="0" anchor="t"/>
          <a:lstStyle/>
          <a:p>
            <a:pPr indent="0" marL="0">
              <a:spcAft>
                <a:spcPts val="400"/>
              </a:spcAft>
              <a:buNone/>
            </a:pPr>
            <a:r>
              <a:rPr lang="en-US" sz="1050" b="1" dirty="0">
                <a:solidFill>
                  <a:srgbClr val="005EB8"/>
                </a:solidFill>
                <a:latin typeface="Calibri" pitchFamily="34" charset="0"/>
                <a:ea typeface="Calibri" pitchFamily="34" charset="-122"/>
                <a:cs typeface="Calibri" pitchFamily="34" charset="-120"/>
              </a:rPr>
              <a:t>Why It Worked (or Didn’t)</a:t>
            </a:r>
            <a:endParaRPr lang="en-US" sz="1050" dirty="0"/>
          </a:p>
          <a:p>
            <a:pPr indent="0" marL="0">
              <a:buNone/>
            </a:pPr>
            <a:r>
              <a:rPr lang="en-US" sz="850" dirty="0">
                <a:solidFill>
                  <a:srgbClr val="231F20"/>
                </a:solidFill>
                <a:latin typeface="Calibri" pitchFamily="34" charset="0"/>
                <a:ea typeface="Calibri" pitchFamily="34" charset="-122"/>
                <a:cs typeface="Calibri" pitchFamily="34" charset="-120"/>
              </a:rPr>
              <a:t>Your best explanation in plain words — what actually drove the change?</a:t>
            </a:r>
            <a:endParaRPr lang="en-US" sz="1050" dirty="0"/>
          </a:p>
        </p:txBody>
      </p:sp>
      <p:sp>
        <p:nvSpPr>
          <p:cNvPr id="6" name="Text 4"/>
          <p:cNvSpPr/>
          <p:nvPr/>
        </p:nvSpPr>
        <p:spPr>
          <a:xfrm>
            <a:off x="3259836" y="932688"/>
            <a:ext cx="2624328" cy="1572768"/>
          </a:xfrm>
          <a:prstGeom prst="roundRect">
            <a:avLst>
              <a:gd name="adj" fmla="val 4070"/>
            </a:avLst>
          </a:prstGeom>
          <a:solidFill>
            <a:srgbClr val="F0F4F5"/>
          </a:solidFill>
          <a:ln/>
        </p:spPr>
        <p:txBody>
          <a:bodyPr wrap="square" lIns="114300" tIns="114300" rIns="114300" bIns="114300" rtlCol="0" anchor="t"/>
          <a:lstStyle/>
          <a:p>
            <a:pPr indent="0" marL="0">
              <a:spcAft>
                <a:spcPts val="400"/>
              </a:spcAft>
              <a:buNone/>
            </a:pPr>
            <a:r>
              <a:rPr lang="en-US" sz="1050" b="1" dirty="0">
                <a:solidFill>
                  <a:srgbClr val="005EB8"/>
                </a:solidFill>
                <a:latin typeface="Calibri" pitchFamily="34" charset="0"/>
                <a:ea typeface="Calibri" pitchFamily="34" charset="-122"/>
                <a:cs typeface="Calibri" pitchFamily="34" charset="-120"/>
              </a:rPr>
              <a:t>Comparison with Others</a:t>
            </a:r>
            <a:endParaRPr lang="en-US" sz="1050" dirty="0"/>
          </a:p>
          <a:p>
            <a:pPr indent="0" marL="0">
              <a:buNone/>
            </a:pPr>
            <a:r>
              <a:rPr lang="en-US" sz="850" dirty="0">
                <a:solidFill>
                  <a:srgbClr val="231F20"/>
                </a:solidFill>
                <a:latin typeface="Calibri" pitchFamily="34" charset="0"/>
                <a:ea typeface="Calibri" pitchFamily="34" charset="-122"/>
                <a:cs typeface="Calibri" pitchFamily="34" charset="-120"/>
              </a:rPr>
              <a:t>How do your results compare with the guideline or projects from Item 4?</a:t>
            </a:r>
            <a:endParaRPr lang="en-US" sz="1050" dirty="0"/>
          </a:p>
        </p:txBody>
      </p:sp>
      <p:sp>
        <p:nvSpPr>
          <p:cNvPr id="7" name="Text 5"/>
          <p:cNvSpPr/>
          <p:nvPr/>
        </p:nvSpPr>
        <p:spPr>
          <a:xfrm>
            <a:off x="6062472" y="932688"/>
            <a:ext cx="2624328" cy="1572768"/>
          </a:xfrm>
          <a:prstGeom prst="roundRect">
            <a:avLst>
              <a:gd name="adj" fmla="val 4070"/>
            </a:avLst>
          </a:prstGeom>
          <a:solidFill>
            <a:srgbClr val="F0F4F5"/>
          </a:solidFill>
          <a:ln/>
        </p:spPr>
        <p:txBody>
          <a:bodyPr wrap="square" lIns="114300" tIns="114300" rIns="114300" bIns="114300" rtlCol="0" anchor="t"/>
          <a:lstStyle/>
          <a:p>
            <a:pPr indent="0" marL="0">
              <a:spcAft>
                <a:spcPts val="400"/>
              </a:spcAft>
              <a:buNone/>
            </a:pPr>
            <a:r>
              <a:rPr lang="en-US" sz="1050" b="1" dirty="0">
                <a:solidFill>
                  <a:srgbClr val="005EB8"/>
                </a:solidFill>
                <a:latin typeface="Calibri" pitchFamily="34" charset="0"/>
                <a:ea typeface="Calibri" pitchFamily="34" charset="-122"/>
                <a:cs typeface="Calibri" pitchFamily="34" charset="-120"/>
              </a:rPr>
              <a:t>Impact on People</a:t>
            </a:r>
            <a:endParaRPr lang="en-US" sz="1050" dirty="0"/>
          </a:p>
          <a:p>
            <a:pPr indent="0" marL="0">
              <a:buNone/>
            </a:pPr>
            <a:r>
              <a:rPr lang="en-US" sz="850" dirty="0">
                <a:solidFill>
                  <a:srgbClr val="231F20"/>
                </a:solidFill>
                <a:latin typeface="Calibri" pitchFamily="34" charset="0"/>
                <a:ea typeface="Calibri" pitchFamily="34" charset="-122"/>
                <a:cs typeface="Calibri" pitchFamily="34" charset="-120"/>
              </a:rPr>
              <a:t>Effects on patients and staff — including workload.</a:t>
            </a:r>
            <a:endParaRPr lang="en-US" sz="1050" dirty="0"/>
          </a:p>
        </p:txBody>
      </p:sp>
      <p:sp>
        <p:nvSpPr>
          <p:cNvPr id="8" name="Text 6"/>
          <p:cNvSpPr/>
          <p:nvPr/>
        </p:nvSpPr>
        <p:spPr>
          <a:xfrm>
            <a:off x="457200" y="2651760"/>
            <a:ext cx="4023360" cy="1572768"/>
          </a:xfrm>
          <a:prstGeom prst="roundRect">
            <a:avLst>
              <a:gd name="adj" fmla="val 4070"/>
            </a:avLst>
          </a:prstGeom>
          <a:solidFill>
            <a:srgbClr val="F0F4F5"/>
          </a:solidFill>
          <a:ln/>
        </p:spPr>
        <p:txBody>
          <a:bodyPr wrap="square" lIns="114300" tIns="114300" rIns="114300" bIns="114300" rtlCol="0" anchor="t"/>
          <a:lstStyle/>
          <a:p>
            <a:pPr indent="0" marL="0">
              <a:spcAft>
                <a:spcPts val="400"/>
              </a:spcAft>
              <a:buNone/>
            </a:pPr>
            <a:r>
              <a:rPr lang="en-US" sz="1050" b="1" dirty="0">
                <a:solidFill>
                  <a:srgbClr val="005EB8"/>
                </a:solidFill>
                <a:latin typeface="Calibri" pitchFamily="34" charset="0"/>
                <a:ea typeface="Calibri" pitchFamily="34" charset="-122"/>
                <a:cs typeface="Calibri" pitchFamily="34" charset="-120"/>
              </a:rPr>
              <a:t>Observed vs Anticipated</a:t>
            </a:r>
            <a:endParaRPr lang="en-US" sz="1050" dirty="0"/>
          </a:p>
          <a:p>
            <a:pPr indent="0" marL="0">
              <a:buNone/>
            </a:pPr>
            <a:r>
              <a:rPr lang="en-US" sz="850" dirty="0">
                <a:solidFill>
                  <a:srgbClr val="231F20"/>
                </a:solidFill>
                <a:latin typeface="Calibri" pitchFamily="34" charset="0"/>
                <a:ea typeface="Calibri" pitchFamily="34" charset="-122"/>
                <a:cs typeface="Calibri" pitchFamily="34" charset="-120"/>
              </a:rPr>
              <a:t>If results differed from hopes, what got in the way — context, time, uptake?</a:t>
            </a:r>
            <a:endParaRPr lang="en-US" sz="1050" dirty="0"/>
          </a:p>
        </p:txBody>
      </p:sp>
      <p:sp>
        <p:nvSpPr>
          <p:cNvPr id="9" name="Text 7"/>
          <p:cNvSpPr/>
          <p:nvPr/>
        </p:nvSpPr>
        <p:spPr>
          <a:xfrm>
            <a:off x="4663440" y="2651760"/>
            <a:ext cx="4023360" cy="1572768"/>
          </a:xfrm>
          <a:prstGeom prst="roundRect">
            <a:avLst>
              <a:gd name="adj" fmla="val 4070"/>
            </a:avLst>
          </a:prstGeom>
          <a:solidFill>
            <a:srgbClr val="F0F4F5"/>
          </a:solidFill>
          <a:ln/>
        </p:spPr>
        <p:txBody>
          <a:bodyPr wrap="square" lIns="114300" tIns="114300" rIns="114300" bIns="114300" rtlCol="0" anchor="t"/>
          <a:lstStyle/>
          <a:p>
            <a:pPr indent="0" marL="0">
              <a:spcAft>
                <a:spcPts val="400"/>
              </a:spcAft>
              <a:buNone/>
            </a:pPr>
            <a:r>
              <a:rPr lang="en-US" sz="1050" b="1" dirty="0">
                <a:solidFill>
                  <a:srgbClr val="005EB8"/>
                </a:solidFill>
                <a:latin typeface="Calibri" pitchFamily="34" charset="0"/>
                <a:ea typeface="Calibri" pitchFamily="34" charset="-122"/>
                <a:cs typeface="Calibri" pitchFamily="34" charset="-120"/>
              </a:rPr>
              <a:t>Costs &amp; Trade-offs</a:t>
            </a:r>
            <a:endParaRPr lang="en-US" sz="1050" dirty="0"/>
          </a:p>
          <a:p>
            <a:pPr indent="0" marL="0">
              <a:buNone/>
            </a:pPr>
            <a:r>
              <a:rPr lang="en-US" sz="850" dirty="0">
                <a:solidFill>
                  <a:srgbClr val="231F20"/>
                </a:solidFill>
                <a:latin typeface="Calibri" pitchFamily="34" charset="0"/>
                <a:ea typeface="Calibri" pitchFamily="34" charset="-122"/>
                <a:cs typeface="Calibri" pitchFamily="34" charset="-120"/>
              </a:rPr>
              <a:t>What did it cost in time or money — and what did the team give up to do it?</a:t>
            </a:r>
            <a:endParaRPr lang="en-US" sz="1050" dirty="0"/>
          </a:p>
        </p:txBody>
      </p:sp>
      <p:sp>
        <p:nvSpPr>
          <p:cNvPr id="11" name="Text 8"/>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05EB8"/>
                </a:solidFill>
                <a:latin typeface="Calibri" pitchFamily="34" charset="0"/>
                <a:ea typeface="Calibri" pitchFamily="34" charset="-122"/>
                <a:cs typeface="Calibri" pitchFamily="34" charset="-120"/>
              </a:rPr>
              <a:t>AIM Quality Improvement Team  |  Queen Elizabeth Hospital Birmingham</a:t>
            </a:r>
            <a:endParaRPr lang="en-US" sz="750" dirty="0"/>
          </a:p>
        </p:txBody>
      </p:sp>
      <p:sp>
        <p:nvSpPr>
          <p:cNvPr id="12" name="Text 9"/>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AA5AA"/>
                </a:solidFill>
                <a:latin typeface="Calibri" pitchFamily="34" charset="0"/>
                <a:ea typeface="Calibri" pitchFamily="34" charset="-122"/>
                <a:cs typeface="Calibri" pitchFamily="34" charset="-120"/>
              </a:rPr>
              <a:t>SQUIRE 2.0 Presentation Template</a:t>
            </a:r>
            <a:endParaRPr lang="en-US" sz="7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274320"/>
            <a:ext cx="6766560" cy="475488"/>
          </a:xfrm>
          <a:prstGeom prst="rect">
            <a:avLst/>
          </a:prstGeom>
          <a:noFill/>
          <a:ln/>
        </p:spPr>
        <p:txBody>
          <a:bodyPr wrap="square" lIns="0" tIns="0" rIns="0" bIns="0" rtlCol="0" anchor="ctr"/>
          <a:lstStyle/>
          <a:p>
            <a:pPr indent="0" marL="0">
              <a:buNone/>
            </a:pPr>
            <a:r>
              <a:rPr lang="en-US" sz="2200" b="1" dirty="0">
                <a:solidFill>
                  <a:srgbClr val="231F20"/>
                </a:solidFill>
                <a:latin typeface="Calibri" pitchFamily="34" charset="0"/>
                <a:ea typeface="Calibri" pitchFamily="34" charset="-122"/>
                <a:cs typeface="Calibri" pitchFamily="34" charset="-120"/>
              </a:rPr>
              <a:t>Limitations</a:t>
            </a:r>
            <a:endParaRPr lang="en-US" sz="2200" dirty="0"/>
          </a:p>
        </p:txBody>
      </p:sp>
      <p:sp>
        <p:nvSpPr>
          <p:cNvPr id="3" name="Text 1"/>
          <p:cNvSpPr/>
          <p:nvPr/>
        </p:nvSpPr>
        <p:spPr>
          <a:xfrm>
            <a:off x="7832750" y="292608"/>
            <a:ext cx="854050" cy="310896"/>
          </a:xfrm>
          <a:prstGeom prst="roundRect">
            <a:avLst>
              <a:gd name="adj" fmla="val 47059"/>
            </a:avLst>
          </a:prstGeom>
          <a:solidFill>
            <a:srgbClr val="005EB8"/>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ITEM 16</a:t>
            </a:r>
            <a:endParaRPr lang="en-US" sz="900" dirty="0"/>
          </a:p>
        </p:txBody>
      </p:sp>
      <p:sp>
        <p:nvSpPr>
          <p:cNvPr id="4" name="Text 2"/>
          <p:cNvSpPr/>
          <p:nvPr/>
        </p:nvSpPr>
        <p:spPr>
          <a:xfrm>
            <a:off x="457200" y="932688"/>
            <a:ext cx="2624328" cy="3200400"/>
          </a:xfrm>
          <a:prstGeom prst="roundRect">
            <a:avLst>
              <a:gd name="adj" fmla="val 2439"/>
            </a:avLst>
          </a:prstGeom>
          <a:solidFill>
            <a:srgbClr val="F0F4F5"/>
          </a:solidFill>
          <a:ln/>
        </p:spPr>
        <p:txBody>
          <a:bodyPr wrap="square" lIns="114300" tIns="114300" rIns="114300" bIns="114300" rtlCol="0" anchor="t"/>
          <a:lstStyle/>
          <a:p>
            <a:pPr indent="0" marL="0">
              <a:spcAft>
                <a:spcPts val="400"/>
              </a:spcAft>
              <a:buNone/>
            </a:pPr>
            <a:r>
              <a:rPr lang="en-US" sz="1150" b="1" dirty="0">
                <a:solidFill>
                  <a:srgbClr val="005EB8"/>
                </a:solidFill>
                <a:latin typeface="Calibri" pitchFamily="34" charset="0"/>
                <a:ea typeface="Calibri" pitchFamily="34" charset="-122"/>
                <a:cs typeface="Calibri" pitchFamily="34" charset="-120"/>
              </a:rPr>
              <a:t>Small &amp; Local</a:t>
            </a:r>
            <a:endParaRPr lang="en-US" sz="1150" dirty="0"/>
          </a:p>
          <a:p>
            <a:pPr indent="0" marL="0">
              <a:spcAft>
                <a:spcPts val="300"/>
              </a:spcAft>
              <a:buNone/>
            </a:pPr>
            <a:r>
              <a:rPr lang="en-US" sz="950" dirty="0">
                <a:solidFill>
                  <a:srgbClr val="231F20"/>
                </a:solidFill>
                <a:latin typeface="Calibri" pitchFamily="34" charset="0"/>
                <a:ea typeface="Calibri" pitchFamily="34" charset="-122"/>
                <a:cs typeface="Calibri" pitchFamily="34" charset="-120"/>
              </a:rPr>
              <a:t>Small numbers, one ward, a short timeframe — the usual (and acceptable) first-QIP limits.</a:t>
            </a:r>
            <a:endParaRPr lang="en-US" sz="1150" dirty="0"/>
          </a:p>
          <a:p>
            <a:pPr indent="0" marL="0">
              <a:spcBef>
                <a:spcPts val="400"/>
              </a:spcBef>
              <a:buNone/>
            </a:pPr>
            <a:r>
              <a:rPr lang="en-US" sz="950" i="1" dirty="0">
                <a:solidFill>
                  <a:srgbClr val="768692"/>
                </a:solidFill>
                <a:latin typeface="Calibri" pitchFamily="34" charset="0"/>
                <a:ea typeface="Calibri" pitchFamily="34" charset="-122"/>
                <a:cs typeface="Calibri" pitchFamily="34" charset="-120"/>
              </a:rPr>
              <a:t>Enter here…</a:t>
            </a:r>
            <a:endParaRPr lang="en-US" sz="1150" dirty="0"/>
          </a:p>
        </p:txBody>
      </p:sp>
      <p:sp>
        <p:nvSpPr>
          <p:cNvPr id="5" name="Text 3"/>
          <p:cNvSpPr/>
          <p:nvPr/>
        </p:nvSpPr>
        <p:spPr>
          <a:xfrm>
            <a:off x="3259836" y="932688"/>
            <a:ext cx="2624328" cy="3200400"/>
          </a:xfrm>
          <a:prstGeom prst="roundRect">
            <a:avLst>
              <a:gd name="adj" fmla="val 2439"/>
            </a:avLst>
          </a:prstGeom>
          <a:solidFill>
            <a:srgbClr val="F0F4F5"/>
          </a:solidFill>
          <a:ln/>
        </p:spPr>
        <p:txBody>
          <a:bodyPr wrap="square" lIns="114300" tIns="114300" rIns="114300" bIns="114300" rtlCol="0" anchor="t"/>
          <a:lstStyle/>
          <a:p>
            <a:pPr indent="0" marL="0">
              <a:spcAft>
                <a:spcPts val="400"/>
              </a:spcAft>
              <a:buNone/>
            </a:pPr>
            <a:r>
              <a:rPr lang="en-US" sz="1150" b="1" dirty="0">
                <a:solidFill>
                  <a:srgbClr val="005EB8"/>
                </a:solidFill>
                <a:latin typeface="Calibri" pitchFamily="34" charset="0"/>
                <a:ea typeface="Calibri" pitchFamily="34" charset="-122"/>
                <a:cs typeface="Calibri" pitchFamily="34" charset="-120"/>
              </a:rPr>
              <a:t>Other Explanations</a:t>
            </a:r>
            <a:endParaRPr lang="en-US" sz="1150" dirty="0"/>
          </a:p>
          <a:p>
            <a:pPr indent="0" marL="0">
              <a:spcAft>
                <a:spcPts val="300"/>
              </a:spcAft>
              <a:buNone/>
            </a:pPr>
            <a:r>
              <a:rPr lang="en-US" sz="950" dirty="0">
                <a:solidFill>
                  <a:srgbClr val="231F20"/>
                </a:solidFill>
                <a:latin typeface="Calibri" pitchFamily="34" charset="0"/>
                <a:ea typeface="Calibri" pitchFamily="34" charset="-122"/>
                <a:cs typeface="Calibri" pitchFamily="34" charset="-120"/>
              </a:rPr>
              <a:t>Anything else that could explain the change — season, staffing, another initiative.</a:t>
            </a:r>
            <a:endParaRPr lang="en-US" sz="1150" dirty="0"/>
          </a:p>
          <a:p>
            <a:pPr indent="0" marL="0">
              <a:spcBef>
                <a:spcPts val="400"/>
              </a:spcBef>
              <a:buNone/>
            </a:pPr>
            <a:r>
              <a:rPr lang="en-US" sz="950" i="1" dirty="0">
                <a:solidFill>
                  <a:srgbClr val="768692"/>
                </a:solidFill>
                <a:latin typeface="Calibri" pitchFamily="34" charset="0"/>
                <a:ea typeface="Calibri" pitchFamily="34" charset="-122"/>
                <a:cs typeface="Calibri" pitchFamily="34" charset="-120"/>
              </a:rPr>
              <a:t>Enter here…</a:t>
            </a:r>
            <a:endParaRPr lang="en-US" sz="1150" dirty="0"/>
          </a:p>
        </p:txBody>
      </p:sp>
      <p:sp>
        <p:nvSpPr>
          <p:cNvPr id="6" name="Text 4"/>
          <p:cNvSpPr/>
          <p:nvPr/>
        </p:nvSpPr>
        <p:spPr>
          <a:xfrm>
            <a:off x="6062472" y="932688"/>
            <a:ext cx="2624328" cy="3200400"/>
          </a:xfrm>
          <a:prstGeom prst="roundRect">
            <a:avLst>
              <a:gd name="adj" fmla="val 2439"/>
            </a:avLst>
          </a:prstGeom>
          <a:solidFill>
            <a:srgbClr val="F0F4F5"/>
          </a:solidFill>
          <a:ln/>
        </p:spPr>
        <p:txBody>
          <a:bodyPr wrap="square" lIns="114300" tIns="114300" rIns="114300" bIns="114300" rtlCol="0" anchor="t"/>
          <a:lstStyle/>
          <a:p>
            <a:pPr indent="0" marL="0">
              <a:spcAft>
                <a:spcPts val="400"/>
              </a:spcAft>
              <a:buNone/>
            </a:pPr>
            <a:r>
              <a:rPr lang="en-US" sz="1150" b="1" dirty="0">
                <a:solidFill>
                  <a:srgbClr val="005EB8"/>
                </a:solidFill>
                <a:latin typeface="Calibri" pitchFamily="34" charset="0"/>
                <a:ea typeface="Calibri" pitchFamily="34" charset="-122"/>
                <a:cs typeface="Calibri" pitchFamily="34" charset="-120"/>
              </a:rPr>
              <a:t>What You Did About It</a:t>
            </a:r>
            <a:endParaRPr lang="en-US" sz="1150" dirty="0"/>
          </a:p>
          <a:p>
            <a:pPr indent="0" marL="0">
              <a:spcAft>
                <a:spcPts val="300"/>
              </a:spcAft>
              <a:buNone/>
            </a:pPr>
            <a:r>
              <a:rPr lang="en-US" sz="950" dirty="0">
                <a:solidFill>
                  <a:srgbClr val="231F20"/>
                </a:solidFill>
                <a:latin typeface="Calibri" pitchFamily="34" charset="0"/>
                <a:ea typeface="Calibri" pitchFamily="34" charset="-122"/>
                <a:cs typeface="Calibri" pitchFamily="34" charset="-120"/>
              </a:rPr>
              <a:t>How you reduced each limitation — and what remained. Naming them adds credibility.</a:t>
            </a:r>
            <a:endParaRPr lang="en-US" sz="1150" dirty="0"/>
          </a:p>
          <a:p>
            <a:pPr indent="0" marL="0">
              <a:spcBef>
                <a:spcPts val="400"/>
              </a:spcBef>
              <a:buNone/>
            </a:pPr>
            <a:r>
              <a:rPr lang="en-US" sz="950" i="1" dirty="0">
                <a:solidFill>
                  <a:srgbClr val="768692"/>
                </a:solidFill>
                <a:latin typeface="Calibri" pitchFamily="34" charset="0"/>
                <a:ea typeface="Calibri" pitchFamily="34" charset="-122"/>
                <a:cs typeface="Calibri" pitchFamily="34" charset="-120"/>
              </a:rPr>
              <a:t>Enter here…</a:t>
            </a:r>
            <a:endParaRPr lang="en-US" sz="1150" dirty="0"/>
          </a:p>
        </p:txBody>
      </p:sp>
      <p:sp>
        <p:nvSpPr>
          <p:cNvPr id="8" name="Text 5"/>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05EB8"/>
                </a:solidFill>
                <a:latin typeface="Calibri" pitchFamily="34" charset="0"/>
                <a:ea typeface="Calibri" pitchFamily="34" charset="-122"/>
                <a:cs typeface="Calibri" pitchFamily="34" charset="-120"/>
              </a:rPr>
              <a:t>AIM Quality Improvement Team  |  Queen Elizabeth Hospital Birmingham</a:t>
            </a:r>
            <a:endParaRPr lang="en-US" sz="750" dirty="0"/>
          </a:p>
        </p:txBody>
      </p:sp>
      <p:sp>
        <p:nvSpPr>
          <p:cNvPr id="9" name="Text 6"/>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AA5AA"/>
                </a:solidFill>
                <a:latin typeface="Calibri" pitchFamily="34" charset="0"/>
                <a:ea typeface="Calibri" pitchFamily="34" charset="-122"/>
                <a:cs typeface="Calibri" pitchFamily="34" charset="-120"/>
              </a:rPr>
              <a:t>SQUIRE 2.0 Presentation Template</a:t>
            </a:r>
            <a:endParaRPr lang="en-US" sz="7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274320"/>
            <a:ext cx="6766560" cy="475488"/>
          </a:xfrm>
          <a:prstGeom prst="rect">
            <a:avLst/>
          </a:prstGeom>
          <a:noFill/>
          <a:ln/>
        </p:spPr>
        <p:txBody>
          <a:bodyPr wrap="square" lIns="0" tIns="0" rIns="0" bIns="0" rtlCol="0" anchor="ctr"/>
          <a:lstStyle/>
          <a:p>
            <a:pPr indent="0" marL="0">
              <a:buNone/>
            </a:pPr>
            <a:r>
              <a:rPr lang="en-US" sz="2200" b="1" dirty="0">
                <a:solidFill>
                  <a:srgbClr val="231F20"/>
                </a:solidFill>
                <a:latin typeface="Calibri" pitchFamily="34" charset="0"/>
                <a:ea typeface="Calibri" pitchFamily="34" charset="-122"/>
                <a:cs typeface="Calibri" pitchFamily="34" charset="-120"/>
              </a:rPr>
              <a:t>Conclusions</a:t>
            </a:r>
            <a:endParaRPr lang="en-US" sz="2200" dirty="0"/>
          </a:p>
        </p:txBody>
      </p:sp>
      <p:sp>
        <p:nvSpPr>
          <p:cNvPr id="3" name="Text 1"/>
          <p:cNvSpPr/>
          <p:nvPr/>
        </p:nvSpPr>
        <p:spPr>
          <a:xfrm>
            <a:off x="7832750" y="292608"/>
            <a:ext cx="854050" cy="310896"/>
          </a:xfrm>
          <a:prstGeom prst="roundRect">
            <a:avLst>
              <a:gd name="adj" fmla="val 47059"/>
            </a:avLst>
          </a:prstGeom>
          <a:solidFill>
            <a:srgbClr val="005EB8"/>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ITEM 17</a:t>
            </a:r>
            <a:endParaRPr lang="en-US" sz="900" dirty="0"/>
          </a:p>
        </p:txBody>
      </p:sp>
      <p:sp>
        <p:nvSpPr>
          <p:cNvPr id="4" name="Text 2"/>
          <p:cNvSpPr/>
          <p:nvPr/>
        </p:nvSpPr>
        <p:spPr>
          <a:xfrm>
            <a:off x="457200" y="932688"/>
            <a:ext cx="2487168" cy="1700784"/>
          </a:xfrm>
          <a:prstGeom prst="roundRect">
            <a:avLst>
              <a:gd name="adj" fmla="val 3763"/>
            </a:avLst>
          </a:prstGeom>
          <a:solidFill>
            <a:srgbClr val="F0F4F5"/>
          </a:solidFill>
          <a:ln/>
        </p:spPr>
        <p:txBody>
          <a:bodyPr wrap="square" lIns="114300" tIns="114300" rIns="114300" bIns="114300" rtlCol="0" anchor="t"/>
          <a:lstStyle/>
          <a:p>
            <a:pPr indent="0" marL="0">
              <a:spcAft>
                <a:spcPts val="400"/>
              </a:spcAft>
              <a:buNone/>
            </a:pPr>
            <a:r>
              <a:rPr lang="en-US" sz="1050" b="1" dirty="0">
                <a:solidFill>
                  <a:srgbClr val="005EB8"/>
                </a:solidFill>
                <a:latin typeface="Calibri" pitchFamily="34" charset="0"/>
                <a:ea typeface="Calibri" pitchFamily="34" charset="-122"/>
                <a:cs typeface="Calibri" pitchFamily="34" charset="-120"/>
              </a:rPr>
              <a:t>Usefulness</a:t>
            </a:r>
            <a:endParaRPr lang="en-US" sz="1050" dirty="0"/>
          </a:p>
          <a:p>
            <a:pPr indent="0" marL="0">
              <a:spcAft>
                <a:spcPts val="400"/>
              </a:spcAft>
              <a:buNone/>
            </a:pPr>
            <a:r>
              <a:rPr lang="en-US" sz="850" dirty="0">
                <a:solidFill>
                  <a:srgbClr val="231F20"/>
                </a:solidFill>
                <a:latin typeface="Calibri" pitchFamily="34" charset="0"/>
                <a:ea typeface="Calibri" pitchFamily="34" charset="-122"/>
                <a:cs typeface="Calibri" pitchFamily="34" charset="-120"/>
              </a:rPr>
              <a:t>What practical value does this offer — here and on similar wards?</a:t>
            </a:r>
            <a:endParaRPr lang="en-US" sz="1050" dirty="0"/>
          </a:p>
          <a:p>
            <a:pPr indent="0" marL="0">
              <a:spcBef>
                <a:spcPts val="400"/>
              </a:spcBef>
              <a:buNone/>
            </a:pPr>
            <a:r>
              <a:rPr lang="en-US" sz="950" i="1" dirty="0">
                <a:solidFill>
                  <a:srgbClr val="768692"/>
                </a:solidFill>
                <a:latin typeface="Calibri" pitchFamily="34" charset="0"/>
                <a:ea typeface="Calibri" pitchFamily="34" charset="-122"/>
                <a:cs typeface="Calibri" pitchFamily="34" charset="-120"/>
              </a:rPr>
              <a:t>Enter here…</a:t>
            </a:r>
            <a:endParaRPr lang="en-US" sz="1050" dirty="0"/>
          </a:p>
        </p:txBody>
      </p:sp>
      <p:sp>
        <p:nvSpPr>
          <p:cNvPr id="5" name="Text 3"/>
          <p:cNvSpPr/>
          <p:nvPr/>
        </p:nvSpPr>
        <p:spPr>
          <a:xfrm>
            <a:off x="3090672" y="932688"/>
            <a:ext cx="2487168" cy="1700784"/>
          </a:xfrm>
          <a:prstGeom prst="roundRect">
            <a:avLst>
              <a:gd name="adj" fmla="val 3763"/>
            </a:avLst>
          </a:prstGeom>
          <a:solidFill>
            <a:srgbClr val="F0F4F5"/>
          </a:solidFill>
          <a:ln/>
        </p:spPr>
        <p:txBody>
          <a:bodyPr wrap="square" lIns="114300" tIns="114300" rIns="114300" bIns="114300" rtlCol="0" anchor="t"/>
          <a:lstStyle/>
          <a:p>
            <a:pPr indent="0" marL="0">
              <a:spcAft>
                <a:spcPts val="400"/>
              </a:spcAft>
              <a:buNone/>
            </a:pPr>
            <a:r>
              <a:rPr lang="en-US" sz="1050" b="1" dirty="0">
                <a:solidFill>
                  <a:srgbClr val="005EB8"/>
                </a:solidFill>
                <a:latin typeface="Calibri" pitchFamily="34" charset="0"/>
                <a:ea typeface="Calibri" pitchFamily="34" charset="-122"/>
                <a:cs typeface="Calibri" pitchFamily="34" charset="-120"/>
              </a:rPr>
              <a:t>Sustainability</a:t>
            </a:r>
            <a:endParaRPr lang="en-US" sz="1050" dirty="0"/>
          </a:p>
          <a:p>
            <a:pPr indent="0" marL="0">
              <a:spcAft>
                <a:spcPts val="400"/>
              </a:spcAft>
              <a:buNone/>
            </a:pPr>
            <a:r>
              <a:rPr lang="en-US" sz="850" dirty="0">
                <a:solidFill>
                  <a:srgbClr val="231F20"/>
                </a:solidFill>
                <a:latin typeface="Calibri" pitchFamily="34" charset="0"/>
                <a:ea typeface="Calibri" pitchFamily="34" charset="-122"/>
                <a:cs typeface="Calibri" pitchFamily="34" charset="-120"/>
              </a:rPr>
              <a:t>Who owns it after you rotate — and when is it re-checked?</a:t>
            </a:r>
            <a:endParaRPr lang="en-US" sz="1050" dirty="0"/>
          </a:p>
          <a:p>
            <a:pPr indent="0" marL="0">
              <a:spcBef>
                <a:spcPts val="400"/>
              </a:spcBef>
              <a:buNone/>
            </a:pPr>
            <a:r>
              <a:rPr lang="en-US" sz="950" i="1" dirty="0">
                <a:solidFill>
                  <a:srgbClr val="768692"/>
                </a:solidFill>
                <a:latin typeface="Calibri" pitchFamily="34" charset="0"/>
                <a:ea typeface="Calibri" pitchFamily="34" charset="-122"/>
                <a:cs typeface="Calibri" pitchFamily="34" charset="-120"/>
              </a:rPr>
              <a:t>Enter here…</a:t>
            </a:r>
            <a:endParaRPr lang="en-US" sz="1050" dirty="0"/>
          </a:p>
        </p:txBody>
      </p:sp>
      <p:sp>
        <p:nvSpPr>
          <p:cNvPr id="6" name="Text 4"/>
          <p:cNvSpPr/>
          <p:nvPr/>
        </p:nvSpPr>
        <p:spPr>
          <a:xfrm>
            <a:off x="457200" y="2743200"/>
            <a:ext cx="2487168" cy="1700784"/>
          </a:xfrm>
          <a:prstGeom prst="roundRect">
            <a:avLst>
              <a:gd name="adj" fmla="val 3763"/>
            </a:avLst>
          </a:prstGeom>
          <a:solidFill>
            <a:srgbClr val="F0F4F5"/>
          </a:solidFill>
          <a:ln/>
        </p:spPr>
        <p:txBody>
          <a:bodyPr wrap="square" lIns="114300" tIns="114300" rIns="114300" bIns="114300" rtlCol="0" anchor="t"/>
          <a:lstStyle/>
          <a:p>
            <a:pPr indent="0" marL="0">
              <a:spcAft>
                <a:spcPts val="400"/>
              </a:spcAft>
              <a:buNone/>
            </a:pPr>
            <a:r>
              <a:rPr lang="en-US" sz="1050" b="1" dirty="0">
                <a:solidFill>
                  <a:srgbClr val="005EB8"/>
                </a:solidFill>
                <a:latin typeface="Calibri" pitchFamily="34" charset="0"/>
                <a:ea typeface="Calibri" pitchFamily="34" charset="-122"/>
                <a:cs typeface="Calibri" pitchFamily="34" charset="-120"/>
              </a:rPr>
              <a:t>Potential for Spread</a:t>
            </a:r>
            <a:endParaRPr lang="en-US" sz="1050" dirty="0"/>
          </a:p>
          <a:p>
            <a:pPr indent="0" marL="0">
              <a:spcAft>
                <a:spcPts val="400"/>
              </a:spcAft>
              <a:buNone/>
            </a:pPr>
            <a:r>
              <a:rPr lang="en-US" sz="850" dirty="0">
                <a:solidFill>
                  <a:srgbClr val="231F20"/>
                </a:solidFill>
                <a:latin typeface="Calibri" pitchFamily="34" charset="0"/>
                <a:ea typeface="Calibri" pitchFamily="34" charset="-122"/>
                <a:cs typeface="Calibri" pitchFamily="34" charset="-120"/>
              </a:rPr>
              <a:t>Could another ward copy it? What would they need?</a:t>
            </a:r>
            <a:endParaRPr lang="en-US" sz="1050" dirty="0"/>
          </a:p>
          <a:p>
            <a:pPr indent="0" marL="0">
              <a:spcBef>
                <a:spcPts val="400"/>
              </a:spcBef>
              <a:buNone/>
            </a:pPr>
            <a:r>
              <a:rPr lang="en-US" sz="950" i="1" dirty="0">
                <a:solidFill>
                  <a:srgbClr val="768692"/>
                </a:solidFill>
                <a:latin typeface="Calibri" pitchFamily="34" charset="0"/>
                <a:ea typeface="Calibri" pitchFamily="34" charset="-122"/>
                <a:cs typeface="Calibri" pitchFamily="34" charset="-120"/>
              </a:rPr>
              <a:t>Enter here…</a:t>
            </a:r>
            <a:endParaRPr lang="en-US" sz="1050" dirty="0"/>
          </a:p>
        </p:txBody>
      </p:sp>
      <p:sp>
        <p:nvSpPr>
          <p:cNvPr id="7" name="Text 5"/>
          <p:cNvSpPr/>
          <p:nvPr/>
        </p:nvSpPr>
        <p:spPr>
          <a:xfrm>
            <a:off x="3090672" y="2743200"/>
            <a:ext cx="2487168" cy="1700784"/>
          </a:xfrm>
          <a:prstGeom prst="roundRect">
            <a:avLst>
              <a:gd name="adj" fmla="val 3763"/>
            </a:avLst>
          </a:prstGeom>
          <a:solidFill>
            <a:srgbClr val="F0F4F5"/>
          </a:solidFill>
          <a:ln/>
        </p:spPr>
        <p:txBody>
          <a:bodyPr wrap="square" lIns="114300" tIns="114300" rIns="114300" bIns="114300" rtlCol="0" anchor="t"/>
          <a:lstStyle/>
          <a:p>
            <a:pPr indent="0" marL="0">
              <a:spcAft>
                <a:spcPts val="400"/>
              </a:spcAft>
              <a:buNone/>
            </a:pPr>
            <a:r>
              <a:rPr lang="en-US" sz="1050" b="1" dirty="0">
                <a:solidFill>
                  <a:srgbClr val="005EB8"/>
                </a:solidFill>
                <a:latin typeface="Calibri" pitchFamily="34" charset="0"/>
                <a:ea typeface="Calibri" pitchFamily="34" charset="-122"/>
                <a:cs typeface="Calibri" pitchFamily="34" charset="-120"/>
              </a:rPr>
              <a:t>Implications</a:t>
            </a:r>
            <a:endParaRPr lang="en-US" sz="1050" dirty="0"/>
          </a:p>
          <a:p>
            <a:pPr indent="0" marL="0">
              <a:spcAft>
                <a:spcPts val="400"/>
              </a:spcAft>
              <a:buNone/>
            </a:pPr>
            <a:r>
              <a:rPr lang="en-US" sz="850" dirty="0">
                <a:solidFill>
                  <a:srgbClr val="231F20"/>
                </a:solidFill>
                <a:latin typeface="Calibri" pitchFamily="34" charset="0"/>
                <a:ea typeface="Calibri" pitchFamily="34" charset="-122"/>
                <a:cs typeface="Calibri" pitchFamily="34" charset="-120"/>
              </a:rPr>
              <a:t>What should change in everyday practice — from Monday?</a:t>
            </a:r>
            <a:endParaRPr lang="en-US" sz="1050" dirty="0"/>
          </a:p>
          <a:p>
            <a:pPr indent="0" marL="0">
              <a:spcBef>
                <a:spcPts val="400"/>
              </a:spcBef>
              <a:buNone/>
            </a:pPr>
            <a:r>
              <a:rPr lang="en-US" sz="950" i="1" dirty="0">
                <a:solidFill>
                  <a:srgbClr val="768692"/>
                </a:solidFill>
                <a:latin typeface="Calibri" pitchFamily="34" charset="0"/>
                <a:ea typeface="Calibri" pitchFamily="34" charset="-122"/>
                <a:cs typeface="Calibri" pitchFamily="34" charset="-120"/>
              </a:rPr>
              <a:t>Enter here…</a:t>
            </a:r>
            <a:endParaRPr lang="en-US" sz="1050" dirty="0"/>
          </a:p>
        </p:txBody>
      </p:sp>
      <p:sp>
        <p:nvSpPr>
          <p:cNvPr id="8" name="Text 6"/>
          <p:cNvSpPr/>
          <p:nvPr/>
        </p:nvSpPr>
        <p:spPr>
          <a:xfrm>
            <a:off x="5760720" y="932688"/>
            <a:ext cx="2926080" cy="3511296"/>
          </a:xfrm>
          <a:prstGeom prst="roundRect">
            <a:avLst>
              <a:gd name="adj" fmla="val 2188"/>
            </a:avLst>
          </a:prstGeom>
          <a:solidFill>
            <a:srgbClr val="D9E7F5"/>
          </a:solidFill>
          <a:ln/>
        </p:spPr>
        <p:txBody>
          <a:bodyPr wrap="square" lIns="114300" tIns="114300" rIns="114300" bIns="114300" rtlCol="0" anchor="t"/>
          <a:lstStyle/>
          <a:p>
            <a:pPr indent="0" marL="0">
              <a:spcAft>
                <a:spcPts val="400"/>
              </a:spcAft>
              <a:buNone/>
            </a:pPr>
            <a:r>
              <a:rPr lang="en-US" sz="1150" b="1" dirty="0">
                <a:solidFill>
                  <a:srgbClr val="005EB8"/>
                </a:solidFill>
                <a:latin typeface="Calibri" pitchFamily="34" charset="0"/>
                <a:ea typeface="Calibri" pitchFamily="34" charset="-122"/>
                <a:cs typeface="Calibri" pitchFamily="34" charset="-120"/>
              </a:rPr>
              <a:t>Suggested Next Steps — 17e</a:t>
            </a:r>
            <a:endParaRPr lang="en-US" sz="1150" dirty="0"/>
          </a:p>
          <a:p>
            <a:pPr indent="0" marL="0">
              <a:spcAft>
                <a:spcPts val="300"/>
              </a:spcAft>
              <a:buNone/>
            </a:pPr>
            <a:r>
              <a:rPr lang="en-US" sz="950" dirty="0">
                <a:solidFill>
                  <a:srgbClr val="231F20"/>
                </a:solidFill>
                <a:latin typeface="Calibri" pitchFamily="34" charset="0"/>
                <a:ea typeface="Calibri" pitchFamily="34" charset="-122"/>
                <a:cs typeface="Calibri" pitchFamily="34" charset="-120"/>
              </a:rPr>
              <a:t>The next PDSA cycle — even if someone else runs it.</a:t>
            </a:r>
            <a:endParaRPr lang="en-US" sz="1150" dirty="0"/>
          </a:p>
          <a:p>
            <a:pPr indent="0" marL="0">
              <a:spcBef>
                <a:spcPts val="300"/>
              </a:spcBef>
              <a:spcAft>
                <a:spcPts val="400"/>
              </a:spcAft>
              <a:buNone/>
            </a:pPr>
            <a:r>
              <a:rPr lang="en-US" sz="950" i="1" dirty="0">
                <a:solidFill>
                  <a:srgbClr val="768692"/>
                </a:solidFill>
                <a:latin typeface="Calibri" pitchFamily="34" charset="0"/>
                <a:ea typeface="Calibri" pitchFamily="34" charset="-122"/>
                <a:cs typeface="Calibri" pitchFamily="34" charset="-120"/>
              </a:rPr>
              <a:t>1.  Enter…</a:t>
            </a:r>
            <a:endParaRPr lang="en-US" sz="1150" dirty="0"/>
          </a:p>
          <a:p>
            <a:pPr indent="0" marL="0">
              <a:spcAft>
                <a:spcPts val="400"/>
              </a:spcAft>
              <a:buNone/>
            </a:pPr>
            <a:r>
              <a:rPr lang="en-US" sz="950" i="1" dirty="0">
                <a:solidFill>
                  <a:srgbClr val="768692"/>
                </a:solidFill>
                <a:latin typeface="Calibri" pitchFamily="34" charset="0"/>
                <a:ea typeface="Calibri" pitchFamily="34" charset="-122"/>
                <a:cs typeface="Calibri" pitchFamily="34" charset="-120"/>
              </a:rPr>
              <a:t>2.  Enter…</a:t>
            </a:r>
            <a:endParaRPr lang="en-US" sz="1150" dirty="0"/>
          </a:p>
          <a:p>
            <a:pPr indent="0" marL="0">
              <a:buNone/>
            </a:pPr>
            <a:r>
              <a:rPr lang="en-US" sz="950" i="1" dirty="0">
                <a:solidFill>
                  <a:srgbClr val="768692"/>
                </a:solidFill>
                <a:latin typeface="Calibri" pitchFamily="34" charset="0"/>
                <a:ea typeface="Calibri" pitchFamily="34" charset="-122"/>
                <a:cs typeface="Calibri" pitchFamily="34" charset="-120"/>
              </a:rPr>
              <a:t>3.  Enter…</a:t>
            </a:r>
            <a:endParaRPr lang="en-US" sz="1150" dirty="0"/>
          </a:p>
        </p:txBody>
      </p:sp>
      <p:sp>
        <p:nvSpPr>
          <p:cNvPr id="10" name="Text 7"/>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05EB8"/>
                </a:solidFill>
                <a:latin typeface="Calibri" pitchFamily="34" charset="0"/>
                <a:ea typeface="Calibri" pitchFamily="34" charset="-122"/>
                <a:cs typeface="Calibri" pitchFamily="34" charset="-120"/>
              </a:rPr>
              <a:t>AIM Quality Improvement Team  |  Queen Elizabeth Hospital Birmingham</a:t>
            </a:r>
            <a:endParaRPr lang="en-US" sz="750" dirty="0"/>
          </a:p>
        </p:txBody>
      </p:sp>
      <p:sp>
        <p:nvSpPr>
          <p:cNvPr id="11" name="Text 8"/>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AA5AA"/>
                </a:solidFill>
                <a:latin typeface="Calibri" pitchFamily="34" charset="0"/>
                <a:ea typeface="Calibri" pitchFamily="34" charset="-122"/>
                <a:cs typeface="Calibri" pitchFamily="34" charset="-120"/>
              </a:rPr>
              <a:t>SQUIRE 2.0 Presentation Template</a:t>
            </a:r>
            <a:endParaRPr lang="en-US" sz="7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05EB8"/>
                </a:solidFill>
                <a:latin typeface="Calibri" pitchFamily="34" charset="0"/>
                <a:ea typeface="Calibri" pitchFamily="34" charset="-122"/>
                <a:cs typeface="Calibri" pitchFamily="34" charset="-120"/>
              </a:rPr>
              <a:t>OTHER INFORMATION</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231F20"/>
                </a:solidFill>
                <a:latin typeface="Calibri" pitchFamily="34" charset="0"/>
                <a:ea typeface="Calibri" pitchFamily="34" charset="-122"/>
                <a:cs typeface="Calibri" pitchFamily="34" charset="-120"/>
              </a:rPr>
              <a:t>Funding &amp; Support</a:t>
            </a:r>
            <a:endParaRPr lang="en-US" sz="2200" dirty="0"/>
          </a:p>
        </p:txBody>
      </p:sp>
      <p:sp>
        <p:nvSpPr>
          <p:cNvPr id="4" name="Text 2"/>
          <p:cNvSpPr/>
          <p:nvPr/>
        </p:nvSpPr>
        <p:spPr>
          <a:xfrm>
            <a:off x="7832750" y="292608"/>
            <a:ext cx="854050" cy="310896"/>
          </a:xfrm>
          <a:prstGeom prst="roundRect">
            <a:avLst>
              <a:gd name="adj" fmla="val 47059"/>
            </a:avLst>
          </a:prstGeom>
          <a:solidFill>
            <a:srgbClr val="005EB8"/>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ITEM 18</a:t>
            </a:r>
            <a:endParaRPr lang="en-US" sz="900" dirty="0"/>
          </a:p>
        </p:txBody>
      </p:sp>
      <p:sp>
        <p:nvSpPr>
          <p:cNvPr id="5" name="Text 3"/>
          <p:cNvSpPr/>
          <p:nvPr/>
        </p:nvSpPr>
        <p:spPr>
          <a:xfrm>
            <a:off x="457200" y="932688"/>
            <a:ext cx="2624328" cy="3108960"/>
          </a:xfrm>
          <a:prstGeom prst="roundRect">
            <a:avLst>
              <a:gd name="adj" fmla="val 2439"/>
            </a:avLst>
          </a:prstGeom>
          <a:solidFill>
            <a:srgbClr val="F0F4F5"/>
          </a:solidFill>
          <a:ln/>
        </p:spPr>
        <p:txBody>
          <a:bodyPr wrap="square" lIns="114300" tIns="114300" rIns="114300" bIns="114300" rtlCol="0" anchor="t"/>
          <a:lstStyle/>
          <a:p>
            <a:pPr indent="0" marL="0">
              <a:spcAft>
                <a:spcPts val="400"/>
              </a:spcAft>
              <a:buNone/>
            </a:pPr>
            <a:r>
              <a:rPr lang="en-US" sz="1150" b="1" dirty="0">
                <a:solidFill>
                  <a:srgbClr val="005EB8"/>
                </a:solidFill>
                <a:latin typeface="Calibri" pitchFamily="34" charset="0"/>
                <a:ea typeface="Calibri" pitchFamily="34" charset="-122"/>
                <a:cs typeface="Calibri" pitchFamily="34" charset="-120"/>
              </a:rPr>
              <a:t>Funding Sources</a:t>
            </a:r>
            <a:endParaRPr lang="en-US" sz="1150" dirty="0"/>
          </a:p>
          <a:p>
            <a:pPr indent="0" marL="0">
              <a:spcAft>
                <a:spcPts val="300"/>
              </a:spcAft>
              <a:buNone/>
            </a:pPr>
            <a:r>
              <a:rPr lang="en-US" sz="950" dirty="0">
                <a:solidFill>
                  <a:srgbClr val="231F20"/>
                </a:solidFill>
                <a:latin typeface="Calibri" pitchFamily="34" charset="0"/>
                <a:ea typeface="Calibri" pitchFamily="34" charset="-122"/>
                <a:cs typeface="Calibri" pitchFamily="34" charset="-120"/>
              </a:rPr>
              <a:t>Most first QIPs can simply say: ‘No external funding.’</a:t>
            </a:r>
            <a:endParaRPr lang="en-US" sz="1150" dirty="0"/>
          </a:p>
          <a:p>
            <a:pPr indent="0" marL="0">
              <a:spcBef>
                <a:spcPts val="400"/>
              </a:spcBef>
              <a:buNone/>
            </a:pPr>
            <a:r>
              <a:rPr lang="en-US" sz="950" i="1" dirty="0">
                <a:solidFill>
                  <a:srgbClr val="768692"/>
                </a:solidFill>
                <a:latin typeface="Calibri" pitchFamily="34" charset="0"/>
                <a:ea typeface="Calibri" pitchFamily="34" charset="-122"/>
                <a:cs typeface="Calibri" pitchFamily="34" charset="-120"/>
              </a:rPr>
              <a:t>Enter here…</a:t>
            </a:r>
            <a:endParaRPr lang="en-US" sz="1150" dirty="0"/>
          </a:p>
        </p:txBody>
      </p:sp>
      <p:sp>
        <p:nvSpPr>
          <p:cNvPr id="6" name="Text 4"/>
          <p:cNvSpPr/>
          <p:nvPr/>
        </p:nvSpPr>
        <p:spPr>
          <a:xfrm>
            <a:off x="3259836" y="932688"/>
            <a:ext cx="2624328" cy="3108960"/>
          </a:xfrm>
          <a:prstGeom prst="roundRect">
            <a:avLst>
              <a:gd name="adj" fmla="val 2439"/>
            </a:avLst>
          </a:prstGeom>
          <a:solidFill>
            <a:srgbClr val="F0F4F5"/>
          </a:solidFill>
          <a:ln/>
        </p:spPr>
        <p:txBody>
          <a:bodyPr wrap="square" lIns="114300" tIns="114300" rIns="114300" bIns="114300" rtlCol="0" anchor="t"/>
          <a:lstStyle/>
          <a:p>
            <a:pPr indent="0" marL="0">
              <a:spcAft>
                <a:spcPts val="400"/>
              </a:spcAft>
              <a:buNone/>
            </a:pPr>
            <a:r>
              <a:rPr lang="en-US" sz="1150" b="1" dirty="0">
                <a:solidFill>
                  <a:srgbClr val="005EB8"/>
                </a:solidFill>
                <a:latin typeface="Calibri" pitchFamily="34" charset="0"/>
                <a:ea typeface="Calibri" pitchFamily="34" charset="-122"/>
                <a:cs typeface="Calibri" pitchFamily="34" charset="-120"/>
              </a:rPr>
              <a:t>Role of the Funder</a:t>
            </a:r>
            <a:endParaRPr lang="en-US" sz="1150" dirty="0"/>
          </a:p>
          <a:p>
            <a:pPr indent="0" marL="0">
              <a:spcAft>
                <a:spcPts val="300"/>
              </a:spcAft>
              <a:buNone/>
            </a:pPr>
            <a:r>
              <a:rPr lang="en-US" sz="950" dirty="0">
                <a:solidFill>
                  <a:srgbClr val="231F20"/>
                </a:solidFill>
                <a:latin typeface="Calibri" pitchFamily="34" charset="0"/>
                <a:ea typeface="Calibri" pitchFamily="34" charset="-122"/>
                <a:cs typeface="Calibri" pitchFamily="34" charset="-120"/>
              </a:rPr>
              <a:t>Only needed if someone funded it — what role, if any, did they have?</a:t>
            </a:r>
            <a:endParaRPr lang="en-US" sz="1150" dirty="0"/>
          </a:p>
          <a:p>
            <a:pPr indent="0" marL="0">
              <a:spcBef>
                <a:spcPts val="400"/>
              </a:spcBef>
              <a:buNone/>
            </a:pPr>
            <a:r>
              <a:rPr lang="en-US" sz="950" i="1" dirty="0">
                <a:solidFill>
                  <a:srgbClr val="768692"/>
                </a:solidFill>
                <a:latin typeface="Calibri" pitchFamily="34" charset="0"/>
                <a:ea typeface="Calibri" pitchFamily="34" charset="-122"/>
                <a:cs typeface="Calibri" pitchFamily="34" charset="-120"/>
              </a:rPr>
              <a:t>Enter here…</a:t>
            </a:r>
            <a:endParaRPr lang="en-US" sz="1150" dirty="0"/>
          </a:p>
        </p:txBody>
      </p:sp>
      <p:sp>
        <p:nvSpPr>
          <p:cNvPr id="7" name="Text 5"/>
          <p:cNvSpPr/>
          <p:nvPr/>
        </p:nvSpPr>
        <p:spPr>
          <a:xfrm>
            <a:off x="6062472" y="932688"/>
            <a:ext cx="2624328" cy="3108960"/>
          </a:xfrm>
          <a:prstGeom prst="roundRect">
            <a:avLst>
              <a:gd name="adj" fmla="val 2439"/>
            </a:avLst>
          </a:prstGeom>
          <a:solidFill>
            <a:srgbClr val="F0F4F5"/>
          </a:solidFill>
          <a:ln/>
        </p:spPr>
        <p:txBody>
          <a:bodyPr wrap="square" lIns="114300" tIns="114300" rIns="114300" bIns="114300" rtlCol="0" anchor="t"/>
          <a:lstStyle/>
          <a:p>
            <a:pPr indent="0" marL="0">
              <a:spcAft>
                <a:spcPts val="400"/>
              </a:spcAft>
              <a:buNone/>
            </a:pPr>
            <a:r>
              <a:rPr lang="en-US" sz="1150" b="1" dirty="0">
                <a:solidFill>
                  <a:srgbClr val="005EB8"/>
                </a:solidFill>
                <a:latin typeface="Calibri" pitchFamily="34" charset="0"/>
                <a:ea typeface="Calibri" pitchFamily="34" charset="-122"/>
                <a:cs typeface="Calibri" pitchFamily="34" charset="-120"/>
              </a:rPr>
              <a:t>Support In Kind</a:t>
            </a:r>
            <a:endParaRPr lang="en-US" sz="1150" dirty="0"/>
          </a:p>
          <a:p>
            <a:pPr indent="0" marL="0">
              <a:spcAft>
                <a:spcPts val="300"/>
              </a:spcAft>
              <a:buNone/>
            </a:pPr>
            <a:r>
              <a:rPr lang="en-US" sz="950" dirty="0">
                <a:solidFill>
                  <a:srgbClr val="231F20"/>
                </a:solidFill>
                <a:latin typeface="Calibri" pitchFamily="34" charset="0"/>
                <a:ea typeface="Calibri" pitchFamily="34" charset="-122"/>
                <a:cs typeface="Calibri" pitchFamily="34" charset="-120"/>
              </a:rPr>
              <a:t>Borrowed time, kit or data help — a thank-you line is enough.</a:t>
            </a:r>
            <a:endParaRPr lang="en-US" sz="1150" dirty="0"/>
          </a:p>
          <a:p>
            <a:pPr indent="0" marL="0">
              <a:spcBef>
                <a:spcPts val="400"/>
              </a:spcBef>
              <a:buNone/>
            </a:pPr>
            <a:r>
              <a:rPr lang="en-US" sz="950" i="1" dirty="0">
                <a:solidFill>
                  <a:srgbClr val="768692"/>
                </a:solidFill>
                <a:latin typeface="Calibri" pitchFamily="34" charset="0"/>
                <a:ea typeface="Calibri" pitchFamily="34" charset="-122"/>
                <a:cs typeface="Calibri" pitchFamily="34" charset="-120"/>
              </a:rPr>
              <a:t>Enter here…</a:t>
            </a:r>
            <a:endParaRPr lang="en-US" sz="1150" dirty="0"/>
          </a:p>
        </p:txBody>
      </p:sp>
      <p:sp>
        <p:nvSpPr>
          <p:cNvPr id="9" name="Text 6"/>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05EB8"/>
                </a:solidFill>
                <a:latin typeface="Calibri" pitchFamily="34" charset="0"/>
                <a:ea typeface="Calibri" pitchFamily="34" charset="-122"/>
                <a:cs typeface="Calibri" pitchFamily="34" charset="-120"/>
              </a:rPr>
              <a:t>AIM Quality Improvement Team  |  Queen Elizabeth Hospital Birmingham</a:t>
            </a:r>
            <a:endParaRPr lang="en-US" sz="750" dirty="0"/>
          </a:p>
        </p:txBody>
      </p:sp>
      <p:sp>
        <p:nvSpPr>
          <p:cNvPr id="10" name="Text 7"/>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AA5AA"/>
                </a:solidFill>
                <a:latin typeface="Calibri" pitchFamily="34" charset="0"/>
                <a:ea typeface="Calibri" pitchFamily="34" charset="-122"/>
                <a:cs typeface="Calibri" pitchFamily="34" charset="-120"/>
              </a:rPr>
              <a:t>SQUIRE 2.0 Presentation Template</a:t>
            </a:r>
            <a:endParaRPr lang="en-US" sz="7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05EB8"/>
                </a:solidFill>
                <a:latin typeface="Calibri" pitchFamily="34" charset="0"/>
                <a:ea typeface="Calibri" pitchFamily="34" charset="-122"/>
                <a:cs typeface="Calibri" pitchFamily="34" charset="-120"/>
              </a:rPr>
              <a:t>SQUIRE 2.0 SELF-AUDIT</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231F20"/>
                </a:solidFill>
                <a:latin typeface="Calibri" pitchFamily="34" charset="0"/>
                <a:ea typeface="Calibri" pitchFamily="34" charset="-122"/>
                <a:cs typeface="Calibri" pitchFamily="34" charset="-120"/>
              </a:rPr>
              <a:t>Before You Present — the 18-Item Check</a:t>
            </a:r>
            <a:endParaRPr lang="en-US" sz="2200" dirty="0"/>
          </a:p>
        </p:txBody>
      </p:sp>
      <p:sp>
        <p:nvSpPr>
          <p:cNvPr id="4" name="Text 2"/>
          <p:cNvSpPr/>
          <p:nvPr/>
        </p:nvSpPr>
        <p:spPr>
          <a:xfrm>
            <a:off x="457200" y="914400"/>
            <a:ext cx="4023360" cy="347472"/>
          </a:xfrm>
          <a:prstGeom prst="rect">
            <a:avLst/>
          </a:prstGeom>
          <a:noFill/>
          <a:ln/>
        </p:spPr>
        <p:txBody>
          <a:bodyPr wrap="square" lIns="0" tIns="0" rIns="0" bIns="0" rtlCol="0" anchor="ctr"/>
          <a:lstStyle/>
          <a:p>
            <a:pPr indent="0" marL="0">
              <a:buNone/>
            </a:pPr>
            <a:r>
              <a:rPr lang="en-US" sz="1100" b="1" dirty="0">
                <a:solidFill>
                  <a:srgbClr val="005EB8"/>
                </a:solidFill>
                <a:latin typeface="Calibri" pitchFamily="34" charset="0"/>
                <a:ea typeface="Calibri" pitchFamily="34" charset="-122"/>
                <a:cs typeface="Calibri" pitchFamily="34" charset="-120"/>
              </a:rPr>
              <a:t>☐  </a:t>
            </a:r>
            <a:pPr indent="0" marL="0">
              <a:buNone/>
            </a:pPr>
            <a:r>
              <a:rPr lang="en-US" sz="900" b="1" dirty="0">
                <a:solidFill>
                  <a:srgbClr val="231F20"/>
                </a:solidFill>
                <a:latin typeface="Calibri" pitchFamily="34" charset="0"/>
                <a:ea typeface="Calibri" pitchFamily="34" charset="-122"/>
                <a:cs typeface="Calibri" pitchFamily="34" charset="-120"/>
              </a:rPr>
              <a:t>1  Title</a:t>
            </a:r>
            <a:pPr indent="0" marL="0">
              <a:buNone/>
            </a:pPr>
            <a:r>
              <a:rPr lang="en-US" sz="850" dirty="0">
                <a:solidFill>
                  <a:srgbClr val="425563"/>
                </a:solidFill>
                <a:latin typeface="Calibri" pitchFamily="34" charset="0"/>
                <a:ea typeface="Calibri" pitchFamily="34" charset="-122"/>
                <a:cs typeface="Calibri" pitchFamily="34" charset="-120"/>
              </a:rPr>
              <a:t>  — signals an improvement initiative</a:t>
            </a:r>
            <a:endParaRPr lang="en-US" sz="1100" dirty="0"/>
          </a:p>
        </p:txBody>
      </p:sp>
      <p:sp>
        <p:nvSpPr>
          <p:cNvPr id="5" name="Text 3"/>
          <p:cNvSpPr/>
          <p:nvPr/>
        </p:nvSpPr>
        <p:spPr>
          <a:xfrm>
            <a:off x="457200" y="1298448"/>
            <a:ext cx="4023360" cy="347472"/>
          </a:xfrm>
          <a:prstGeom prst="rect">
            <a:avLst/>
          </a:prstGeom>
          <a:noFill/>
          <a:ln/>
        </p:spPr>
        <p:txBody>
          <a:bodyPr wrap="square" lIns="0" tIns="0" rIns="0" bIns="0" rtlCol="0" anchor="ctr"/>
          <a:lstStyle/>
          <a:p>
            <a:pPr indent="0" marL="0">
              <a:buNone/>
            </a:pPr>
            <a:r>
              <a:rPr lang="en-US" sz="1100" b="1" dirty="0">
                <a:solidFill>
                  <a:srgbClr val="005EB8"/>
                </a:solidFill>
                <a:latin typeface="Calibri" pitchFamily="34" charset="0"/>
                <a:ea typeface="Calibri" pitchFamily="34" charset="-122"/>
                <a:cs typeface="Calibri" pitchFamily="34" charset="-120"/>
              </a:rPr>
              <a:t>☐  </a:t>
            </a:r>
            <a:pPr indent="0" marL="0">
              <a:buNone/>
            </a:pPr>
            <a:r>
              <a:rPr lang="en-US" sz="900" b="1" dirty="0">
                <a:solidFill>
                  <a:srgbClr val="231F20"/>
                </a:solidFill>
                <a:latin typeface="Calibri" pitchFamily="34" charset="0"/>
                <a:ea typeface="Calibri" pitchFamily="34" charset="-122"/>
                <a:cs typeface="Calibri" pitchFamily="34" charset="-120"/>
              </a:rPr>
              <a:t>2  Abstract</a:t>
            </a:r>
            <a:pPr indent="0" marL="0">
              <a:buNone/>
            </a:pPr>
            <a:r>
              <a:rPr lang="en-US" sz="850" dirty="0">
                <a:solidFill>
                  <a:srgbClr val="425563"/>
                </a:solidFill>
                <a:latin typeface="Calibri" pitchFamily="34" charset="0"/>
                <a:ea typeface="Calibri" pitchFamily="34" charset="-122"/>
                <a:cs typeface="Calibri" pitchFamily="34" charset="-120"/>
              </a:rPr>
              <a:t>  — structured &amp; searchable</a:t>
            </a:r>
            <a:endParaRPr lang="en-US" sz="1100" dirty="0"/>
          </a:p>
        </p:txBody>
      </p:sp>
      <p:sp>
        <p:nvSpPr>
          <p:cNvPr id="6" name="Text 4"/>
          <p:cNvSpPr/>
          <p:nvPr/>
        </p:nvSpPr>
        <p:spPr>
          <a:xfrm>
            <a:off x="457200" y="1682496"/>
            <a:ext cx="4023360" cy="347472"/>
          </a:xfrm>
          <a:prstGeom prst="rect">
            <a:avLst/>
          </a:prstGeom>
          <a:noFill/>
          <a:ln/>
        </p:spPr>
        <p:txBody>
          <a:bodyPr wrap="square" lIns="0" tIns="0" rIns="0" bIns="0" rtlCol="0" anchor="ctr"/>
          <a:lstStyle/>
          <a:p>
            <a:pPr indent="0" marL="0">
              <a:buNone/>
            </a:pPr>
            <a:r>
              <a:rPr lang="en-US" sz="1100" b="1" dirty="0">
                <a:solidFill>
                  <a:srgbClr val="005EB8"/>
                </a:solidFill>
                <a:latin typeface="Calibri" pitchFamily="34" charset="0"/>
                <a:ea typeface="Calibri" pitchFamily="34" charset="-122"/>
                <a:cs typeface="Calibri" pitchFamily="34" charset="-120"/>
              </a:rPr>
              <a:t>☐  </a:t>
            </a:r>
            <a:pPr indent="0" marL="0">
              <a:buNone/>
            </a:pPr>
            <a:r>
              <a:rPr lang="en-US" sz="900" b="1" dirty="0">
                <a:solidFill>
                  <a:srgbClr val="231F20"/>
                </a:solidFill>
                <a:latin typeface="Calibri" pitchFamily="34" charset="0"/>
                <a:ea typeface="Calibri" pitchFamily="34" charset="-122"/>
                <a:cs typeface="Calibri" pitchFamily="34" charset="-120"/>
              </a:rPr>
              <a:t>3  Problem Description</a:t>
            </a:r>
            <a:pPr indent="0" marL="0">
              <a:buNone/>
            </a:pPr>
            <a:r>
              <a:rPr lang="en-US" sz="850" dirty="0">
                <a:solidFill>
                  <a:srgbClr val="425563"/>
                </a:solidFill>
                <a:latin typeface="Calibri" pitchFamily="34" charset="0"/>
                <a:ea typeface="Calibri" pitchFamily="34" charset="-122"/>
                <a:cs typeface="Calibri" pitchFamily="34" charset="-120"/>
              </a:rPr>
              <a:t>  — local nature &amp; significance</a:t>
            </a:r>
            <a:endParaRPr lang="en-US" sz="1100" dirty="0"/>
          </a:p>
        </p:txBody>
      </p:sp>
      <p:sp>
        <p:nvSpPr>
          <p:cNvPr id="7" name="Text 5"/>
          <p:cNvSpPr/>
          <p:nvPr/>
        </p:nvSpPr>
        <p:spPr>
          <a:xfrm>
            <a:off x="457200" y="2066544"/>
            <a:ext cx="4023360" cy="347472"/>
          </a:xfrm>
          <a:prstGeom prst="rect">
            <a:avLst/>
          </a:prstGeom>
          <a:noFill/>
          <a:ln/>
        </p:spPr>
        <p:txBody>
          <a:bodyPr wrap="square" lIns="0" tIns="0" rIns="0" bIns="0" rtlCol="0" anchor="ctr"/>
          <a:lstStyle/>
          <a:p>
            <a:pPr indent="0" marL="0">
              <a:buNone/>
            </a:pPr>
            <a:r>
              <a:rPr lang="en-US" sz="1100" b="1" dirty="0">
                <a:solidFill>
                  <a:srgbClr val="005EB8"/>
                </a:solidFill>
                <a:latin typeface="Calibri" pitchFamily="34" charset="0"/>
                <a:ea typeface="Calibri" pitchFamily="34" charset="-122"/>
                <a:cs typeface="Calibri" pitchFamily="34" charset="-120"/>
              </a:rPr>
              <a:t>☐  </a:t>
            </a:r>
            <a:pPr indent="0" marL="0">
              <a:buNone/>
            </a:pPr>
            <a:r>
              <a:rPr lang="en-US" sz="900" b="1" dirty="0">
                <a:solidFill>
                  <a:srgbClr val="231F20"/>
                </a:solidFill>
                <a:latin typeface="Calibri" pitchFamily="34" charset="0"/>
                <a:ea typeface="Calibri" pitchFamily="34" charset="-122"/>
                <a:cs typeface="Calibri" pitchFamily="34" charset="-120"/>
              </a:rPr>
              <a:t>4  Available Knowledge</a:t>
            </a:r>
            <a:pPr indent="0" marL="0">
              <a:buNone/>
            </a:pPr>
            <a:r>
              <a:rPr lang="en-US" sz="850" dirty="0">
                <a:solidFill>
                  <a:srgbClr val="425563"/>
                </a:solidFill>
                <a:latin typeface="Calibri" pitchFamily="34" charset="0"/>
                <a:ea typeface="Calibri" pitchFamily="34" charset="-122"/>
                <a:cs typeface="Calibri" pitchFamily="34" charset="-120"/>
              </a:rPr>
              <a:t>  — what’s already known</a:t>
            </a:r>
            <a:endParaRPr lang="en-US" sz="1100" dirty="0"/>
          </a:p>
        </p:txBody>
      </p:sp>
      <p:sp>
        <p:nvSpPr>
          <p:cNvPr id="8" name="Text 6"/>
          <p:cNvSpPr/>
          <p:nvPr/>
        </p:nvSpPr>
        <p:spPr>
          <a:xfrm>
            <a:off x="457200" y="2450592"/>
            <a:ext cx="4023360" cy="347472"/>
          </a:xfrm>
          <a:prstGeom prst="rect">
            <a:avLst/>
          </a:prstGeom>
          <a:noFill/>
          <a:ln/>
        </p:spPr>
        <p:txBody>
          <a:bodyPr wrap="square" lIns="0" tIns="0" rIns="0" bIns="0" rtlCol="0" anchor="ctr"/>
          <a:lstStyle/>
          <a:p>
            <a:pPr indent="0" marL="0">
              <a:buNone/>
            </a:pPr>
            <a:r>
              <a:rPr lang="en-US" sz="1100" b="1" dirty="0">
                <a:solidFill>
                  <a:srgbClr val="005EB8"/>
                </a:solidFill>
                <a:latin typeface="Calibri" pitchFamily="34" charset="0"/>
                <a:ea typeface="Calibri" pitchFamily="34" charset="-122"/>
                <a:cs typeface="Calibri" pitchFamily="34" charset="-120"/>
              </a:rPr>
              <a:t>☐  </a:t>
            </a:r>
            <a:pPr indent="0" marL="0">
              <a:buNone/>
            </a:pPr>
            <a:r>
              <a:rPr lang="en-US" sz="900" b="1" dirty="0">
                <a:solidFill>
                  <a:srgbClr val="231F20"/>
                </a:solidFill>
                <a:latin typeface="Calibri" pitchFamily="34" charset="0"/>
                <a:ea typeface="Calibri" pitchFamily="34" charset="-122"/>
                <a:cs typeface="Calibri" pitchFamily="34" charset="-120"/>
              </a:rPr>
              <a:t>5  Rationale</a:t>
            </a:r>
            <a:pPr indent="0" marL="0">
              <a:buNone/>
            </a:pPr>
            <a:r>
              <a:rPr lang="en-US" sz="850" dirty="0">
                <a:solidFill>
                  <a:srgbClr val="425563"/>
                </a:solidFill>
                <a:latin typeface="Calibri" pitchFamily="34" charset="0"/>
                <a:ea typeface="Calibri" pitchFamily="34" charset="-122"/>
                <a:cs typeface="Calibri" pitchFamily="34" charset="-120"/>
              </a:rPr>
              <a:t>  — framework, assumptions, mechanism</a:t>
            </a:r>
            <a:endParaRPr lang="en-US" sz="1100" dirty="0"/>
          </a:p>
        </p:txBody>
      </p:sp>
      <p:sp>
        <p:nvSpPr>
          <p:cNvPr id="9" name="Text 7"/>
          <p:cNvSpPr/>
          <p:nvPr/>
        </p:nvSpPr>
        <p:spPr>
          <a:xfrm>
            <a:off x="457200" y="2834640"/>
            <a:ext cx="4023360" cy="347472"/>
          </a:xfrm>
          <a:prstGeom prst="rect">
            <a:avLst/>
          </a:prstGeom>
          <a:noFill/>
          <a:ln/>
        </p:spPr>
        <p:txBody>
          <a:bodyPr wrap="square" lIns="0" tIns="0" rIns="0" bIns="0" rtlCol="0" anchor="ctr"/>
          <a:lstStyle/>
          <a:p>
            <a:pPr indent="0" marL="0">
              <a:buNone/>
            </a:pPr>
            <a:r>
              <a:rPr lang="en-US" sz="1100" b="1" dirty="0">
                <a:solidFill>
                  <a:srgbClr val="005EB8"/>
                </a:solidFill>
                <a:latin typeface="Calibri" pitchFamily="34" charset="0"/>
                <a:ea typeface="Calibri" pitchFamily="34" charset="-122"/>
                <a:cs typeface="Calibri" pitchFamily="34" charset="-120"/>
              </a:rPr>
              <a:t>☐  </a:t>
            </a:r>
            <a:pPr indent="0" marL="0">
              <a:buNone/>
            </a:pPr>
            <a:r>
              <a:rPr lang="en-US" sz="900" b="1" dirty="0">
                <a:solidFill>
                  <a:srgbClr val="231F20"/>
                </a:solidFill>
                <a:latin typeface="Calibri" pitchFamily="34" charset="0"/>
                <a:ea typeface="Calibri" pitchFamily="34" charset="-122"/>
                <a:cs typeface="Calibri" pitchFamily="34" charset="-120"/>
              </a:rPr>
              <a:t>6  Specific Aims</a:t>
            </a:r>
            <a:pPr indent="0" marL="0">
              <a:buNone/>
            </a:pPr>
            <a:r>
              <a:rPr lang="en-US" sz="850" dirty="0">
                <a:solidFill>
                  <a:srgbClr val="425563"/>
                </a:solidFill>
                <a:latin typeface="Calibri" pitchFamily="34" charset="0"/>
                <a:ea typeface="Calibri" pitchFamily="34" charset="-122"/>
                <a:cs typeface="Calibri" pitchFamily="34" charset="-120"/>
              </a:rPr>
              <a:t>  — of the project &amp; the report</a:t>
            </a:r>
            <a:endParaRPr lang="en-US" sz="1100" dirty="0"/>
          </a:p>
        </p:txBody>
      </p:sp>
      <p:sp>
        <p:nvSpPr>
          <p:cNvPr id="10" name="Text 8"/>
          <p:cNvSpPr/>
          <p:nvPr/>
        </p:nvSpPr>
        <p:spPr>
          <a:xfrm>
            <a:off x="457200" y="3218688"/>
            <a:ext cx="4023360" cy="347472"/>
          </a:xfrm>
          <a:prstGeom prst="rect">
            <a:avLst/>
          </a:prstGeom>
          <a:noFill/>
          <a:ln/>
        </p:spPr>
        <p:txBody>
          <a:bodyPr wrap="square" lIns="0" tIns="0" rIns="0" bIns="0" rtlCol="0" anchor="ctr"/>
          <a:lstStyle/>
          <a:p>
            <a:pPr indent="0" marL="0">
              <a:buNone/>
            </a:pPr>
            <a:r>
              <a:rPr lang="en-US" sz="1100" b="1" dirty="0">
                <a:solidFill>
                  <a:srgbClr val="005EB8"/>
                </a:solidFill>
                <a:latin typeface="Calibri" pitchFamily="34" charset="0"/>
                <a:ea typeface="Calibri" pitchFamily="34" charset="-122"/>
                <a:cs typeface="Calibri" pitchFamily="34" charset="-120"/>
              </a:rPr>
              <a:t>☐  </a:t>
            </a:r>
            <a:pPr indent="0" marL="0">
              <a:buNone/>
            </a:pPr>
            <a:r>
              <a:rPr lang="en-US" sz="900" b="1" dirty="0">
                <a:solidFill>
                  <a:srgbClr val="231F20"/>
                </a:solidFill>
                <a:latin typeface="Calibri" pitchFamily="34" charset="0"/>
                <a:ea typeface="Calibri" pitchFamily="34" charset="-122"/>
                <a:cs typeface="Calibri" pitchFamily="34" charset="-120"/>
              </a:rPr>
              <a:t>7  Context</a:t>
            </a:r>
            <a:pPr indent="0" marL="0">
              <a:buNone/>
            </a:pPr>
            <a:r>
              <a:rPr lang="en-US" sz="850" dirty="0">
                <a:solidFill>
                  <a:srgbClr val="425563"/>
                </a:solidFill>
                <a:latin typeface="Calibri" pitchFamily="34" charset="0"/>
                <a:ea typeface="Calibri" pitchFamily="34" charset="-122"/>
                <a:cs typeface="Calibri" pitchFamily="34" charset="-120"/>
              </a:rPr>
              <a:t>  — setting described at the outset</a:t>
            </a:r>
            <a:endParaRPr lang="en-US" sz="1100" dirty="0"/>
          </a:p>
        </p:txBody>
      </p:sp>
      <p:sp>
        <p:nvSpPr>
          <p:cNvPr id="11" name="Text 9"/>
          <p:cNvSpPr/>
          <p:nvPr/>
        </p:nvSpPr>
        <p:spPr>
          <a:xfrm>
            <a:off x="457200" y="3602736"/>
            <a:ext cx="4023360" cy="347472"/>
          </a:xfrm>
          <a:prstGeom prst="rect">
            <a:avLst/>
          </a:prstGeom>
          <a:noFill/>
          <a:ln/>
        </p:spPr>
        <p:txBody>
          <a:bodyPr wrap="square" lIns="0" tIns="0" rIns="0" bIns="0" rtlCol="0" anchor="ctr"/>
          <a:lstStyle/>
          <a:p>
            <a:pPr indent="0" marL="0">
              <a:buNone/>
            </a:pPr>
            <a:r>
              <a:rPr lang="en-US" sz="1100" b="1" dirty="0">
                <a:solidFill>
                  <a:srgbClr val="005EB8"/>
                </a:solidFill>
                <a:latin typeface="Calibri" pitchFamily="34" charset="0"/>
                <a:ea typeface="Calibri" pitchFamily="34" charset="-122"/>
                <a:cs typeface="Calibri" pitchFamily="34" charset="-120"/>
              </a:rPr>
              <a:t>☐  </a:t>
            </a:r>
            <a:pPr indent="0" marL="0">
              <a:buNone/>
            </a:pPr>
            <a:r>
              <a:rPr lang="en-US" sz="900" b="1" dirty="0">
                <a:solidFill>
                  <a:srgbClr val="231F20"/>
                </a:solidFill>
                <a:latin typeface="Calibri" pitchFamily="34" charset="0"/>
                <a:ea typeface="Calibri" pitchFamily="34" charset="-122"/>
                <a:cs typeface="Calibri" pitchFamily="34" charset="-120"/>
              </a:rPr>
              <a:t>8  Intervention(s)</a:t>
            </a:r>
            <a:pPr indent="0" marL="0">
              <a:buNone/>
            </a:pPr>
            <a:r>
              <a:rPr lang="en-US" sz="850" dirty="0">
                <a:solidFill>
                  <a:srgbClr val="425563"/>
                </a:solidFill>
                <a:latin typeface="Calibri" pitchFamily="34" charset="0"/>
                <a:ea typeface="Calibri" pitchFamily="34" charset="-122"/>
                <a:cs typeface="Calibri" pitchFamily="34" charset="-120"/>
              </a:rPr>
              <a:t>  — reproducible detail &amp; team</a:t>
            </a:r>
            <a:endParaRPr lang="en-US" sz="1100" dirty="0"/>
          </a:p>
        </p:txBody>
      </p:sp>
      <p:sp>
        <p:nvSpPr>
          <p:cNvPr id="12" name="Text 10"/>
          <p:cNvSpPr/>
          <p:nvPr/>
        </p:nvSpPr>
        <p:spPr>
          <a:xfrm>
            <a:off x="457200" y="3986784"/>
            <a:ext cx="4023360" cy="347472"/>
          </a:xfrm>
          <a:prstGeom prst="rect">
            <a:avLst/>
          </a:prstGeom>
          <a:noFill/>
          <a:ln/>
        </p:spPr>
        <p:txBody>
          <a:bodyPr wrap="square" lIns="0" tIns="0" rIns="0" bIns="0" rtlCol="0" anchor="ctr"/>
          <a:lstStyle/>
          <a:p>
            <a:pPr indent="0" marL="0">
              <a:buNone/>
            </a:pPr>
            <a:r>
              <a:rPr lang="en-US" sz="1100" b="1" dirty="0">
                <a:solidFill>
                  <a:srgbClr val="005EB8"/>
                </a:solidFill>
                <a:latin typeface="Calibri" pitchFamily="34" charset="0"/>
                <a:ea typeface="Calibri" pitchFamily="34" charset="-122"/>
                <a:cs typeface="Calibri" pitchFamily="34" charset="-120"/>
              </a:rPr>
              <a:t>☐  </a:t>
            </a:r>
            <a:pPr indent="0" marL="0">
              <a:buNone/>
            </a:pPr>
            <a:r>
              <a:rPr lang="en-US" sz="900" b="1" dirty="0">
                <a:solidFill>
                  <a:srgbClr val="231F20"/>
                </a:solidFill>
                <a:latin typeface="Calibri" pitchFamily="34" charset="0"/>
                <a:ea typeface="Calibri" pitchFamily="34" charset="-122"/>
                <a:cs typeface="Calibri" pitchFamily="34" charset="-120"/>
              </a:rPr>
              <a:t>9  Study of the Intervention</a:t>
            </a:r>
            <a:pPr indent="0" marL="0">
              <a:buNone/>
            </a:pPr>
            <a:r>
              <a:rPr lang="en-US" sz="850" dirty="0">
                <a:solidFill>
                  <a:srgbClr val="425563"/>
                </a:solidFill>
                <a:latin typeface="Calibri" pitchFamily="34" charset="0"/>
                <a:ea typeface="Calibri" pitchFamily="34" charset="-122"/>
                <a:cs typeface="Calibri" pitchFamily="34" charset="-120"/>
              </a:rPr>
              <a:t>  — impact &amp; causality</a:t>
            </a:r>
            <a:endParaRPr lang="en-US" sz="1100" dirty="0"/>
          </a:p>
        </p:txBody>
      </p:sp>
      <p:sp>
        <p:nvSpPr>
          <p:cNvPr id="13" name="Text 11"/>
          <p:cNvSpPr/>
          <p:nvPr/>
        </p:nvSpPr>
        <p:spPr>
          <a:xfrm>
            <a:off x="4709160" y="914400"/>
            <a:ext cx="4023360" cy="347472"/>
          </a:xfrm>
          <a:prstGeom prst="rect">
            <a:avLst/>
          </a:prstGeom>
          <a:noFill/>
          <a:ln/>
        </p:spPr>
        <p:txBody>
          <a:bodyPr wrap="square" lIns="0" tIns="0" rIns="0" bIns="0" rtlCol="0" anchor="ctr"/>
          <a:lstStyle/>
          <a:p>
            <a:pPr indent="0" marL="0">
              <a:buNone/>
            </a:pPr>
            <a:r>
              <a:rPr lang="en-US" sz="1100" b="1" dirty="0">
                <a:solidFill>
                  <a:srgbClr val="005EB8"/>
                </a:solidFill>
                <a:latin typeface="Calibri" pitchFamily="34" charset="0"/>
                <a:ea typeface="Calibri" pitchFamily="34" charset="-122"/>
                <a:cs typeface="Calibri" pitchFamily="34" charset="-120"/>
              </a:rPr>
              <a:t>☐  </a:t>
            </a:r>
            <a:pPr indent="0" marL="0">
              <a:buNone/>
            </a:pPr>
            <a:r>
              <a:rPr lang="en-US" sz="900" b="1" dirty="0">
                <a:solidFill>
                  <a:srgbClr val="231F20"/>
                </a:solidFill>
                <a:latin typeface="Calibri" pitchFamily="34" charset="0"/>
                <a:ea typeface="Calibri" pitchFamily="34" charset="-122"/>
                <a:cs typeface="Calibri" pitchFamily="34" charset="-120"/>
              </a:rPr>
              <a:t>10  Measures</a:t>
            </a:r>
            <a:pPr indent="0" marL="0">
              <a:buNone/>
            </a:pPr>
            <a:r>
              <a:rPr lang="en-US" sz="850" dirty="0">
                <a:solidFill>
                  <a:srgbClr val="425563"/>
                </a:solidFill>
                <a:latin typeface="Calibri" pitchFamily="34" charset="0"/>
                <a:ea typeface="Calibri" pitchFamily="34" charset="-122"/>
                <a:cs typeface="Calibri" pitchFamily="34" charset="-120"/>
              </a:rPr>
              <a:t>  — outcome, process, balancing</a:t>
            </a:r>
            <a:endParaRPr lang="en-US" sz="1100" dirty="0"/>
          </a:p>
        </p:txBody>
      </p:sp>
      <p:sp>
        <p:nvSpPr>
          <p:cNvPr id="14" name="Text 12"/>
          <p:cNvSpPr/>
          <p:nvPr/>
        </p:nvSpPr>
        <p:spPr>
          <a:xfrm>
            <a:off x="4709160" y="1298448"/>
            <a:ext cx="4023360" cy="347472"/>
          </a:xfrm>
          <a:prstGeom prst="rect">
            <a:avLst/>
          </a:prstGeom>
          <a:noFill/>
          <a:ln/>
        </p:spPr>
        <p:txBody>
          <a:bodyPr wrap="square" lIns="0" tIns="0" rIns="0" bIns="0" rtlCol="0" anchor="ctr"/>
          <a:lstStyle/>
          <a:p>
            <a:pPr indent="0" marL="0">
              <a:buNone/>
            </a:pPr>
            <a:r>
              <a:rPr lang="en-US" sz="1100" b="1" dirty="0">
                <a:solidFill>
                  <a:srgbClr val="005EB8"/>
                </a:solidFill>
                <a:latin typeface="Calibri" pitchFamily="34" charset="0"/>
                <a:ea typeface="Calibri" pitchFamily="34" charset="-122"/>
                <a:cs typeface="Calibri" pitchFamily="34" charset="-120"/>
              </a:rPr>
              <a:t>☐  </a:t>
            </a:r>
            <a:pPr indent="0" marL="0">
              <a:buNone/>
            </a:pPr>
            <a:r>
              <a:rPr lang="en-US" sz="900" b="1" dirty="0">
                <a:solidFill>
                  <a:srgbClr val="231F20"/>
                </a:solidFill>
                <a:latin typeface="Calibri" pitchFamily="34" charset="0"/>
                <a:ea typeface="Calibri" pitchFamily="34" charset="-122"/>
                <a:cs typeface="Calibri" pitchFamily="34" charset="-120"/>
              </a:rPr>
              <a:t>11  Analysis</a:t>
            </a:r>
            <a:pPr indent="0" marL="0">
              <a:buNone/>
            </a:pPr>
            <a:r>
              <a:rPr lang="en-US" sz="850" dirty="0">
                <a:solidFill>
                  <a:srgbClr val="425563"/>
                </a:solidFill>
                <a:latin typeface="Calibri" pitchFamily="34" charset="0"/>
                <a:ea typeface="Calibri" pitchFamily="34" charset="-122"/>
                <a:cs typeface="Calibri" pitchFamily="34" charset="-120"/>
              </a:rPr>
              <a:t>  — quantitative &amp; qualitative</a:t>
            </a:r>
            <a:endParaRPr lang="en-US" sz="1100" dirty="0"/>
          </a:p>
        </p:txBody>
      </p:sp>
      <p:sp>
        <p:nvSpPr>
          <p:cNvPr id="15" name="Text 13"/>
          <p:cNvSpPr/>
          <p:nvPr/>
        </p:nvSpPr>
        <p:spPr>
          <a:xfrm>
            <a:off x="4709160" y="1682496"/>
            <a:ext cx="4023360" cy="347472"/>
          </a:xfrm>
          <a:prstGeom prst="rect">
            <a:avLst/>
          </a:prstGeom>
          <a:noFill/>
          <a:ln/>
        </p:spPr>
        <p:txBody>
          <a:bodyPr wrap="square" lIns="0" tIns="0" rIns="0" bIns="0" rtlCol="0" anchor="ctr"/>
          <a:lstStyle/>
          <a:p>
            <a:pPr indent="0" marL="0">
              <a:buNone/>
            </a:pPr>
            <a:r>
              <a:rPr lang="en-US" sz="1100" b="1" dirty="0">
                <a:solidFill>
                  <a:srgbClr val="005EB8"/>
                </a:solidFill>
                <a:latin typeface="Calibri" pitchFamily="34" charset="0"/>
                <a:ea typeface="Calibri" pitchFamily="34" charset="-122"/>
                <a:cs typeface="Calibri" pitchFamily="34" charset="-120"/>
              </a:rPr>
              <a:t>☐  </a:t>
            </a:r>
            <a:pPr indent="0" marL="0">
              <a:buNone/>
            </a:pPr>
            <a:r>
              <a:rPr lang="en-US" sz="900" b="1" dirty="0">
                <a:solidFill>
                  <a:srgbClr val="231F20"/>
                </a:solidFill>
                <a:latin typeface="Calibri" pitchFamily="34" charset="0"/>
                <a:ea typeface="Calibri" pitchFamily="34" charset="-122"/>
                <a:cs typeface="Calibri" pitchFamily="34" charset="-120"/>
              </a:rPr>
              <a:t>12  Ethical Considerations</a:t>
            </a:r>
            <a:pPr indent="0" marL="0">
              <a:buNone/>
            </a:pPr>
            <a:r>
              <a:rPr lang="en-US" sz="850" dirty="0">
                <a:solidFill>
                  <a:srgbClr val="425563"/>
                </a:solidFill>
                <a:latin typeface="Calibri" pitchFamily="34" charset="0"/>
                <a:ea typeface="Calibri" pitchFamily="34" charset="-122"/>
                <a:cs typeface="Calibri" pitchFamily="34" charset="-120"/>
              </a:rPr>
              <a:t>  — review, harms, COI</a:t>
            </a:r>
            <a:endParaRPr lang="en-US" sz="1100" dirty="0"/>
          </a:p>
        </p:txBody>
      </p:sp>
      <p:sp>
        <p:nvSpPr>
          <p:cNvPr id="16" name="Text 14"/>
          <p:cNvSpPr/>
          <p:nvPr/>
        </p:nvSpPr>
        <p:spPr>
          <a:xfrm>
            <a:off x="4709160" y="2066544"/>
            <a:ext cx="4023360" cy="347472"/>
          </a:xfrm>
          <a:prstGeom prst="rect">
            <a:avLst/>
          </a:prstGeom>
          <a:noFill/>
          <a:ln/>
        </p:spPr>
        <p:txBody>
          <a:bodyPr wrap="square" lIns="0" tIns="0" rIns="0" bIns="0" rtlCol="0" anchor="ctr"/>
          <a:lstStyle/>
          <a:p>
            <a:pPr indent="0" marL="0">
              <a:buNone/>
            </a:pPr>
            <a:r>
              <a:rPr lang="en-US" sz="1100" b="1" dirty="0">
                <a:solidFill>
                  <a:srgbClr val="005EB8"/>
                </a:solidFill>
                <a:latin typeface="Calibri" pitchFamily="34" charset="0"/>
                <a:ea typeface="Calibri" pitchFamily="34" charset="-122"/>
                <a:cs typeface="Calibri" pitchFamily="34" charset="-120"/>
              </a:rPr>
              <a:t>☐  </a:t>
            </a:r>
            <a:pPr indent="0" marL="0">
              <a:buNone/>
            </a:pPr>
            <a:r>
              <a:rPr lang="en-US" sz="900" b="1" dirty="0">
                <a:solidFill>
                  <a:srgbClr val="231F20"/>
                </a:solidFill>
                <a:latin typeface="Calibri" pitchFamily="34" charset="0"/>
                <a:ea typeface="Calibri" pitchFamily="34" charset="-122"/>
                <a:cs typeface="Calibri" pitchFamily="34" charset="-120"/>
              </a:rPr>
              <a:t>13  Results</a:t>
            </a:r>
            <a:pPr indent="0" marL="0">
              <a:buNone/>
            </a:pPr>
            <a:r>
              <a:rPr lang="en-US" sz="850" dirty="0">
                <a:solidFill>
                  <a:srgbClr val="425563"/>
                </a:solidFill>
                <a:latin typeface="Calibri" pitchFamily="34" charset="0"/>
                <a:ea typeface="Calibri" pitchFamily="34" charset="-122"/>
                <a:cs typeface="Calibri" pitchFamily="34" charset="-120"/>
              </a:rPr>
              <a:t>  — evolution, data, context, surprises</a:t>
            </a:r>
            <a:endParaRPr lang="en-US" sz="1100" dirty="0"/>
          </a:p>
        </p:txBody>
      </p:sp>
      <p:sp>
        <p:nvSpPr>
          <p:cNvPr id="17" name="Text 15"/>
          <p:cNvSpPr/>
          <p:nvPr/>
        </p:nvSpPr>
        <p:spPr>
          <a:xfrm>
            <a:off x="4709160" y="2450592"/>
            <a:ext cx="4023360" cy="347472"/>
          </a:xfrm>
          <a:prstGeom prst="rect">
            <a:avLst/>
          </a:prstGeom>
          <a:noFill/>
          <a:ln/>
        </p:spPr>
        <p:txBody>
          <a:bodyPr wrap="square" lIns="0" tIns="0" rIns="0" bIns="0" rtlCol="0" anchor="ctr"/>
          <a:lstStyle/>
          <a:p>
            <a:pPr indent="0" marL="0">
              <a:buNone/>
            </a:pPr>
            <a:r>
              <a:rPr lang="en-US" sz="1100" b="1" dirty="0">
                <a:solidFill>
                  <a:srgbClr val="005EB8"/>
                </a:solidFill>
                <a:latin typeface="Calibri" pitchFamily="34" charset="0"/>
                <a:ea typeface="Calibri" pitchFamily="34" charset="-122"/>
                <a:cs typeface="Calibri" pitchFamily="34" charset="-120"/>
              </a:rPr>
              <a:t>☐  </a:t>
            </a:r>
            <a:pPr indent="0" marL="0">
              <a:buNone/>
            </a:pPr>
            <a:r>
              <a:rPr lang="en-US" sz="900" b="1" dirty="0">
                <a:solidFill>
                  <a:srgbClr val="231F20"/>
                </a:solidFill>
                <a:latin typeface="Calibri" pitchFamily="34" charset="0"/>
                <a:ea typeface="Calibri" pitchFamily="34" charset="-122"/>
                <a:cs typeface="Calibri" pitchFamily="34" charset="-120"/>
              </a:rPr>
              <a:t>14  Summary</a:t>
            </a:r>
            <a:pPr indent="0" marL="0">
              <a:buNone/>
            </a:pPr>
            <a:r>
              <a:rPr lang="en-US" sz="850" dirty="0">
                <a:solidFill>
                  <a:srgbClr val="425563"/>
                </a:solidFill>
                <a:latin typeface="Calibri" pitchFamily="34" charset="0"/>
                <a:ea typeface="Calibri" pitchFamily="34" charset="-122"/>
                <a:cs typeface="Calibri" pitchFamily="34" charset="-120"/>
              </a:rPr>
              <a:t>  — key findings &amp; strengths</a:t>
            </a:r>
            <a:endParaRPr lang="en-US" sz="1100" dirty="0"/>
          </a:p>
        </p:txBody>
      </p:sp>
      <p:sp>
        <p:nvSpPr>
          <p:cNvPr id="18" name="Text 16"/>
          <p:cNvSpPr/>
          <p:nvPr/>
        </p:nvSpPr>
        <p:spPr>
          <a:xfrm>
            <a:off x="4709160" y="2834640"/>
            <a:ext cx="4023360" cy="347472"/>
          </a:xfrm>
          <a:prstGeom prst="rect">
            <a:avLst/>
          </a:prstGeom>
          <a:noFill/>
          <a:ln/>
        </p:spPr>
        <p:txBody>
          <a:bodyPr wrap="square" lIns="0" tIns="0" rIns="0" bIns="0" rtlCol="0" anchor="ctr"/>
          <a:lstStyle/>
          <a:p>
            <a:pPr indent="0" marL="0">
              <a:buNone/>
            </a:pPr>
            <a:r>
              <a:rPr lang="en-US" sz="1100" b="1" dirty="0">
                <a:solidFill>
                  <a:srgbClr val="005EB8"/>
                </a:solidFill>
                <a:latin typeface="Calibri" pitchFamily="34" charset="0"/>
                <a:ea typeface="Calibri" pitchFamily="34" charset="-122"/>
                <a:cs typeface="Calibri" pitchFamily="34" charset="-120"/>
              </a:rPr>
              <a:t>☐  </a:t>
            </a:r>
            <a:pPr indent="0" marL="0">
              <a:buNone/>
            </a:pPr>
            <a:r>
              <a:rPr lang="en-US" sz="900" b="1" dirty="0">
                <a:solidFill>
                  <a:srgbClr val="231F20"/>
                </a:solidFill>
                <a:latin typeface="Calibri" pitchFamily="34" charset="0"/>
                <a:ea typeface="Calibri" pitchFamily="34" charset="-122"/>
                <a:cs typeface="Calibri" pitchFamily="34" charset="-120"/>
              </a:rPr>
              <a:t>15  Interpretation</a:t>
            </a:r>
            <a:pPr indent="0" marL="0">
              <a:buNone/>
            </a:pPr>
            <a:r>
              <a:rPr lang="en-US" sz="850" dirty="0">
                <a:solidFill>
                  <a:srgbClr val="425563"/>
                </a:solidFill>
                <a:latin typeface="Calibri" pitchFamily="34" charset="0"/>
                <a:ea typeface="Calibri" pitchFamily="34" charset="-122"/>
                <a:cs typeface="Calibri" pitchFamily="34" charset="-120"/>
              </a:rPr>
              <a:t>  — meaning, comparison, costs</a:t>
            </a:r>
            <a:endParaRPr lang="en-US" sz="1100" dirty="0"/>
          </a:p>
        </p:txBody>
      </p:sp>
      <p:sp>
        <p:nvSpPr>
          <p:cNvPr id="19" name="Text 17"/>
          <p:cNvSpPr/>
          <p:nvPr/>
        </p:nvSpPr>
        <p:spPr>
          <a:xfrm>
            <a:off x="4709160" y="3218688"/>
            <a:ext cx="4023360" cy="347472"/>
          </a:xfrm>
          <a:prstGeom prst="rect">
            <a:avLst/>
          </a:prstGeom>
          <a:noFill/>
          <a:ln/>
        </p:spPr>
        <p:txBody>
          <a:bodyPr wrap="square" lIns="0" tIns="0" rIns="0" bIns="0" rtlCol="0" anchor="ctr"/>
          <a:lstStyle/>
          <a:p>
            <a:pPr indent="0" marL="0">
              <a:buNone/>
            </a:pPr>
            <a:r>
              <a:rPr lang="en-US" sz="1100" b="1" dirty="0">
                <a:solidFill>
                  <a:srgbClr val="005EB8"/>
                </a:solidFill>
                <a:latin typeface="Calibri" pitchFamily="34" charset="0"/>
                <a:ea typeface="Calibri" pitchFamily="34" charset="-122"/>
                <a:cs typeface="Calibri" pitchFamily="34" charset="-120"/>
              </a:rPr>
              <a:t>☐  </a:t>
            </a:r>
            <a:pPr indent="0" marL="0">
              <a:buNone/>
            </a:pPr>
            <a:r>
              <a:rPr lang="en-US" sz="900" b="1" dirty="0">
                <a:solidFill>
                  <a:srgbClr val="231F20"/>
                </a:solidFill>
                <a:latin typeface="Calibri" pitchFamily="34" charset="0"/>
                <a:ea typeface="Calibri" pitchFamily="34" charset="-122"/>
                <a:cs typeface="Calibri" pitchFamily="34" charset="-120"/>
              </a:rPr>
              <a:t>16  Limitations</a:t>
            </a:r>
            <a:pPr indent="0" marL="0">
              <a:buNone/>
            </a:pPr>
            <a:r>
              <a:rPr lang="en-US" sz="850" dirty="0">
                <a:solidFill>
                  <a:srgbClr val="425563"/>
                </a:solidFill>
                <a:latin typeface="Calibri" pitchFamily="34" charset="0"/>
                <a:ea typeface="Calibri" pitchFamily="34" charset="-122"/>
                <a:cs typeface="Calibri" pitchFamily="34" charset="-120"/>
              </a:rPr>
              <a:t>  — validity &amp; generalisability</a:t>
            </a:r>
            <a:endParaRPr lang="en-US" sz="1100" dirty="0"/>
          </a:p>
        </p:txBody>
      </p:sp>
      <p:sp>
        <p:nvSpPr>
          <p:cNvPr id="20" name="Text 18"/>
          <p:cNvSpPr/>
          <p:nvPr/>
        </p:nvSpPr>
        <p:spPr>
          <a:xfrm>
            <a:off x="4709160" y="3602736"/>
            <a:ext cx="4023360" cy="347472"/>
          </a:xfrm>
          <a:prstGeom prst="rect">
            <a:avLst/>
          </a:prstGeom>
          <a:noFill/>
          <a:ln/>
        </p:spPr>
        <p:txBody>
          <a:bodyPr wrap="square" lIns="0" tIns="0" rIns="0" bIns="0" rtlCol="0" anchor="ctr"/>
          <a:lstStyle/>
          <a:p>
            <a:pPr indent="0" marL="0">
              <a:buNone/>
            </a:pPr>
            <a:r>
              <a:rPr lang="en-US" sz="1100" b="1" dirty="0">
                <a:solidFill>
                  <a:srgbClr val="005EB8"/>
                </a:solidFill>
                <a:latin typeface="Calibri" pitchFamily="34" charset="0"/>
                <a:ea typeface="Calibri" pitchFamily="34" charset="-122"/>
                <a:cs typeface="Calibri" pitchFamily="34" charset="-120"/>
              </a:rPr>
              <a:t>☐  </a:t>
            </a:r>
            <a:pPr indent="0" marL="0">
              <a:buNone/>
            </a:pPr>
            <a:r>
              <a:rPr lang="en-US" sz="900" b="1" dirty="0">
                <a:solidFill>
                  <a:srgbClr val="231F20"/>
                </a:solidFill>
                <a:latin typeface="Calibri" pitchFamily="34" charset="0"/>
                <a:ea typeface="Calibri" pitchFamily="34" charset="-122"/>
                <a:cs typeface="Calibri" pitchFamily="34" charset="-120"/>
              </a:rPr>
              <a:t>17  Conclusions</a:t>
            </a:r>
            <a:pPr indent="0" marL="0">
              <a:buNone/>
            </a:pPr>
            <a:r>
              <a:rPr lang="en-US" sz="850" dirty="0">
                <a:solidFill>
                  <a:srgbClr val="425563"/>
                </a:solidFill>
                <a:latin typeface="Calibri" pitchFamily="34" charset="0"/>
                <a:ea typeface="Calibri" pitchFamily="34" charset="-122"/>
                <a:cs typeface="Calibri" pitchFamily="34" charset="-120"/>
              </a:rPr>
              <a:t>  — usefulness, spread, next steps</a:t>
            </a:r>
            <a:endParaRPr lang="en-US" sz="1100" dirty="0"/>
          </a:p>
        </p:txBody>
      </p:sp>
      <p:sp>
        <p:nvSpPr>
          <p:cNvPr id="21" name="Text 19"/>
          <p:cNvSpPr/>
          <p:nvPr/>
        </p:nvSpPr>
        <p:spPr>
          <a:xfrm>
            <a:off x="4709160" y="3986784"/>
            <a:ext cx="4023360" cy="347472"/>
          </a:xfrm>
          <a:prstGeom prst="rect">
            <a:avLst/>
          </a:prstGeom>
          <a:noFill/>
          <a:ln/>
        </p:spPr>
        <p:txBody>
          <a:bodyPr wrap="square" lIns="0" tIns="0" rIns="0" bIns="0" rtlCol="0" anchor="ctr"/>
          <a:lstStyle/>
          <a:p>
            <a:pPr indent="0" marL="0">
              <a:buNone/>
            </a:pPr>
            <a:r>
              <a:rPr lang="en-US" sz="1100" b="1" dirty="0">
                <a:solidFill>
                  <a:srgbClr val="005EB8"/>
                </a:solidFill>
                <a:latin typeface="Calibri" pitchFamily="34" charset="0"/>
                <a:ea typeface="Calibri" pitchFamily="34" charset="-122"/>
                <a:cs typeface="Calibri" pitchFamily="34" charset="-120"/>
              </a:rPr>
              <a:t>☐  </a:t>
            </a:r>
            <a:pPr indent="0" marL="0">
              <a:buNone/>
            </a:pPr>
            <a:r>
              <a:rPr lang="en-US" sz="900" b="1" dirty="0">
                <a:solidFill>
                  <a:srgbClr val="231F20"/>
                </a:solidFill>
                <a:latin typeface="Calibri" pitchFamily="34" charset="0"/>
                <a:ea typeface="Calibri" pitchFamily="34" charset="-122"/>
                <a:cs typeface="Calibri" pitchFamily="34" charset="-120"/>
              </a:rPr>
              <a:t>18  Funding</a:t>
            </a:r>
            <a:pPr indent="0" marL="0">
              <a:buNone/>
            </a:pPr>
            <a:r>
              <a:rPr lang="en-US" sz="850" dirty="0">
                <a:solidFill>
                  <a:srgbClr val="425563"/>
                </a:solidFill>
                <a:latin typeface="Calibri" pitchFamily="34" charset="0"/>
                <a:ea typeface="Calibri" pitchFamily="34" charset="-122"/>
                <a:cs typeface="Calibri" pitchFamily="34" charset="-120"/>
              </a:rPr>
              <a:t>  — sources &amp; funder role</a:t>
            </a:r>
            <a:endParaRPr lang="en-US" sz="1100" dirty="0"/>
          </a:p>
        </p:txBody>
      </p:sp>
      <p:sp>
        <p:nvSpPr>
          <p:cNvPr id="22" name="Text 20"/>
          <p:cNvSpPr/>
          <p:nvPr/>
        </p:nvSpPr>
        <p:spPr>
          <a:xfrm>
            <a:off x="457200" y="4498848"/>
            <a:ext cx="8229600" cy="237744"/>
          </a:xfrm>
          <a:prstGeom prst="rect">
            <a:avLst/>
          </a:prstGeom>
          <a:noFill/>
          <a:ln/>
        </p:spPr>
        <p:txBody>
          <a:bodyPr wrap="square" lIns="0" tIns="0" rIns="0" bIns="0" rtlCol="0" anchor="ctr"/>
          <a:lstStyle/>
          <a:p>
            <a:pPr indent="0" marL="0">
              <a:buNone/>
            </a:pPr>
            <a:r>
              <a:rPr lang="en-US" sz="800" i="1" dirty="0">
                <a:solidFill>
                  <a:srgbClr val="425563"/>
                </a:solidFill>
                <a:latin typeface="Calibri" pitchFamily="34" charset="0"/>
                <a:ea typeface="Calibri" pitchFamily="34" charset="-122"/>
                <a:cs typeface="Calibri" pitchFamily="34" charset="-120"/>
              </a:rPr>
              <a:t>Adapted from SQUIRE 2.0 — Ogrinc G, et al. BMJ Qual Saf 2016;25:986–992  ·  squire-statement.org</a:t>
            </a:r>
            <a:endParaRPr lang="en-US" sz="800" dirty="0"/>
          </a:p>
        </p:txBody>
      </p:sp>
      <p:sp>
        <p:nvSpPr>
          <p:cNvPr id="23" name="Text 21"/>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05EB8"/>
                </a:solidFill>
                <a:latin typeface="Calibri" pitchFamily="34" charset="0"/>
                <a:ea typeface="Calibri" pitchFamily="34" charset="-122"/>
                <a:cs typeface="Calibri" pitchFamily="34" charset="-120"/>
              </a:rPr>
              <a:t>AIM Quality Improvement Team  |  Queen Elizabeth Hospital Birmingham</a:t>
            </a:r>
            <a:endParaRPr lang="en-US" sz="750" dirty="0"/>
          </a:p>
        </p:txBody>
      </p:sp>
      <p:sp>
        <p:nvSpPr>
          <p:cNvPr id="24" name="Text 22"/>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AA5AA"/>
                </a:solidFill>
                <a:latin typeface="Calibri" pitchFamily="34" charset="0"/>
                <a:ea typeface="Calibri" pitchFamily="34" charset="-122"/>
                <a:cs typeface="Calibri" pitchFamily="34" charset="-120"/>
              </a:rPr>
              <a:t>SQUIRE 2.0 Presentation Template</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SQUIRE 2.0 Presentation Template — AIM QIP Kit</dc:title>
  <dc:subject>PptxGenJS Presentation</dc:subject>
  <dc:creator>AIM Quality Improvement Team</dc:creator>
  <cp:lastModifiedBy>AIM Quality Improvement Team</cp:lastModifiedBy>
  <cp:revision>1</cp:revision>
  <dcterms:created xsi:type="dcterms:W3CDTF">2026-08-06T12:25:23Z</dcterms:created>
  <dcterms:modified xsi:type="dcterms:W3CDTF">2026-08-06T12:25:23Z</dcterms:modified>
</cp:coreProperties>
</file>