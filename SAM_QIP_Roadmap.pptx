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seven-stage QIP journey: pitch, plan, plan the intervention, deliver and measure, present, SQUIRE write-up, repeat. Right column shows the output of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Stage 1 — the QI / clinical audit / research distinction (HQIP guidance): QI tests local change (register with the audit/QI office, no REC); audit measures against a standard (register, no REC); research creates generalisable knowledge and needs HRA/REC approval before starting. The HRA decision tool at hra-decisiontools.org.uk/research settles borderline cases. Settling the label first avoids the classic novice error of collecting data for months and then discovering the project needed approval. Information governance applies to all three: no patient-identifiable data outside trust systems; count, don’t name; involve the IG team if identifiers are genuinely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(Plan): identify a local problem, quantify it simply, draft an aim targeting a WHO quality domain (who.int/health-topics/quality-of-care), check stakeholders (who must say yes), secure a supervisor, then pitch in five sentences: problem, one honest number, the aim, why it matters, the ask. Keep one-line answers to the four audience questions (What is it? How does it work? Can you back it up? Can you do it?) ready for the Q&amp;A. Change ideas are sorted on a simple impact × ease 2×2 — quick wins first. Feeds SQUIRE items 3, 4,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supplement — the five-sentence pitch (problem, number, aim, why it matters, ask). This replaces the longer scripted four-part structure as the core path, in line with BMJ guidance that an aim-based elevator pitch is a lightweight persuasion step, not a scripted speech; the four audience questions (What is it? How does it work? Can you back it up? Can you do it?) are kept as Q&amp;A preparation rather than sentence budgets. Feeds SQUIRE items 3, 4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worked example — the department’s iron-deficiency anaemia pitch condensed to the five-sentence form (anonymised). Sentence 1 problem, 2 local number, 3 SMART aim, 4 why it matters (WHO domains safe and effective), 5 the ask. Delivery plan, the three measure types and feasibility remain Q&amp;A material rather than scripted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supplement — sorting change ideas on a simple impact × ease-of-delivery 2×2 (the beginner prioritisation matrix recommended by NHS QSIR / NHS Education for Scotland) rather than a 0-5 scored table. Quick wins (top-right: high impact, easy to deliver) go first; big bets wait for later cycles; easy-but-low-yield and hard-low-impact ideas are parked. Example placement uses the anonymised IDA pitch ideas: the pathway is the quick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supplement — stakeholder and patient-voice check before pitching, reflecting BMJ guidance that stakeholder buy-in is the factor without which a QIP is likely to fail regardless of the idea’s quality. Four prompts: who does the work day-to-day (invite one onto the team); whose sign-off is needed; who might resist and why (usually workload); who speaks for patients (a single conversation or PALS/FFT theme is enough for a first project). A matching field exists on the Team Workbook Home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(Plan): process map, driver diagram, choose the three measure types, write the data plan, collect baseline, register with the trust audit team. Both diagrams can be drawn and exported in the SAM QIP Diagram Tool at https://aimqa.github.io/SAMQIP/ (includes the WHO quality lens and a worked VTE example). Feeds SQUIRE items 5 (Rationale), 7 (Context), 10 (Measures), 12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process mapping. Walk the route with the people who do the work rather than reconstructing it at a desk; thirty minutes is usually enough; map what actually happens including workarounds, not the policy; stop at 8-12 steps. What to look for: the waits between steps (usually the bulk of the patient journey — the worked example shows a 15-minute task followed by a two-hour wait), the steps where things go wrong (these become change ideas), steps that two people describe differently, and anything done twice or not at all. The four shapes match the Diagram Tool: pill for start/end, box for a step, diamond for a decision (map the 'no' route too), dashed for a wait. Detail goes on the Team Workbook's Process Map tab, which totals hands-on versus waiting time; the picture is drawn at aimqa.github.io/SAMQIP. Feeds SQUIRE item 7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the fishbone (Ishikawa / cause-and-effect diagram). Its job is breadth: get every candidate cause out of people's heads before the team starts arguing about which one matters. That is the opposite of the 5 Whys, which takes a single path and drills down; the two are complementary and the usual order is fishbone first, then 5 Whys on the one or two causes you have evidence for. Six categories are offered as a prompt — People, Process, Equipment, Environment, Policies, Patient factors — and teams should rename any that do not fit, and leave a bone empty rather than inventing a cause to fill it. An empty bone is itself a finding: it usually means nobody has looked there. Run it as a twenty-minute whiteboard exercise with the people who do the work. Causes then become secondary drivers on the driver diagram — the Diagram Tool does that transfer in one click. Feeds SQUIRE item 7 (Context) and item 5 (Problem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a simple 5 Whys before the driver diagram, as recommended for novices by the BMJ getting-started guide, RCS England trainee guide, RCP and IHI (fishbone is the heavier alternative). Worked VTE chain: problem → skipped when busy → no prompt at the point of writing → proforma predates the requirement → root cause is a process gap. Teaching points: stop at a system cause you can redesign; blame the process, not the people; the root cause feeds the driver diagram as a secondary driver. The Diagram Tool at aimqa.github.io/SAMQIP includes a 5 Whys 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 primary vs secondary drivers. Primary drivers: the 3-5 big conditions that must be true for the aim to be achieved; written as states, not actions; test by asking whether the aim would follow if all were true. Secondary drivers: the specific, ward-level parts of the system that would make one primary driver true; 1-3 under each primary is enough on a first project; test by asking whether changing it would improve the driver to its left. Change ideas name the artefact or action to test in a PDSA cycle. Common errors: change ideas written in the driver columns; drivers so bland nobody could disagree; too many primary drivers. The same guidance is built into the SAM QIP Diagram Tool at https://aimqa.github.io/SAMQIP/.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supplement: quantitative data (counts, rates, times) show whether performance changed and are plotted over time on the run chart; qualitative data (staff and patient comments, observations) explain why change happened, surface workload and unintended effects, and generate cycle-2 change ideas. Both feed SQUIRE items 10 (Measures) and 11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(Plan): select the quick-win change idea (top-right of the Stage 1 2×2 — high impact, easy to deliver), design it small, assign roles and a start date, communicate, record a prediction. Feeds SQUIRE items 8 (Intervention) and 9 (Study of the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(Do): launch, keep measuring identically, keep a context diary, continue 4-8 weeks. Feeds SQUIRE items 10b-c (context tracking, data quality) and 13a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supplement — minimal run-chart interpretation for novices (IHI QI104 rules; RCS England trainee-guide appendix): a shift is six or more consecutive points on one side of the median; a trend is five or more consecutive points all increasing or decreasing; an astronomical point is a single data point far from the rest — investigate via the project diary rather than reacting. Annotate the chart with the launch date and context events; do not react to single points; roughly 10-12 points are needed before drawing conclusions. This is deliberately NOT full SPC — control charts stay out of a first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(Study): one combined run chart, headline result, surprises and context, 10-minute presentation, team decision. Feeds SQUIRE items 11 (Analysis) and 13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(Act): work through the Reporting Guide (what’s enough per item); the fill-in Presentation Template is an optional aid — SQUIRE 2.0’s own authors advise omitting items where inappropriate, with justification. Title and abstract last; run the 18-item self-check; submit. Covers SQUIRE items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(Act): learn from cycle 1, adjust, loop back to Stage 3, hand over properly if rotating, consider spread. To pass the project to another ward or trust, complete the Share &amp; Replicate tab in the Team Workbook: sections A, B and D fill themselves from Home, PDSA Log, Data Plan and SQUIRE Check, so the team only writes six boxes — prerequisites, real cost in time, what made it work locally, what they’d do differently, what to adapt elsewhere, and a contact. It prints to a single page and travels with the two diagram PNGs and the run chart. Feeds SQUIRE item 17 (Conclusions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(moved out of the Stage 1 core path per benchmarking against BMJ/RCS England beginner guidance) — presentation storytelling, from the AIM pitch guidance: (1) Opening / reason for being — one or two sentences on the aha moment that made you invested; (2) Callback — return to the opening later with an anecdote that confirms it; (3) All-is-lost moment — the problem that jeopardised (or jeopardises) the project and how you overcame or plan to overcome it. About 25 sentences in logical order makes a serviceable three-minute pitch; the first two questions (What is it? / How does it work?) are the most essential and deserve the most attention. Illustrative quotes are fictional examples in the style of the IDA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pacing across a four-month rotation: pitch (wks 1-2), plan and baseline (3-6), plan the change (7), deliver and measure (8-13), present and write up (14-16). Handover guidance for trainees rotating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www.hra-decisiontools.org.uk/research/"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who.int/health-topics/quality-of-care"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imqa.github.io/SAMQIP/"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D22"/>
        </a:solidFill>
      </p:bgPr>
    </p:bg>
    <p:spTree>
      <p:nvGrpSpPr>
        <p:cNvPr id="1" name=""/>
        <p:cNvGrpSpPr/>
        <p:nvPr/>
      </p:nvGrpSpPr>
      <p:grpSpPr>
        <a:xfrm>
          <a:off x="0" y="0"/>
          <a:ext cx="0" cy="0"/>
          <a:chOff x="0" y="0"/>
          <a:chExt cx="0" cy="0"/>
        </a:xfrm>
      </p:grpSpPr>
      <p:sp>
        <p:nvSpPr>
          <p:cNvPr id="2" name="Shape 0"/>
          <p:cNvSpPr/>
          <p:nvPr/>
        </p:nvSpPr>
        <p:spPr>
          <a:xfrm>
            <a:off x="7315200" y="-1188720"/>
            <a:ext cx="3108960" cy="3108960"/>
          </a:xfrm>
          <a:prstGeom prst="ellipse">
            <a:avLst/>
          </a:prstGeom>
          <a:solidFill>
            <a:srgbClr val="023D22"/>
          </a:solidFill>
          <a:ln w="15875">
            <a:solidFill>
              <a:srgbClr val="098040"/>
            </a:solidFill>
            <a:prstDash val="solid"/>
          </a:ln>
        </p:spPr>
        <p:txBody>
          <a:bodyPr/>
          <a:p/>
        </p:txBody>
      </p:sp>
      <p:sp>
        <p:nvSpPr>
          <p:cNvPr id="3" name="Shape 1"/>
          <p:cNvSpPr/>
          <p:nvPr/>
        </p:nvSpPr>
        <p:spPr>
          <a:xfrm>
            <a:off x="-1005840" y="3749040"/>
            <a:ext cx="2377440" cy="2377440"/>
          </a:xfrm>
          <a:prstGeom prst="ellipse">
            <a:avLst/>
          </a:prstGeom>
          <a:solidFill>
            <a:srgbClr val="098040"/>
          </a:solidFill>
          <a:ln w="12700">
            <a:solidFill>
              <a:srgbClr val="098040"/>
            </a:solidFill>
            <a:prstDash val="solid"/>
          </a:ln>
        </p:spPr>
        <p:txBody>
          <a:bodyPr/>
          <a:p/>
        </p:txBody>
      </p:sp>
      <p:sp>
        <p:nvSpPr>
          <p:cNvPr id="4" name="Text 2"/>
          <p:cNvSpPr/>
          <p:nvPr/>
        </p:nvSpPr>
        <p:spPr>
          <a:xfrm>
            <a:off x="7178040" y="384048"/>
            <a:ext cx="1508760" cy="310896"/>
          </a:xfrm>
          <a:prstGeom prst="roundRect">
            <a:avLst>
              <a:gd name="adj" fmla="val 47059"/>
            </a:avLst>
          </a:prstGeom>
          <a:solidFill>
            <a:srgbClr val="098040"/>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 STAGES · 1 CYCLE</a:t>
            </a:r>
            <a:endParaRPr lang="en-US" sz="900" dirty="0"/>
          </a:p>
        </p:txBody>
      </p:sp>
      <p:sp>
        <p:nvSpPr>
          <p:cNvPr id="5" name="Text 3"/>
          <p:cNvSpPr/>
          <p:nvPr/>
        </p:nvSpPr>
        <p:spPr>
          <a:xfrm>
            <a:off x="640080" y="914400"/>
            <a:ext cx="6400800" cy="274320"/>
          </a:xfrm>
          <a:prstGeom prst="rect">
            <a:avLst/>
          </a:prstGeom>
          <a:noFill/>
          <a:ln/>
        </p:spPr>
        <p:txBody>
          <a:bodyPr wrap="square" lIns="0" tIns="0" rIns="0" bIns="0" rtlCol="0" anchor="ctr"/>
          <a:lstStyle/>
          <a:p>
            <a:pPr indent="0" marL="0">
              <a:buNone/>
            </a:pPr>
            <a:r>
              <a:rPr lang="en-US" sz="1050" b="1" spc="200" kern="0" dirty="0">
                <a:solidFill>
                  <a:srgbClr val="7DD08F"/>
                </a:solidFill>
                <a:latin typeface="Calibri" pitchFamily="34" charset="0"/>
                <a:ea typeface="Calibri" pitchFamily="34" charset="-122"/>
                <a:cs typeface="Calibri" pitchFamily="34" charset="-120"/>
              </a:rPr>
              <a:t>SOCIETY FOR ACUTE MEDICINE · QUALITY IMPROVEMENT</a:t>
            </a:r>
            <a:endParaRPr lang="en-US" sz="1050" dirty="0"/>
          </a:p>
        </p:txBody>
      </p:sp>
      <p:sp>
        <p:nvSpPr>
          <p:cNvPr id="6" name="Text 4"/>
          <p:cNvSpPr/>
          <p:nvPr/>
        </p:nvSpPr>
        <p:spPr>
          <a:xfrm>
            <a:off x="640080" y="1234440"/>
            <a:ext cx="7680960" cy="7772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QIP Roadmap</a:t>
            </a:r>
            <a:endParaRPr lang="en-US" sz="3600" dirty="0"/>
          </a:p>
        </p:txBody>
      </p:sp>
      <p:sp>
        <p:nvSpPr>
          <p:cNvPr id="7" name="Text 5"/>
          <p:cNvSpPr/>
          <p:nvPr/>
        </p:nvSpPr>
        <p:spPr>
          <a:xfrm>
            <a:off x="640080" y="2103120"/>
            <a:ext cx="6949440" cy="502920"/>
          </a:xfrm>
          <a:prstGeom prst="rect">
            <a:avLst/>
          </a:prstGeom>
          <a:noFill/>
          <a:ln/>
        </p:spPr>
        <p:txBody>
          <a:bodyPr wrap="square" lIns="0" tIns="0" rIns="0" bIns="0" rtlCol="0" anchor="ctr"/>
          <a:lstStyle/>
          <a:p>
            <a:pPr indent="0" marL="0">
              <a:buNone/>
            </a:pPr>
            <a:r>
              <a:rPr lang="en-US" sz="1250" i="1" dirty="0">
                <a:solidFill>
                  <a:srgbClr val="E4F0E8"/>
                </a:solidFill>
                <a:latin typeface="Calibri" pitchFamily="34" charset="0"/>
                <a:ea typeface="Calibri" pitchFamily="34" charset="-122"/>
                <a:cs typeface="Calibri" pitchFamily="34" charset="-120"/>
              </a:rPr>
              <a:t>Seven stages from first idea to finished write-up — and round again.</a:t>
            </a:r>
            <a:endParaRPr lang="en-US" sz="1250" dirty="0"/>
          </a:p>
        </p:txBody>
      </p:sp>
      <p:sp>
        <p:nvSpPr>
          <p:cNvPr id="8" name="Text 6"/>
          <p:cNvSpPr/>
          <p:nvPr/>
        </p:nvSpPr>
        <p:spPr>
          <a:xfrm>
            <a:off x="640080" y="3154680"/>
            <a:ext cx="7223760" cy="457200"/>
          </a:xfrm>
          <a:prstGeom prst="rect">
            <a:avLst/>
          </a:prstGeom>
          <a:noFill/>
          <a:ln/>
        </p:spPr>
        <p:txBody>
          <a:bodyPr wrap="square" lIns="0" tIns="0" rIns="0" bIns="0" rtlCol="0" anchor="ctr"/>
          <a:lstStyle/>
          <a:p>
            <a:pPr indent="0" marL="0">
              <a:buNone/>
            </a:pPr>
            <a:r>
              <a:rPr lang="en-US" sz="1050" dirty="0">
                <a:solidFill>
                  <a:srgbClr val="E4F0E8"/>
                </a:solidFill>
                <a:latin typeface="Calibri" pitchFamily="34" charset="0"/>
                <a:ea typeface="Calibri" pitchFamily="34" charset="-122"/>
                <a:cs typeface="Calibri" pitchFamily="34" charset="-120"/>
              </a:rPr>
              <a:t>Works with the </a:t>
            </a:r>
            <a:pPr indent="0" marL="0">
              <a:buNone/>
            </a:pPr>
            <a:r>
              <a:rPr lang="en-US" sz="1050" b="1" dirty="0">
                <a:solidFill>
                  <a:srgbClr val="FFFFFF"/>
                </a:solidFill>
                <a:latin typeface="Calibri" pitchFamily="34" charset="0"/>
                <a:ea typeface="Calibri" pitchFamily="34" charset="-122"/>
                <a:cs typeface="Calibri" pitchFamily="34" charset="-120"/>
              </a:rPr>
              <a:t>SQUIRE 2.0 Presentation Template</a:t>
            </a:r>
            <a:pPr indent="0" marL="0">
              <a:buNone/>
            </a:pPr>
            <a:r>
              <a:rPr lang="en-US" sz="1050" dirty="0">
                <a:solidFill>
                  <a:srgbClr val="E4F0E8"/>
                </a:solidFill>
                <a:latin typeface="Calibri" pitchFamily="34" charset="0"/>
                <a:ea typeface="Calibri" pitchFamily="34" charset="-122"/>
                <a:cs typeface="Calibri" pitchFamily="34" charset="-120"/>
              </a:rPr>
              <a:t> and </a:t>
            </a:r>
            <a:pPr indent="0" marL="0">
              <a:buNone/>
            </a:pPr>
            <a:r>
              <a:rPr lang="en-US" sz="1050" b="1" dirty="0">
                <a:solidFill>
                  <a:srgbClr val="FFFFFF"/>
                </a:solidFill>
                <a:latin typeface="Calibri" pitchFamily="34" charset="0"/>
                <a:ea typeface="Calibri" pitchFamily="34" charset="-122"/>
                <a:cs typeface="Calibri" pitchFamily="34" charset="-120"/>
              </a:rPr>
              <a:t>Reporting Guide</a:t>
            </a:r>
            <a:pPr indent="0" marL="0">
              <a:buNone/>
            </a:pPr>
            <a:r>
              <a:rPr lang="en-US" sz="1050" dirty="0">
                <a:solidFill>
                  <a:srgbClr val="E4F0E8"/>
                </a:solidFill>
                <a:latin typeface="Calibri" pitchFamily="34" charset="0"/>
                <a:ea typeface="Calibri" pitchFamily="34" charset="-122"/>
                <a:cs typeface="Calibri" pitchFamily="34" charset="-120"/>
              </a:rPr>
              <a:t> — Stage 6 hands you over to them.</a:t>
            </a:r>
            <a:endParaRPr lang="en-US" sz="1050" dirty="0"/>
          </a:p>
        </p:txBody>
      </p:sp>
      <p:sp>
        <p:nvSpPr>
          <p:cNvPr id="9" name="Text 7"/>
          <p:cNvSpPr/>
          <p:nvPr/>
        </p:nvSpPr>
        <p:spPr>
          <a:xfrm>
            <a:off x="640080" y="4434840"/>
            <a:ext cx="7315200" cy="256032"/>
          </a:xfrm>
          <a:prstGeom prst="rect">
            <a:avLst/>
          </a:prstGeom>
          <a:noFill/>
          <a:ln/>
        </p:spPr>
        <p:txBody>
          <a:bodyPr wrap="square" lIns="0" tIns="0" rIns="0" bIns="0" rtlCol="0" anchor="ctr"/>
          <a:lstStyle/>
          <a:p>
            <a:pPr indent="0" marL="0">
              <a:buNone/>
            </a:pPr>
            <a:r>
              <a:rPr lang="en-US" sz="1000" dirty="0">
                <a:solidFill>
                  <a:srgbClr val="E4F0E8"/>
                </a:solidFill>
                <a:latin typeface="Calibri" pitchFamily="34" charset="0"/>
                <a:ea typeface="Calibri" pitchFamily="34" charset="-122"/>
                <a:cs typeface="Calibri" pitchFamily="34" charset="-120"/>
              </a:rPr>
              <a:t>Society for Acute Medicine  |  Quality Improvement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The Seven Stages at a Glance</a:t>
            </a:r>
            <a:endParaRPr lang="en-US" sz="2200" dirty="0"/>
          </a:p>
        </p:txBody>
      </p:sp>
      <p:sp>
        <p:nvSpPr>
          <p:cNvPr id="3" name="Shape 1"/>
          <p:cNvSpPr/>
          <p:nvPr/>
        </p:nvSpPr>
        <p:spPr>
          <a:xfrm>
            <a:off x="457200" y="932688"/>
            <a:ext cx="8229600" cy="457200"/>
          </a:xfrm>
          <a:prstGeom prst="roundRect">
            <a:avLst>
              <a:gd name="adj" fmla="val 14000"/>
            </a:avLst>
          </a:prstGeom>
          <a:solidFill>
            <a:srgbClr val="F1F6F2"/>
          </a:solidFill>
          <a:ln w="12700">
            <a:solidFill>
              <a:srgbClr val="F1F6F2"/>
            </a:solidFill>
            <a:prstDash val="solid"/>
          </a:ln>
        </p:spPr>
        <p:txBody>
          <a:bodyPr/>
          <a:p/>
        </p:txBody>
      </p:sp>
      <p:sp>
        <p:nvSpPr>
          <p:cNvPr id="4" name="Text 2"/>
          <p:cNvSpPr/>
          <p:nvPr/>
        </p:nvSpPr>
        <p:spPr>
          <a:xfrm>
            <a:off x="658368" y="932688"/>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01</a:t>
            </a:r>
            <a:endParaRPr lang="en-US" sz="1350" dirty="0"/>
          </a:p>
        </p:txBody>
      </p:sp>
      <p:sp>
        <p:nvSpPr>
          <p:cNvPr id="5" name="Text 3"/>
          <p:cNvSpPr/>
          <p:nvPr/>
        </p:nvSpPr>
        <p:spPr>
          <a:xfrm>
            <a:off x="1234440" y="932688"/>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Pitch Your QIP</a:t>
            </a:r>
            <a:endParaRPr lang="en-US" sz="1050" dirty="0"/>
          </a:p>
        </p:txBody>
      </p:sp>
      <p:sp>
        <p:nvSpPr>
          <p:cNvPr id="6" name="Text 4"/>
          <p:cNvSpPr/>
          <p:nvPr/>
        </p:nvSpPr>
        <p:spPr>
          <a:xfrm>
            <a:off x="3566160" y="932688"/>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Sell the problem in five sentences</a:t>
            </a:r>
            <a:endParaRPr lang="en-US" sz="900" dirty="0"/>
          </a:p>
        </p:txBody>
      </p:sp>
      <p:sp>
        <p:nvSpPr>
          <p:cNvPr id="7" name="Text 5"/>
          <p:cNvSpPr/>
          <p:nvPr/>
        </p:nvSpPr>
        <p:spPr>
          <a:xfrm>
            <a:off x="6949440" y="932688"/>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An approved idea</a:t>
            </a:r>
            <a:endParaRPr lang="en-US" sz="850" dirty="0"/>
          </a:p>
        </p:txBody>
      </p:sp>
      <p:sp>
        <p:nvSpPr>
          <p:cNvPr id="8" name="Shape 6"/>
          <p:cNvSpPr/>
          <p:nvPr/>
        </p:nvSpPr>
        <p:spPr>
          <a:xfrm>
            <a:off x="457200" y="1453896"/>
            <a:ext cx="8229600" cy="457200"/>
          </a:xfrm>
          <a:prstGeom prst="roundRect">
            <a:avLst>
              <a:gd name="adj" fmla="val 14000"/>
            </a:avLst>
          </a:prstGeom>
          <a:solidFill>
            <a:srgbClr val="F1F6F2"/>
          </a:solidFill>
          <a:ln w="12700">
            <a:solidFill>
              <a:srgbClr val="F1F6F2"/>
            </a:solidFill>
            <a:prstDash val="solid"/>
          </a:ln>
        </p:spPr>
        <p:txBody>
          <a:bodyPr/>
          <a:p/>
        </p:txBody>
      </p:sp>
      <p:sp>
        <p:nvSpPr>
          <p:cNvPr id="9" name="Text 7"/>
          <p:cNvSpPr/>
          <p:nvPr/>
        </p:nvSpPr>
        <p:spPr>
          <a:xfrm>
            <a:off x="658368" y="1453896"/>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02</a:t>
            </a:r>
            <a:endParaRPr lang="en-US" sz="1350" dirty="0"/>
          </a:p>
        </p:txBody>
      </p:sp>
      <p:sp>
        <p:nvSpPr>
          <p:cNvPr id="10" name="Text 8"/>
          <p:cNvSpPr/>
          <p:nvPr/>
        </p:nvSpPr>
        <p:spPr>
          <a:xfrm>
            <a:off x="1234440" y="1453896"/>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Plan Your QIP</a:t>
            </a:r>
            <a:endParaRPr lang="en-US" sz="1050" dirty="0"/>
          </a:p>
        </p:txBody>
      </p:sp>
      <p:sp>
        <p:nvSpPr>
          <p:cNvPr id="11" name="Text 9"/>
          <p:cNvSpPr/>
          <p:nvPr/>
        </p:nvSpPr>
        <p:spPr>
          <a:xfrm>
            <a:off x="3566160" y="1453896"/>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Process map, driver diagram, data plan, baseline</a:t>
            </a:r>
            <a:endParaRPr lang="en-US" sz="900" dirty="0"/>
          </a:p>
        </p:txBody>
      </p:sp>
      <p:sp>
        <p:nvSpPr>
          <p:cNvPr id="12" name="Text 10"/>
          <p:cNvSpPr/>
          <p:nvPr/>
        </p:nvSpPr>
        <p:spPr>
          <a:xfrm>
            <a:off x="6949440" y="1453896"/>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Baseline run chart</a:t>
            </a:r>
            <a:endParaRPr lang="en-US" sz="850" dirty="0"/>
          </a:p>
        </p:txBody>
      </p:sp>
      <p:sp>
        <p:nvSpPr>
          <p:cNvPr id="13" name="Shape 11"/>
          <p:cNvSpPr/>
          <p:nvPr/>
        </p:nvSpPr>
        <p:spPr>
          <a:xfrm>
            <a:off x="457200" y="1975104"/>
            <a:ext cx="8229600" cy="457200"/>
          </a:xfrm>
          <a:prstGeom prst="roundRect">
            <a:avLst>
              <a:gd name="adj" fmla="val 14000"/>
            </a:avLst>
          </a:prstGeom>
          <a:solidFill>
            <a:srgbClr val="F1F6F2"/>
          </a:solidFill>
          <a:ln w="12700">
            <a:solidFill>
              <a:srgbClr val="F1F6F2"/>
            </a:solidFill>
            <a:prstDash val="solid"/>
          </a:ln>
        </p:spPr>
        <p:txBody>
          <a:bodyPr/>
          <a:p/>
        </p:txBody>
      </p:sp>
      <p:sp>
        <p:nvSpPr>
          <p:cNvPr id="14" name="Text 12"/>
          <p:cNvSpPr/>
          <p:nvPr/>
        </p:nvSpPr>
        <p:spPr>
          <a:xfrm>
            <a:off x="658368" y="1975104"/>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03</a:t>
            </a:r>
            <a:endParaRPr lang="en-US" sz="1350" dirty="0"/>
          </a:p>
        </p:txBody>
      </p:sp>
      <p:sp>
        <p:nvSpPr>
          <p:cNvPr id="15" name="Text 13"/>
          <p:cNvSpPr/>
          <p:nvPr/>
        </p:nvSpPr>
        <p:spPr>
          <a:xfrm>
            <a:off x="1234440" y="1975104"/>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Plan Your Intervention</a:t>
            </a:r>
            <a:endParaRPr lang="en-US" sz="1050" dirty="0"/>
          </a:p>
        </p:txBody>
      </p:sp>
      <p:sp>
        <p:nvSpPr>
          <p:cNvPr id="16" name="Text 14"/>
          <p:cNvSpPr/>
          <p:nvPr/>
        </p:nvSpPr>
        <p:spPr>
          <a:xfrm>
            <a:off x="3566160" y="1975104"/>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Your quick-win idea, ready to test</a:t>
            </a:r>
            <a:endParaRPr lang="en-US" sz="900" dirty="0"/>
          </a:p>
        </p:txBody>
      </p:sp>
      <p:sp>
        <p:nvSpPr>
          <p:cNvPr id="17" name="Text 15"/>
          <p:cNvSpPr/>
          <p:nvPr/>
        </p:nvSpPr>
        <p:spPr>
          <a:xfrm>
            <a:off x="6949440" y="1975104"/>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 start date</a:t>
            </a:r>
            <a:endParaRPr lang="en-US" sz="850" dirty="0"/>
          </a:p>
        </p:txBody>
      </p:sp>
      <p:sp>
        <p:nvSpPr>
          <p:cNvPr id="18" name="Shape 16"/>
          <p:cNvSpPr/>
          <p:nvPr/>
        </p:nvSpPr>
        <p:spPr>
          <a:xfrm>
            <a:off x="457200" y="2496312"/>
            <a:ext cx="8229600" cy="457200"/>
          </a:xfrm>
          <a:prstGeom prst="roundRect">
            <a:avLst>
              <a:gd name="adj" fmla="val 14000"/>
            </a:avLst>
          </a:prstGeom>
          <a:solidFill>
            <a:srgbClr val="F1F6F2"/>
          </a:solidFill>
          <a:ln w="12700">
            <a:solidFill>
              <a:srgbClr val="F1F6F2"/>
            </a:solidFill>
            <a:prstDash val="solid"/>
          </a:ln>
        </p:spPr>
        <p:txBody>
          <a:bodyPr/>
          <a:p/>
        </p:txBody>
      </p:sp>
      <p:sp>
        <p:nvSpPr>
          <p:cNvPr id="19" name="Text 17"/>
          <p:cNvSpPr/>
          <p:nvPr/>
        </p:nvSpPr>
        <p:spPr>
          <a:xfrm>
            <a:off x="658368" y="2496312"/>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04</a:t>
            </a:r>
            <a:endParaRPr lang="en-US" sz="1350" dirty="0"/>
          </a:p>
        </p:txBody>
      </p:sp>
      <p:sp>
        <p:nvSpPr>
          <p:cNvPr id="20" name="Text 18"/>
          <p:cNvSpPr/>
          <p:nvPr/>
        </p:nvSpPr>
        <p:spPr>
          <a:xfrm>
            <a:off x="1234440" y="2496312"/>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Deliver &amp; Measure</a:t>
            </a:r>
            <a:endParaRPr lang="en-US" sz="1050" dirty="0"/>
          </a:p>
        </p:txBody>
      </p:sp>
      <p:sp>
        <p:nvSpPr>
          <p:cNvPr id="21" name="Text 19"/>
          <p:cNvSpPr/>
          <p:nvPr/>
        </p:nvSpPr>
        <p:spPr>
          <a:xfrm>
            <a:off x="3566160" y="2496312"/>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Run the change; keep the data coming</a:t>
            </a:r>
            <a:endParaRPr lang="en-US" sz="900" dirty="0"/>
          </a:p>
        </p:txBody>
      </p:sp>
      <p:sp>
        <p:nvSpPr>
          <p:cNvPr id="22" name="Text 20"/>
          <p:cNvSpPr/>
          <p:nvPr/>
        </p:nvSpPr>
        <p:spPr>
          <a:xfrm>
            <a:off x="6949440" y="2496312"/>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Post-change data</a:t>
            </a:r>
            <a:endParaRPr lang="en-US" sz="850" dirty="0"/>
          </a:p>
        </p:txBody>
      </p:sp>
      <p:sp>
        <p:nvSpPr>
          <p:cNvPr id="23" name="Shape 21"/>
          <p:cNvSpPr/>
          <p:nvPr/>
        </p:nvSpPr>
        <p:spPr>
          <a:xfrm>
            <a:off x="457200" y="3017520"/>
            <a:ext cx="8229600" cy="457200"/>
          </a:xfrm>
          <a:prstGeom prst="roundRect">
            <a:avLst>
              <a:gd name="adj" fmla="val 14000"/>
            </a:avLst>
          </a:prstGeom>
          <a:solidFill>
            <a:srgbClr val="F1F6F2"/>
          </a:solidFill>
          <a:ln w="12700">
            <a:solidFill>
              <a:srgbClr val="F1F6F2"/>
            </a:solidFill>
            <a:prstDash val="solid"/>
          </a:ln>
        </p:spPr>
        <p:txBody>
          <a:bodyPr/>
          <a:p/>
        </p:txBody>
      </p:sp>
      <p:sp>
        <p:nvSpPr>
          <p:cNvPr id="24" name="Text 22"/>
          <p:cNvSpPr/>
          <p:nvPr/>
        </p:nvSpPr>
        <p:spPr>
          <a:xfrm>
            <a:off x="658368" y="3017520"/>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05</a:t>
            </a:r>
            <a:endParaRPr lang="en-US" sz="1350" dirty="0"/>
          </a:p>
        </p:txBody>
      </p:sp>
      <p:sp>
        <p:nvSpPr>
          <p:cNvPr id="25" name="Text 23"/>
          <p:cNvSpPr/>
          <p:nvPr/>
        </p:nvSpPr>
        <p:spPr>
          <a:xfrm>
            <a:off x="1234440" y="3017520"/>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Present Your Data</a:t>
            </a:r>
            <a:endParaRPr lang="en-US" sz="1050" dirty="0"/>
          </a:p>
        </p:txBody>
      </p:sp>
      <p:sp>
        <p:nvSpPr>
          <p:cNvPr id="26" name="Text 24"/>
          <p:cNvSpPr/>
          <p:nvPr/>
        </p:nvSpPr>
        <p:spPr>
          <a:xfrm>
            <a:off x="3566160" y="3017520"/>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One run chart, three messages</a:t>
            </a:r>
            <a:endParaRPr lang="en-US" sz="900" dirty="0"/>
          </a:p>
        </p:txBody>
      </p:sp>
      <p:sp>
        <p:nvSpPr>
          <p:cNvPr id="27" name="Text 25"/>
          <p:cNvSpPr/>
          <p:nvPr/>
        </p:nvSpPr>
        <p:spPr>
          <a:xfrm>
            <a:off x="6949440" y="3017520"/>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 team decision</a:t>
            </a:r>
            <a:endParaRPr lang="en-US" sz="850" dirty="0"/>
          </a:p>
        </p:txBody>
      </p:sp>
      <p:sp>
        <p:nvSpPr>
          <p:cNvPr id="28" name="Shape 26"/>
          <p:cNvSpPr/>
          <p:nvPr/>
        </p:nvSpPr>
        <p:spPr>
          <a:xfrm>
            <a:off x="457200" y="3538728"/>
            <a:ext cx="8229600" cy="457200"/>
          </a:xfrm>
          <a:prstGeom prst="roundRect">
            <a:avLst>
              <a:gd name="adj" fmla="val 14000"/>
            </a:avLst>
          </a:prstGeom>
          <a:solidFill>
            <a:srgbClr val="F1F6F2"/>
          </a:solidFill>
          <a:ln w="12700">
            <a:solidFill>
              <a:srgbClr val="F1F6F2"/>
            </a:solidFill>
            <a:prstDash val="solid"/>
          </a:ln>
        </p:spPr>
        <p:txBody>
          <a:bodyPr/>
          <a:p/>
        </p:txBody>
      </p:sp>
      <p:sp>
        <p:nvSpPr>
          <p:cNvPr id="29" name="Text 27"/>
          <p:cNvSpPr/>
          <p:nvPr/>
        </p:nvSpPr>
        <p:spPr>
          <a:xfrm>
            <a:off x="658368" y="3538728"/>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06</a:t>
            </a:r>
            <a:endParaRPr lang="en-US" sz="1350" dirty="0"/>
          </a:p>
        </p:txBody>
      </p:sp>
      <p:sp>
        <p:nvSpPr>
          <p:cNvPr id="30" name="Text 28"/>
          <p:cNvSpPr/>
          <p:nvPr/>
        </p:nvSpPr>
        <p:spPr>
          <a:xfrm>
            <a:off x="1234440" y="3538728"/>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SQUIRE Write-Up</a:t>
            </a:r>
            <a:endParaRPr lang="en-US" sz="1050" dirty="0"/>
          </a:p>
        </p:txBody>
      </p:sp>
      <p:sp>
        <p:nvSpPr>
          <p:cNvPr id="31" name="Text 29"/>
          <p:cNvSpPr/>
          <p:nvPr/>
        </p:nvSpPr>
        <p:spPr>
          <a:xfrm>
            <a:off x="3566160" y="3538728"/>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Guide first — Template optional</a:t>
            </a:r>
            <a:endParaRPr lang="en-US" sz="900" dirty="0"/>
          </a:p>
        </p:txBody>
      </p:sp>
      <p:sp>
        <p:nvSpPr>
          <p:cNvPr id="32" name="Text 30"/>
          <p:cNvSpPr/>
          <p:nvPr/>
        </p:nvSpPr>
        <p:spPr>
          <a:xfrm>
            <a:off x="6949440" y="3538728"/>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A finished report</a:t>
            </a:r>
            <a:endParaRPr lang="en-US" sz="850" dirty="0"/>
          </a:p>
        </p:txBody>
      </p:sp>
      <p:sp>
        <p:nvSpPr>
          <p:cNvPr id="33" name="Shape 31"/>
          <p:cNvSpPr/>
          <p:nvPr/>
        </p:nvSpPr>
        <p:spPr>
          <a:xfrm>
            <a:off x="457200" y="4059936"/>
            <a:ext cx="8229600" cy="457200"/>
          </a:xfrm>
          <a:prstGeom prst="roundRect">
            <a:avLst>
              <a:gd name="adj" fmla="val 14000"/>
            </a:avLst>
          </a:prstGeom>
          <a:solidFill>
            <a:srgbClr val="F1F6F2"/>
          </a:solidFill>
          <a:ln w="12700">
            <a:solidFill>
              <a:srgbClr val="F1F6F2"/>
            </a:solidFill>
            <a:prstDash val="solid"/>
          </a:ln>
        </p:spPr>
        <p:txBody>
          <a:bodyPr/>
          <a:p/>
        </p:txBody>
      </p:sp>
      <p:sp>
        <p:nvSpPr>
          <p:cNvPr id="34" name="Text 32"/>
          <p:cNvSpPr/>
          <p:nvPr/>
        </p:nvSpPr>
        <p:spPr>
          <a:xfrm>
            <a:off x="658368" y="4059936"/>
            <a:ext cx="502920" cy="457200"/>
          </a:xfrm>
          <a:prstGeom prst="rect">
            <a:avLst/>
          </a:prstGeom>
          <a:noFill/>
          <a:ln/>
        </p:spPr>
        <p:txBody>
          <a:bodyPr wrap="square" lIns="0" tIns="0" rIns="0" bIns="0" rtlCol="0" anchor="ctr"/>
          <a:lstStyle/>
          <a:p>
            <a:pPr indent="0" marL="0">
              <a:buNone/>
            </a:pPr>
            <a:r>
              <a:rPr lang="en-US" sz="1350" b="1" dirty="0">
                <a:solidFill>
                  <a:srgbClr val="036E3A"/>
                </a:solidFill>
                <a:latin typeface="Calibri" pitchFamily="34" charset="0"/>
                <a:ea typeface="Calibri" pitchFamily="34" charset="-122"/>
                <a:cs typeface="Calibri" pitchFamily="34" charset="-120"/>
              </a:rPr>
              <a:t>07</a:t>
            </a:r>
            <a:endParaRPr lang="en-US" sz="1350" dirty="0"/>
          </a:p>
        </p:txBody>
      </p:sp>
      <p:sp>
        <p:nvSpPr>
          <p:cNvPr id="35" name="Text 33"/>
          <p:cNvSpPr/>
          <p:nvPr/>
        </p:nvSpPr>
        <p:spPr>
          <a:xfrm>
            <a:off x="1234440" y="4059936"/>
            <a:ext cx="2240280" cy="457200"/>
          </a:xfrm>
          <a:prstGeom prst="rect">
            <a:avLst/>
          </a:prstGeom>
          <a:noFill/>
          <a:ln/>
        </p:spPr>
        <p:txBody>
          <a:bodyPr wrap="square" lIns="0" tIns="0" rIns="0" bIns="0" rtlCol="0" anchor="ctr"/>
          <a:lstStyle/>
          <a:p>
            <a:pPr indent="0" marL="0">
              <a:buNone/>
            </a:pPr>
            <a:r>
              <a:rPr lang="en-US" sz="1050" b="1" dirty="0">
                <a:solidFill>
                  <a:srgbClr val="1B1B1B"/>
                </a:solidFill>
                <a:latin typeface="Calibri" pitchFamily="34" charset="0"/>
                <a:ea typeface="Calibri" pitchFamily="34" charset="-122"/>
                <a:cs typeface="Calibri" pitchFamily="34" charset="-120"/>
              </a:rPr>
              <a:t>Repeat the Cycle</a:t>
            </a:r>
            <a:endParaRPr lang="en-US" sz="1050" dirty="0"/>
          </a:p>
        </p:txBody>
      </p:sp>
      <p:sp>
        <p:nvSpPr>
          <p:cNvPr id="36" name="Text 34"/>
          <p:cNvSpPr/>
          <p:nvPr/>
        </p:nvSpPr>
        <p:spPr>
          <a:xfrm>
            <a:off x="3566160" y="4059936"/>
            <a:ext cx="3383280" cy="45720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Back to Stage 3 — smaller and sharper</a:t>
            </a:r>
            <a:endParaRPr lang="en-US" sz="900" dirty="0"/>
          </a:p>
        </p:txBody>
      </p:sp>
      <p:sp>
        <p:nvSpPr>
          <p:cNvPr id="37" name="Text 35"/>
          <p:cNvSpPr/>
          <p:nvPr/>
        </p:nvSpPr>
        <p:spPr>
          <a:xfrm>
            <a:off x="6949440" y="4059936"/>
            <a:ext cx="1572768" cy="457200"/>
          </a:xfrm>
          <a:prstGeom prst="rect">
            <a:avLst/>
          </a:prstGeom>
          <a:noFill/>
          <a:ln/>
        </p:spPr>
        <p:txBody>
          <a:bodyPr wrap="square" lIns="0" tIns="0" rIns="0" bIns="0" rtlCol="0" anchor="ctr"/>
          <a:lstStyle/>
          <a:p>
            <a:pPr algn="r" indent="0" marL="0">
              <a:buNone/>
            </a:pPr>
            <a:r>
              <a:rPr lang="en-US" sz="850" b="1" dirty="0">
                <a:solidFill>
                  <a:srgbClr val="036E3A"/>
                </a:solidFill>
                <a:latin typeface="Calibri" pitchFamily="34" charset="0"/>
                <a:ea typeface="Calibri" pitchFamily="34" charset="-122"/>
                <a:cs typeface="Calibri" pitchFamily="34" charset="-120"/>
              </a:rPr>
              <a:t>Cycle 2 owner</a:t>
            </a:r>
            <a:endParaRPr lang="en-US" sz="850" dirty="0"/>
          </a:p>
        </p:txBody>
      </p:sp>
      <p:sp>
        <p:nvSpPr>
          <p:cNvPr id="38" name="Text 36"/>
          <p:cNvSpPr/>
          <p:nvPr/>
        </p:nvSpPr>
        <p:spPr>
          <a:xfrm>
            <a:off x="457200" y="4590288"/>
            <a:ext cx="8229600" cy="219456"/>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One loop = one PDSA cycle. Stages 1–3 are Plan, 4 is Do, 5 is Study, 6–7 are Act.</a:t>
            </a:r>
            <a:endParaRPr lang="en-US" sz="850" dirty="0"/>
          </a:p>
        </p:txBody>
      </p:sp>
      <p:sp>
        <p:nvSpPr>
          <p:cNvPr id="40" name="Text 3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41" name="Text 3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 SETTLE THIS BEFORE YOU PITCH ANYTHING</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QI, Audit or Research?</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60120"/>
            <a:ext cx="2624328" cy="2377440"/>
          </a:xfrm>
          <a:prstGeom prst="roundRect">
            <a:avLst>
              <a:gd name="adj" fmla="val 2692"/>
            </a:avLst>
          </a:prstGeom>
          <a:solidFill>
            <a:srgbClr val="DCEFE3"/>
          </a:solidFill>
          <a:ln w="12700">
            <a:solidFill>
              <a:srgbClr val="DCEFE3"/>
            </a:solidFill>
            <a:prstDash val="solid"/>
          </a:ln>
        </p:spPr>
        <p:txBody>
          <a:bodyPr/>
          <a:p/>
        </p:txBody>
      </p:sp>
      <p:sp>
        <p:nvSpPr>
          <p:cNvPr id="6" name="Text 4"/>
          <p:cNvSpPr/>
          <p:nvPr/>
        </p:nvSpPr>
        <p:spPr>
          <a:xfrm>
            <a:off x="603504" y="1088136"/>
            <a:ext cx="2331720" cy="256032"/>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Quality improvement</a:t>
            </a:r>
            <a:endParaRPr lang="en-US" sz="1150" dirty="0"/>
          </a:p>
        </p:txBody>
      </p:sp>
      <p:sp>
        <p:nvSpPr>
          <p:cNvPr id="7" name="Text 5"/>
          <p:cNvSpPr/>
          <p:nvPr/>
        </p:nvSpPr>
        <p:spPr>
          <a:xfrm>
            <a:off x="603504" y="1371600"/>
            <a:ext cx="2331720" cy="27432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“How do we improve how we do it here?”</a:t>
            </a:r>
            <a:endParaRPr lang="en-US" sz="900" dirty="0"/>
          </a:p>
        </p:txBody>
      </p:sp>
      <p:sp>
        <p:nvSpPr>
          <p:cNvPr id="8" name="Text 6"/>
          <p:cNvSpPr/>
          <p:nvPr/>
        </p:nvSpPr>
        <p:spPr>
          <a:xfrm>
            <a:off x="603504" y="1700784"/>
            <a:ext cx="2331720" cy="713232"/>
          </a:xfrm>
          <a:prstGeom prst="rect">
            <a:avLst/>
          </a:prstGeom>
          <a:noFill/>
          <a:ln/>
        </p:spPr>
        <p:txBody>
          <a:bodyPr wrap="square" lIns="0" tIns="0" rIns="0" bIns="0" rtlCol="0" anchor="t"/>
          <a:lstStyle/>
          <a:p>
            <a:pPr indent="0" marL="0">
              <a:buNone/>
            </a:pPr>
            <a:r>
              <a:rPr lang="en-US" sz="900" dirty="0">
                <a:solidFill>
                  <a:srgbClr val="1B1B1B"/>
                </a:solidFill>
                <a:latin typeface="Calibri" pitchFamily="34" charset="0"/>
                <a:ea typeface="Calibri" pitchFamily="34" charset="-122"/>
                <a:cs typeface="Calibri" pitchFamily="34" charset="-120"/>
              </a:rPr>
              <a:t>Testing local changes and measuring the effect — this Roadmap.</a:t>
            </a:r>
            <a:endParaRPr lang="en-US" sz="900" dirty="0"/>
          </a:p>
        </p:txBody>
      </p:sp>
      <p:sp>
        <p:nvSpPr>
          <p:cNvPr id="9" name="Text 7"/>
          <p:cNvSpPr/>
          <p:nvPr/>
        </p:nvSpPr>
        <p:spPr>
          <a:xfrm>
            <a:off x="603504" y="2487168"/>
            <a:ext cx="2331720" cy="749808"/>
          </a:xfrm>
          <a:prstGeom prst="rect">
            <a:avLst/>
          </a:prstGeom>
          <a:noFill/>
          <a:ln/>
        </p:spPr>
        <p:txBody>
          <a:bodyPr wrap="square" lIns="0" tIns="0" rIns="0" bIns="0" rtlCol="0" anchor="t"/>
          <a:lstStyle/>
          <a:p>
            <a:pPr indent="0" marL="0">
              <a:buNone/>
            </a:pPr>
            <a:r>
              <a:rPr lang="en-US" sz="880" b="1" dirty="0">
                <a:solidFill>
                  <a:srgbClr val="1B1B1B"/>
                </a:solidFill>
                <a:latin typeface="Calibri" pitchFamily="34" charset="0"/>
                <a:ea typeface="Calibri" pitchFamily="34" charset="-122"/>
                <a:cs typeface="Calibri" pitchFamily="34" charset="-120"/>
              </a:rPr>
              <a:t>Register with your trust’s clinical audit / QI team. No ethics committee needed.</a:t>
            </a:r>
            <a:endParaRPr lang="en-US" sz="880" dirty="0"/>
          </a:p>
        </p:txBody>
      </p:sp>
      <p:sp>
        <p:nvSpPr>
          <p:cNvPr id="10" name="Shape 8"/>
          <p:cNvSpPr/>
          <p:nvPr/>
        </p:nvSpPr>
        <p:spPr>
          <a:xfrm>
            <a:off x="3259836" y="960120"/>
            <a:ext cx="2624328" cy="2377440"/>
          </a:xfrm>
          <a:prstGeom prst="roundRect">
            <a:avLst>
              <a:gd name="adj" fmla="val 2692"/>
            </a:avLst>
          </a:prstGeom>
          <a:solidFill>
            <a:srgbClr val="F1F6F2"/>
          </a:solidFill>
          <a:ln w="12700">
            <a:solidFill>
              <a:srgbClr val="F1F6F2"/>
            </a:solidFill>
            <a:prstDash val="solid"/>
          </a:ln>
        </p:spPr>
        <p:txBody>
          <a:bodyPr/>
          <a:p/>
        </p:txBody>
      </p:sp>
      <p:sp>
        <p:nvSpPr>
          <p:cNvPr id="11" name="Text 9"/>
          <p:cNvSpPr/>
          <p:nvPr/>
        </p:nvSpPr>
        <p:spPr>
          <a:xfrm>
            <a:off x="3406140" y="1088136"/>
            <a:ext cx="2331720" cy="256032"/>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Clinical audit</a:t>
            </a:r>
            <a:endParaRPr lang="en-US" sz="1150" dirty="0"/>
          </a:p>
        </p:txBody>
      </p:sp>
      <p:sp>
        <p:nvSpPr>
          <p:cNvPr id="12" name="Text 10"/>
          <p:cNvSpPr/>
          <p:nvPr/>
        </p:nvSpPr>
        <p:spPr>
          <a:xfrm>
            <a:off x="3406140" y="1371600"/>
            <a:ext cx="2331720" cy="27432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“Are we meeting the standard?”</a:t>
            </a:r>
            <a:endParaRPr lang="en-US" sz="900" dirty="0"/>
          </a:p>
        </p:txBody>
      </p:sp>
      <p:sp>
        <p:nvSpPr>
          <p:cNvPr id="13" name="Text 11"/>
          <p:cNvSpPr/>
          <p:nvPr/>
        </p:nvSpPr>
        <p:spPr>
          <a:xfrm>
            <a:off x="3406140" y="1700784"/>
            <a:ext cx="2331720" cy="713232"/>
          </a:xfrm>
          <a:prstGeom prst="rect">
            <a:avLst/>
          </a:prstGeom>
          <a:noFill/>
          <a:ln/>
        </p:spPr>
        <p:txBody>
          <a:bodyPr wrap="square" lIns="0" tIns="0" rIns="0" bIns="0" rtlCol="0" anchor="t"/>
          <a:lstStyle/>
          <a:p>
            <a:pPr indent="0" marL="0">
              <a:buNone/>
            </a:pPr>
            <a:r>
              <a:rPr lang="en-US" sz="900" dirty="0">
                <a:solidFill>
                  <a:srgbClr val="1B1B1B"/>
                </a:solidFill>
                <a:latin typeface="Calibri" pitchFamily="34" charset="0"/>
                <a:ea typeface="Calibri" pitchFamily="34" charset="-122"/>
                <a:cs typeface="Calibri" pitchFamily="34" charset="-120"/>
              </a:rPr>
              <a:t>Measuring current practice against an agreed standard — no change being tested.</a:t>
            </a:r>
            <a:endParaRPr lang="en-US" sz="900" dirty="0"/>
          </a:p>
        </p:txBody>
      </p:sp>
      <p:sp>
        <p:nvSpPr>
          <p:cNvPr id="14" name="Text 12"/>
          <p:cNvSpPr/>
          <p:nvPr/>
        </p:nvSpPr>
        <p:spPr>
          <a:xfrm>
            <a:off x="3406140" y="2487168"/>
            <a:ext cx="2331720" cy="749808"/>
          </a:xfrm>
          <a:prstGeom prst="rect">
            <a:avLst/>
          </a:prstGeom>
          <a:noFill/>
          <a:ln/>
        </p:spPr>
        <p:txBody>
          <a:bodyPr wrap="square" lIns="0" tIns="0" rIns="0" bIns="0" rtlCol="0" anchor="t"/>
          <a:lstStyle/>
          <a:p>
            <a:pPr indent="0" marL="0">
              <a:buNone/>
            </a:pPr>
            <a:r>
              <a:rPr lang="en-US" sz="880" b="1" dirty="0">
                <a:solidFill>
                  <a:srgbClr val="1B1B1B"/>
                </a:solidFill>
                <a:latin typeface="Calibri" pitchFamily="34" charset="0"/>
                <a:ea typeface="Calibri" pitchFamily="34" charset="-122"/>
                <a:cs typeface="Calibri" pitchFamily="34" charset="-120"/>
              </a:rPr>
              <a:t>Register with the clinical audit team. No ethics committee needed.</a:t>
            </a:r>
            <a:endParaRPr lang="en-US" sz="880" dirty="0"/>
          </a:p>
        </p:txBody>
      </p:sp>
      <p:sp>
        <p:nvSpPr>
          <p:cNvPr id="15" name="Shape 13"/>
          <p:cNvSpPr/>
          <p:nvPr/>
        </p:nvSpPr>
        <p:spPr>
          <a:xfrm>
            <a:off x="6062472" y="960120"/>
            <a:ext cx="2624328" cy="2377440"/>
          </a:xfrm>
          <a:prstGeom prst="roundRect">
            <a:avLst>
              <a:gd name="adj" fmla="val 2692"/>
            </a:avLst>
          </a:prstGeom>
          <a:solidFill>
            <a:srgbClr val="F1F6F2"/>
          </a:solidFill>
          <a:ln w="12700">
            <a:solidFill>
              <a:srgbClr val="F1F6F2"/>
            </a:solidFill>
            <a:prstDash val="solid"/>
          </a:ln>
        </p:spPr>
        <p:txBody>
          <a:bodyPr/>
          <a:p/>
        </p:txBody>
      </p:sp>
      <p:sp>
        <p:nvSpPr>
          <p:cNvPr id="16" name="Text 14"/>
          <p:cNvSpPr/>
          <p:nvPr/>
        </p:nvSpPr>
        <p:spPr>
          <a:xfrm>
            <a:off x="6208776" y="1088136"/>
            <a:ext cx="2331720" cy="256032"/>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Research</a:t>
            </a:r>
            <a:endParaRPr lang="en-US" sz="1150" dirty="0"/>
          </a:p>
        </p:txBody>
      </p:sp>
      <p:sp>
        <p:nvSpPr>
          <p:cNvPr id="17" name="Text 15"/>
          <p:cNvSpPr/>
          <p:nvPr/>
        </p:nvSpPr>
        <p:spPr>
          <a:xfrm>
            <a:off x="6208776" y="1371600"/>
            <a:ext cx="2331720" cy="274320"/>
          </a:xfrm>
          <a:prstGeom prst="rect">
            <a:avLst/>
          </a:prstGeom>
          <a:noFill/>
          <a:ln/>
        </p:spPr>
        <p:txBody>
          <a:bodyPr wrap="square" lIns="0" tIns="0" rIns="0" bIns="0" rtlCol="0" anchor="ctr"/>
          <a:lstStyle/>
          <a:p>
            <a:pPr indent="0" marL="0">
              <a:buNone/>
            </a:pPr>
            <a:r>
              <a:rPr lang="en-US" sz="900" i="1" dirty="0">
                <a:solidFill>
                  <a:srgbClr val="4A5A52"/>
                </a:solidFill>
                <a:latin typeface="Calibri" pitchFamily="34" charset="0"/>
                <a:ea typeface="Calibri" pitchFamily="34" charset="-122"/>
                <a:cs typeface="Calibri" pitchFamily="34" charset="-120"/>
              </a:rPr>
              <a:t>“What should best practice be?”</a:t>
            </a:r>
            <a:endParaRPr lang="en-US" sz="900" dirty="0"/>
          </a:p>
        </p:txBody>
      </p:sp>
      <p:sp>
        <p:nvSpPr>
          <p:cNvPr id="18" name="Text 16"/>
          <p:cNvSpPr/>
          <p:nvPr/>
        </p:nvSpPr>
        <p:spPr>
          <a:xfrm>
            <a:off x="6208776" y="1700784"/>
            <a:ext cx="2331720" cy="713232"/>
          </a:xfrm>
          <a:prstGeom prst="rect">
            <a:avLst/>
          </a:prstGeom>
          <a:noFill/>
          <a:ln/>
        </p:spPr>
        <p:txBody>
          <a:bodyPr wrap="square" lIns="0" tIns="0" rIns="0" bIns="0" rtlCol="0" anchor="t"/>
          <a:lstStyle/>
          <a:p>
            <a:pPr indent="0" marL="0">
              <a:buNone/>
            </a:pPr>
            <a:r>
              <a:rPr lang="en-US" sz="900" dirty="0">
                <a:solidFill>
                  <a:srgbClr val="1B1B1B"/>
                </a:solidFill>
                <a:latin typeface="Calibri" pitchFamily="34" charset="0"/>
                <a:ea typeface="Calibri" pitchFamily="34" charset="-122"/>
                <a:cs typeface="Calibri" pitchFamily="34" charset="-120"/>
              </a:rPr>
              <a:t>Creating new, generalisable knowledge — hypotheses, controls, publication beyond your ward.</a:t>
            </a:r>
            <a:endParaRPr lang="en-US" sz="900" dirty="0"/>
          </a:p>
        </p:txBody>
      </p:sp>
      <p:sp>
        <p:nvSpPr>
          <p:cNvPr id="19" name="Text 17"/>
          <p:cNvSpPr/>
          <p:nvPr/>
        </p:nvSpPr>
        <p:spPr>
          <a:xfrm>
            <a:off x="6208776" y="2487168"/>
            <a:ext cx="2331720" cy="749808"/>
          </a:xfrm>
          <a:prstGeom prst="rect">
            <a:avLst/>
          </a:prstGeom>
          <a:noFill/>
          <a:ln/>
        </p:spPr>
        <p:txBody>
          <a:bodyPr wrap="square" lIns="0" tIns="0" rIns="0" bIns="0" rtlCol="0" anchor="t"/>
          <a:lstStyle/>
          <a:p>
            <a:pPr indent="0" marL="0">
              <a:buNone/>
            </a:pPr>
            <a:r>
              <a:rPr lang="en-US" sz="880" b="1" dirty="0">
                <a:solidFill>
                  <a:srgbClr val="1B1B1B"/>
                </a:solidFill>
                <a:latin typeface="Calibri" pitchFamily="34" charset="0"/>
                <a:ea typeface="Calibri" pitchFamily="34" charset="-122"/>
                <a:cs typeface="Calibri" pitchFamily="34" charset="-120"/>
              </a:rPr>
              <a:t>Needs HRA / Research Ethics approval BEFORE you start — speak to the R&amp;D office.</a:t>
            </a:r>
            <a:endParaRPr lang="en-US" sz="880" dirty="0"/>
          </a:p>
        </p:txBody>
      </p:sp>
      <p:sp>
        <p:nvSpPr>
          <p:cNvPr id="20" name="Text 18"/>
          <p:cNvSpPr/>
          <p:nvPr/>
        </p:nvSpPr>
        <p:spPr>
          <a:xfrm>
            <a:off x="457200" y="3520440"/>
            <a:ext cx="8229600" cy="402336"/>
          </a:xfrm>
          <a:prstGeom prst="roundRect">
            <a:avLst>
              <a:gd name="adj" fmla="val 15909"/>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Rule of thumb:  </a:t>
            </a:r>
            <a:pPr indent="0" marL="0">
              <a:buNone/>
            </a:pPr>
            <a:r>
              <a:rPr lang="en-US" sz="950" dirty="0">
                <a:solidFill>
                  <a:srgbClr val="1B1B1B"/>
                </a:solidFill>
                <a:latin typeface="Calibri" pitchFamily="34" charset="0"/>
                <a:ea typeface="Calibri" pitchFamily="34" charset="-122"/>
                <a:cs typeface="Calibri" pitchFamily="34" charset="-120"/>
              </a:rPr>
              <a:t>changing something and measuring it locally = QI.  Not sure?  </a:t>
            </a:r>
            <a:pPr indent="0" marL="0">
              <a:buNone/>
            </a:pPr>
            <a:r>
              <a:rPr lang="en-US" sz="9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hra-decisiontools.org.uk/research</a:t>
            </a:r>
            <a:pPr indent="0" marL="0">
              <a:buNone/>
            </a:pPr>
            <a:r>
              <a:rPr lang="en-US" sz="950" dirty="0">
                <a:solidFill>
                  <a:srgbClr val="1B1B1B"/>
                </a:solidFill>
                <a:latin typeface="Calibri" pitchFamily="34" charset="0"/>
                <a:ea typeface="Calibri" pitchFamily="34" charset="-122"/>
                <a:cs typeface="Calibri" pitchFamily="34" charset="-120"/>
              </a:rPr>
              <a:t>  decides it in five clicks.</a:t>
            </a:r>
            <a:endParaRPr lang="en-US" sz="950" dirty="0"/>
          </a:p>
        </p:txBody>
      </p:sp>
      <p:sp>
        <p:nvSpPr>
          <p:cNvPr id="21" name="Text 19"/>
          <p:cNvSpPr/>
          <p:nvPr/>
        </p:nvSpPr>
        <p:spPr>
          <a:xfrm>
            <a:off x="457200" y="4041648"/>
            <a:ext cx="8229600" cy="566928"/>
          </a:xfrm>
          <a:prstGeom prst="roundRect">
            <a:avLst>
              <a:gd name="adj" fmla="val 11290"/>
            </a:avLst>
          </a:prstGeom>
          <a:solidFill>
            <a:srgbClr val="F1F6F2"/>
          </a:solidFill>
          <a:ln/>
        </p:spPr>
        <p:txBody>
          <a:bodyPr wrap="square" lIns="127000" tIns="127000" rIns="127000" bIns="127000" rtlCol="0" anchor="ctr"/>
          <a:lstStyle/>
          <a:p>
            <a:pPr indent="0" marL="0">
              <a:buNone/>
            </a:pPr>
            <a:r>
              <a:rPr lang="en-US" sz="930" b="1" dirty="0">
                <a:solidFill>
                  <a:srgbClr val="1B1B1B"/>
                </a:solidFill>
                <a:latin typeface="Calibri" pitchFamily="34" charset="0"/>
                <a:ea typeface="Calibri" pitchFamily="34" charset="-122"/>
                <a:cs typeface="Calibri" pitchFamily="34" charset="-120"/>
              </a:rPr>
              <a:t>Information governance — whichever label:  </a:t>
            </a:r>
            <a:pPr indent="0" marL="0">
              <a:buNone/>
            </a:pPr>
            <a:r>
              <a:rPr lang="en-US" sz="930" dirty="0">
                <a:solidFill>
                  <a:srgbClr val="1B1B1B"/>
                </a:solidFill>
                <a:latin typeface="Calibri" pitchFamily="34" charset="0"/>
                <a:ea typeface="Calibri" pitchFamily="34" charset="-122"/>
                <a:cs typeface="Calibri" pitchFamily="34" charset="-120"/>
              </a:rPr>
              <a:t>count, don’t name. No patient-identifiable data in workbooks, e-mails or on personal devices. If you genuinely need identifiers, use trust systems only — and ask your IG team first.</a:t>
            </a:r>
            <a:endParaRPr lang="en-US" sz="930" dirty="0"/>
          </a:p>
        </p:txBody>
      </p:sp>
      <p:sp>
        <p:nvSpPr>
          <p:cNvPr id="23" name="Text 2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4" name="Text 2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OF 7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Pitch Your QIP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txBody>
          <a:bodyPr/>
          <a:p/>
        </p:txBody>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Spot a problem that bugs you (and your team) day to day</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Count something — 20 sets of notes or one week of data</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Draft a one-line aim: from [X] to [Y] by [date] — targeting a WHO quality domain (safe, timely, effective…)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Find a consultant supervisor and a friend to share the work</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Check who needs to be on board — and talk to them before you pitch</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Pitch it in five sentences: problem · number · aim · why it matters · the ask — worked example follows</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txBody>
          <a:bodyPr/>
          <a:p/>
        </p:txBody>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Five sentences and one honest local number. Three change ideas, sorted on a quick 2×2 — no scoring needed.</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txBody>
          <a:bodyPr/>
          <a:p/>
        </p:txBody>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A consultant has said ‘yes, go ahead’ — and you have a named supervisor.</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3 · 4 · 6</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pPr indent="0" marL="0">
              <a:buNone/>
            </a:pPr>
            <a:r>
              <a:rPr lang="en-US" sz="8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WHO quality domains → who.int</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CONTINUED — THE PITCH, KEPT SMALL</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The Five-Sentence Pitch</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60120"/>
            <a:ext cx="5257800" cy="566928"/>
          </a:xfrm>
          <a:prstGeom prst="roundRect">
            <a:avLst>
              <a:gd name="adj" fmla="val 11290"/>
            </a:avLst>
          </a:prstGeom>
          <a:solidFill>
            <a:srgbClr val="F1F6F2"/>
          </a:solidFill>
          <a:ln w="12700">
            <a:solidFill>
              <a:srgbClr val="F1F6F2"/>
            </a:solidFill>
            <a:prstDash val="solid"/>
          </a:ln>
        </p:spPr>
        <p:txBody>
          <a:bodyPr/>
          <a:p/>
        </p:txBody>
      </p:sp>
      <p:sp>
        <p:nvSpPr>
          <p:cNvPr id="6" name="Text 4"/>
          <p:cNvSpPr/>
          <p:nvPr/>
        </p:nvSpPr>
        <p:spPr>
          <a:xfrm>
            <a:off x="621792" y="1078992"/>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78992" y="1033272"/>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problem</a:t>
            </a:r>
            <a:endParaRPr lang="en-US" sz="1100" dirty="0"/>
          </a:p>
        </p:txBody>
      </p:sp>
      <p:sp>
        <p:nvSpPr>
          <p:cNvPr id="8" name="Text 6"/>
          <p:cNvSpPr/>
          <p:nvPr/>
        </p:nvSpPr>
        <p:spPr>
          <a:xfrm>
            <a:off x="2542032" y="1014984"/>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What’s going wrong, for which patients — as you’ve seen it on the ward.</a:t>
            </a:r>
            <a:endParaRPr lang="en-US" sz="900" dirty="0"/>
          </a:p>
        </p:txBody>
      </p:sp>
      <p:sp>
        <p:nvSpPr>
          <p:cNvPr id="9" name="Shape 7"/>
          <p:cNvSpPr/>
          <p:nvPr/>
        </p:nvSpPr>
        <p:spPr>
          <a:xfrm>
            <a:off x="457200" y="1618488"/>
            <a:ext cx="5257800" cy="566928"/>
          </a:xfrm>
          <a:prstGeom prst="roundRect">
            <a:avLst>
              <a:gd name="adj" fmla="val 11290"/>
            </a:avLst>
          </a:prstGeom>
          <a:solidFill>
            <a:srgbClr val="F1F6F2"/>
          </a:solidFill>
          <a:ln w="12700">
            <a:solidFill>
              <a:srgbClr val="F1F6F2"/>
            </a:solidFill>
            <a:prstDash val="solid"/>
          </a:ln>
        </p:spPr>
        <p:txBody>
          <a:bodyPr/>
          <a:p/>
        </p:txBody>
      </p:sp>
      <p:sp>
        <p:nvSpPr>
          <p:cNvPr id="10" name="Text 8"/>
          <p:cNvSpPr/>
          <p:nvPr/>
        </p:nvSpPr>
        <p:spPr>
          <a:xfrm>
            <a:off x="621792" y="1737360"/>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078992" y="1691640"/>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number</a:t>
            </a:r>
            <a:endParaRPr lang="en-US" sz="1100" dirty="0"/>
          </a:p>
        </p:txBody>
      </p:sp>
      <p:sp>
        <p:nvSpPr>
          <p:cNvPr id="12" name="Text 10"/>
          <p:cNvSpPr/>
          <p:nvPr/>
        </p:nvSpPr>
        <p:spPr>
          <a:xfrm>
            <a:off x="2542032" y="1673352"/>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One honest local figure: “12 of 20 charts last week.” No literature review.</a:t>
            </a:r>
            <a:endParaRPr lang="en-US" sz="900" dirty="0"/>
          </a:p>
        </p:txBody>
      </p:sp>
      <p:sp>
        <p:nvSpPr>
          <p:cNvPr id="13" name="Shape 11"/>
          <p:cNvSpPr/>
          <p:nvPr/>
        </p:nvSpPr>
        <p:spPr>
          <a:xfrm>
            <a:off x="457200" y="2276856"/>
            <a:ext cx="5257800" cy="566928"/>
          </a:xfrm>
          <a:prstGeom prst="roundRect">
            <a:avLst>
              <a:gd name="adj" fmla="val 11290"/>
            </a:avLst>
          </a:prstGeom>
          <a:solidFill>
            <a:srgbClr val="F1F6F2"/>
          </a:solidFill>
          <a:ln w="12700">
            <a:solidFill>
              <a:srgbClr val="F1F6F2"/>
            </a:solidFill>
            <a:prstDash val="solid"/>
          </a:ln>
        </p:spPr>
        <p:txBody>
          <a:bodyPr/>
          <a:p/>
        </p:txBody>
      </p:sp>
      <p:sp>
        <p:nvSpPr>
          <p:cNvPr id="14" name="Text 12"/>
          <p:cNvSpPr/>
          <p:nvPr/>
        </p:nvSpPr>
        <p:spPr>
          <a:xfrm>
            <a:off x="621792" y="2395728"/>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78992" y="2350008"/>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aim</a:t>
            </a:r>
            <a:endParaRPr lang="en-US" sz="1100" dirty="0"/>
          </a:p>
        </p:txBody>
      </p:sp>
      <p:sp>
        <p:nvSpPr>
          <p:cNvPr id="16" name="Text 14"/>
          <p:cNvSpPr/>
          <p:nvPr/>
        </p:nvSpPr>
        <p:spPr>
          <a:xfrm>
            <a:off x="2542032" y="2331720"/>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From [X] to [Y] by [date].</a:t>
            </a:r>
            <a:endParaRPr lang="en-US" sz="900" dirty="0"/>
          </a:p>
        </p:txBody>
      </p:sp>
      <p:sp>
        <p:nvSpPr>
          <p:cNvPr id="17" name="Shape 15"/>
          <p:cNvSpPr/>
          <p:nvPr/>
        </p:nvSpPr>
        <p:spPr>
          <a:xfrm>
            <a:off x="457200" y="2935224"/>
            <a:ext cx="5257800" cy="566928"/>
          </a:xfrm>
          <a:prstGeom prst="roundRect">
            <a:avLst>
              <a:gd name="adj" fmla="val 11290"/>
            </a:avLst>
          </a:prstGeom>
          <a:solidFill>
            <a:srgbClr val="F1F6F2"/>
          </a:solidFill>
          <a:ln w="12700">
            <a:solidFill>
              <a:srgbClr val="F1F6F2"/>
            </a:solidFill>
            <a:prstDash val="solid"/>
          </a:ln>
        </p:spPr>
        <p:txBody>
          <a:bodyPr/>
          <a:p/>
        </p:txBody>
      </p:sp>
      <p:sp>
        <p:nvSpPr>
          <p:cNvPr id="18" name="Text 16"/>
          <p:cNvSpPr/>
          <p:nvPr/>
        </p:nvSpPr>
        <p:spPr>
          <a:xfrm>
            <a:off x="621792" y="3054096"/>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078992" y="3008376"/>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Why it matters</a:t>
            </a:r>
            <a:endParaRPr lang="en-US" sz="1100" dirty="0"/>
          </a:p>
        </p:txBody>
      </p:sp>
      <p:sp>
        <p:nvSpPr>
          <p:cNvPr id="20" name="Text 18"/>
          <p:cNvSpPr/>
          <p:nvPr/>
        </p:nvSpPr>
        <p:spPr>
          <a:xfrm>
            <a:off x="2542032" y="2990088"/>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The WHO quality domain it targets — and what it means for patients.</a:t>
            </a:r>
            <a:endParaRPr lang="en-US" sz="900" dirty="0"/>
          </a:p>
        </p:txBody>
      </p:sp>
      <p:sp>
        <p:nvSpPr>
          <p:cNvPr id="21" name="Shape 19"/>
          <p:cNvSpPr/>
          <p:nvPr/>
        </p:nvSpPr>
        <p:spPr>
          <a:xfrm>
            <a:off x="457200" y="3593592"/>
            <a:ext cx="5257800" cy="566928"/>
          </a:xfrm>
          <a:prstGeom prst="roundRect">
            <a:avLst>
              <a:gd name="adj" fmla="val 11290"/>
            </a:avLst>
          </a:prstGeom>
          <a:solidFill>
            <a:srgbClr val="F1F6F2"/>
          </a:solidFill>
          <a:ln w="12700">
            <a:solidFill>
              <a:srgbClr val="F1F6F2"/>
            </a:solidFill>
            <a:prstDash val="solid"/>
          </a:ln>
        </p:spPr>
        <p:txBody>
          <a:bodyPr/>
          <a:p/>
        </p:txBody>
      </p:sp>
      <p:sp>
        <p:nvSpPr>
          <p:cNvPr id="22" name="Text 20"/>
          <p:cNvSpPr/>
          <p:nvPr/>
        </p:nvSpPr>
        <p:spPr>
          <a:xfrm>
            <a:off x="621792" y="3712464"/>
            <a:ext cx="329184" cy="329184"/>
          </a:xfrm>
          <a:prstGeom prst="ellipse">
            <a:avLst/>
          </a:prstGeom>
          <a:solidFill>
            <a:srgbClr val="036E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1078992" y="3666744"/>
            <a:ext cx="1417320" cy="420624"/>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ask</a:t>
            </a:r>
            <a:endParaRPr lang="en-US" sz="1100" dirty="0"/>
          </a:p>
        </p:txBody>
      </p:sp>
      <p:sp>
        <p:nvSpPr>
          <p:cNvPr id="24" name="Text 22"/>
          <p:cNvSpPr/>
          <p:nvPr/>
        </p:nvSpPr>
        <p:spPr>
          <a:xfrm>
            <a:off x="2542032" y="3648456"/>
            <a:ext cx="3063240" cy="457200"/>
          </a:xfrm>
          <a:prstGeom prst="rect">
            <a:avLst/>
          </a:prstGeom>
          <a:noFill/>
          <a:ln/>
        </p:spPr>
        <p:txBody>
          <a:bodyPr wrap="square" lIns="0" tIns="0" rIns="0" bIns="0" rtlCol="0" anchor="ctr"/>
          <a:lstStyle/>
          <a:p>
            <a:pPr indent="0" marL="0">
              <a:buNone/>
            </a:pPr>
            <a:r>
              <a:rPr lang="en-US" sz="900" dirty="0">
                <a:solidFill>
                  <a:srgbClr val="1B1B1B"/>
                </a:solidFill>
                <a:latin typeface="Calibri" pitchFamily="34" charset="0"/>
                <a:ea typeface="Calibri" pitchFamily="34" charset="-122"/>
                <a:cs typeface="Calibri" pitchFamily="34" charset="-120"/>
              </a:rPr>
              <a:t>A named supervisor — and a ‘yes, go ahead’ to collect baseline data.</a:t>
            </a:r>
            <a:endParaRPr lang="en-US" sz="900" dirty="0"/>
          </a:p>
        </p:txBody>
      </p:sp>
      <p:sp>
        <p:nvSpPr>
          <p:cNvPr id="25" name="Shape 23"/>
          <p:cNvSpPr/>
          <p:nvPr/>
        </p:nvSpPr>
        <p:spPr>
          <a:xfrm>
            <a:off x="5897880" y="960120"/>
            <a:ext cx="2788920" cy="3127248"/>
          </a:xfrm>
          <a:prstGeom prst="roundRect">
            <a:avLst>
              <a:gd name="adj" fmla="val 2295"/>
            </a:avLst>
          </a:prstGeom>
          <a:solidFill>
            <a:srgbClr val="DCEFE3"/>
          </a:solidFill>
          <a:ln w="12700">
            <a:solidFill>
              <a:srgbClr val="DCEFE3"/>
            </a:solidFill>
            <a:prstDash val="solid"/>
          </a:ln>
        </p:spPr>
        <p:txBody>
          <a:bodyPr/>
          <a:p/>
        </p:txBody>
      </p:sp>
      <p:sp>
        <p:nvSpPr>
          <p:cNvPr id="26" name="Text 24"/>
          <p:cNvSpPr/>
          <p:nvPr/>
        </p:nvSpPr>
        <p:spPr>
          <a:xfrm>
            <a:off x="6044184" y="1088136"/>
            <a:ext cx="2514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IN YOUR BACK POCKET</a:t>
            </a:r>
            <a:endParaRPr lang="en-US" sz="800" dirty="0"/>
          </a:p>
        </p:txBody>
      </p:sp>
      <p:sp>
        <p:nvSpPr>
          <p:cNvPr id="27" name="Text 25"/>
          <p:cNvSpPr/>
          <p:nvPr/>
        </p:nvSpPr>
        <p:spPr>
          <a:xfrm>
            <a:off x="6044184" y="1371600"/>
            <a:ext cx="2514600" cy="2606040"/>
          </a:xfrm>
          <a:prstGeom prst="rect">
            <a:avLst/>
          </a:prstGeom>
          <a:noFill/>
          <a:ln/>
        </p:spPr>
        <p:txBody>
          <a:bodyPr wrap="square" lIns="0" tIns="0" rIns="0" bIns="0" rtlCol="0" anchor="t"/>
          <a:lstStyle/>
          <a:p>
            <a:pPr indent="0" marL="0">
              <a:spcAft>
                <a:spcPts val="500"/>
              </a:spcAft>
              <a:buNone/>
            </a:pPr>
            <a:r>
              <a:rPr lang="en-US" sz="950" dirty="0">
                <a:solidFill>
                  <a:srgbClr val="1B1B1B"/>
                </a:solidFill>
                <a:latin typeface="Calibri" pitchFamily="34" charset="0"/>
                <a:ea typeface="Calibri" pitchFamily="34" charset="-122"/>
                <a:cs typeface="Calibri" pitchFamily="34" charset="-120"/>
              </a:rPr>
              <a:t>The four questions the room will ask:</a:t>
            </a:r>
            <a:endParaRPr lang="en-US" sz="950" dirty="0"/>
          </a:p>
          <a:p>
            <a:pPr indent="0" marL="0">
              <a:spcAft>
                <a:spcPts val="300"/>
              </a:spcAft>
              <a:buNone/>
            </a:pPr>
            <a:r>
              <a:rPr lang="en-US" sz="1000" b="1" dirty="0">
                <a:solidFill>
                  <a:srgbClr val="036E3A"/>
                </a:solidFill>
                <a:latin typeface="Calibri" pitchFamily="34" charset="0"/>
                <a:ea typeface="Calibri" pitchFamily="34" charset="-122"/>
                <a:cs typeface="Calibri" pitchFamily="34" charset="-120"/>
              </a:rPr>
              <a:t>“What is it?”</a:t>
            </a:r>
            <a:endParaRPr lang="en-US" sz="950" dirty="0"/>
          </a:p>
          <a:p>
            <a:pPr indent="0" marL="0">
              <a:spcAft>
                <a:spcPts val="300"/>
              </a:spcAft>
              <a:buNone/>
            </a:pPr>
            <a:r>
              <a:rPr lang="en-US" sz="1000" b="1" dirty="0">
                <a:solidFill>
                  <a:srgbClr val="036E3A"/>
                </a:solidFill>
                <a:latin typeface="Calibri" pitchFamily="34" charset="0"/>
                <a:ea typeface="Calibri" pitchFamily="34" charset="-122"/>
                <a:cs typeface="Calibri" pitchFamily="34" charset="-120"/>
              </a:rPr>
              <a:t>“How does it work?”</a:t>
            </a:r>
            <a:endParaRPr lang="en-US" sz="950" dirty="0"/>
          </a:p>
          <a:p>
            <a:pPr indent="0" marL="0">
              <a:spcAft>
                <a:spcPts val="300"/>
              </a:spcAft>
              <a:buNone/>
            </a:pPr>
            <a:r>
              <a:rPr lang="en-US" sz="1000" b="1" dirty="0">
                <a:solidFill>
                  <a:srgbClr val="036E3A"/>
                </a:solidFill>
                <a:latin typeface="Calibri" pitchFamily="34" charset="0"/>
                <a:ea typeface="Calibri" pitchFamily="34" charset="-122"/>
                <a:cs typeface="Calibri" pitchFamily="34" charset="-120"/>
              </a:rPr>
              <a:t>“Can you back it up?”</a:t>
            </a:r>
            <a:endParaRPr lang="en-US" sz="950" dirty="0"/>
          </a:p>
          <a:p>
            <a:pPr indent="0" marL="0">
              <a:spcAft>
                <a:spcPts val="600"/>
              </a:spcAft>
              <a:buNone/>
            </a:pPr>
            <a:r>
              <a:rPr lang="en-US" sz="1000" b="1" dirty="0">
                <a:solidFill>
                  <a:srgbClr val="036E3A"/>
                </a:solidFill>
                <a:latin typeface="Calibri" pitchFamily="34" charset="0"/>
                <a:ea typeface="Calibri" pitchFamily="34" charset="-122"/>
                <a:cs typeface="Calibri" pitchFamily="34" charset="-120"/>
              </a:rPr>
              <a:t>“Can you do it?”</a:t>
            </a:r>
            <a:endParaRPr lang="en-US" sz="950" dirty="0"/>
          </a:p>
          <a:p>
            <a:pPr indent="0" marL="0">
              <a:buNone/>
            </a:pPr>
            <a:r>
              <a:rPr lang="en-US" sz="950" dirty="0">
                <a:solidFill>
                  <a:srgbClr val="1B1B1B"/>
                </a:solidFill>
                <a:latin typeface="Calibri" pitchFamily="34" charset="0"/>
                <a:ea typeface="Calibri" pitchFamily="34" charset="-122"/>
                <a:cs typeface="Calibri" pitchFamily="34" charset="-120"/>
              </a:rPr>
              <a:t>Have a one-line answer to each — in your head, not in the script.</a:t>
            </a:r>
            <a:endParaRPr lang="en-US" sz="950" dirty="0"/>
          </a:p>
        </p:txBody>
      </p:sp>
      <p:sp>
        <p:nvSpPr>
          <p:cNvPr id="28" name="Text 26"/>
          <p:cNvSpPr/>
          <p:nvPr/>
        </p:nvSpPr>
        <p:spPr>
          <a:xfrm>
            <a:off x="457200" y="4572000"/>
            <a:ext cx="8229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YOUR PITCH FEEDS FORWARD</a:t>
            </a:r>
            <a:pPr indent="0" marL="0">
              <a:buNone/>
            </a:pPr>
            <a:r>
              <a:rPr lang="en-US" sz="900" dirty="0">
                <a:solidFill>
                  <a:srgbClr val="1B1B1B"/>
                </a:solidFill>
                <a:latin typeface="Calibri" pitchFamily="34" charset="0"/>
                <a:ea typeface="Calibri" pitchFamily="34" charset="-122"/>
                <a:cs typeface="Calibri" pitchFamily="34" charset="-120"/>
              </a:rPr>
              <a:t>   The aim starts Stage 2’s driver diagram — and your change ideas get sorted two slides on.</a:t>
            </a:r>
            <a:endParaRPr lang="en-US" sz="800" dirty="0"/>
          </a:p>
        </p:txBody>
      </p:sp>
      <p:sp>
        <p:nvSpPr>
          <p:cNvPr id="30" name="Text 2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31" name="Text 2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WORKED EXAMPLE — THE IDA PITCH IN FIVE SENTENCES (ANONYMISED)</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Five Sentences, Written Out</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32688"/>
            <a:ext cx="5212080" cy="3520440"/>
          </a:xfrm>
          <a:prstGeom prst="roundRect">
            <a:avLst>
              <a:gd name="adj" fmla="val 1818"/>
            </a:avLst>
          </a:prstGeom>
          <a:solidFill>
            <a:srgbClr val="F1F6F2"/>
          </a:solidFill>
          <a:ln w="12700">
            <a:solidFill>
              <a:srgbClr val="F1F6F2"/>
            </a:solidFill>
            <a:prstDash val="solid"/>
          </a:ln>
        </p:spPr>
        <p:txBody>
          <a:bodyPr/>
          <a:p/>
        </p:txBody>
      </p:sp>
      <p:sp>
        <p:nvSpPr>
          <p:cNvPr id="6" name="Text 4"/>
          <p:cNvSpPr/>
          <p:nvPr/>
        </p:nvSpPr>
        <p:spPr>
          <a:xfrm>
            <a:off x="621792" y="1097280"/>
            <a:ext cx="4882896" cy="3200400"/>
          </a:xfrm>
          <a:prstGeom prst="rect">
            <a:avLst/>
          </a:prstGeom>
          <a:noFill/>
          <a:ln/>
        </p:spPr>
        <p:txBody>
          <a:bodyPr wrap="square" lIns="0" tIns="0" rIns="0" bIns="0" rtlCol="0" anchor="t"/>
          <a:lstStyle/>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1.  Iron-deficiency anaemia is one of our commonest SDEC presentations — and getting the work-up wrong risks missing a malignancy.</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2.  Last month, fewer than half of our IDA patients had the underlying cause investigated before discharge.</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3.  We aim to increase appropriate IV iron use by 25% — and cut inappropriate transfusions by 90% — within 12 months.</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4.  That’s safer, more effective care: fewer patients exposed to transfusion risk, fewer reattending for infusions they didn’t need.</a:t>
            </a:r>
            <a:endParaRPr lang="en-US" sz="1000" dirty="0"/>
          </a:p>
          <a:p>
            <a:pPr indent="0" marL="0">
              <a:spcAft>
                <a:spcPts val="800"/>
              </a:spcAft>
              <a:buNone/>
            </a:pPr>
            <a:r>
              <a:rPr lang="en-US" sz="1000" dirty="0">
                <a:solidFill>
                  <a:srgbClr val="1B1B1B"/>
                </a:solidFill>
                <a:latin typeface="Calibri" pitchFamily="34" charset="0"/>
                <a:ea typeface="Calibri" pitchFamily="34" charset="-122"/>
                <a:cs typeface="Calibri" pitchFamily="34" charset="-120"/>
              </a:rPr>
              <a:t>5.  Dr [supervisor] has agreed to supervise — we’re asking for the go-ahead to collect baseline data.</a:t>
            </a:r>
            <a:endParaRPr lang="en-US" sz="1000" dirty="0"/>
          </a:p>
        </p:txBody>
      </p:sp>
      <p:sp>
        <p:nvSpPr>
          <p:cNvPr id="7" name="Shape 5"/>
          <p:cNvSpPr/>
          <p:nvPr/>
        </p:nvSpPr>
        <p:spPr>
          <a:xfrm>
            <a:off x="5806440" y="932688"/>
            <a:ext cx="2880360" cy="3520440"/>
          </a:xfrm>
          <a:prstGeom prst="roundRect">
            <a:avLst>
              <a:gd name="adj" fmla="val 2222"/>
            </a:avLst>
          </a:prstGeom>
          <a:solidFill>
            <a:srgbClr val="DCEFE3"/>
          </a:solidFill>
          <a:ln w="12700">
            <a:solidFill>
              <a:srgbClr val="DCEFE3"/>
            </a:solidFill>
            <a:prstDash val="solid"/>
          </a:ln>
        </p:spPr>
        <p:txBody>
          <a:bodyPr/>
          <a:p/>
        </p:txBody>
      </p:sp>
      <p:sp>
        <p:nvSpPr>
          <p:cNvPr id="8" name="Text 6"/>
          <p:cNvSpPr/>
          <p:nvPr/>
        </p:nvSpPr>
        <p:spPr>
          <a:xfrm>
            <a:off x="5952744" y="1060704"/>
            <a:ext cx="260604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WHY IT WORKS</a:t>
            </a:r>
            <a:endParaRPr lang="en-US" sz="800" dirty="0"/>
          </a:p>
        </p:txBody>
      </p:sp>
      <p:sp>
        <p:nvSpPr>
          <p:cNvPr id="9" name="Text 7"/>
          <p:cNvSpPr/>
          <p:nvPr/>
        </p:nvSpPr>
        <p:spPr>
          <a:xfrm>
            <a:off x="5952744" y="1389888"/>
            <a:ext cx="2606040" cy="292608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Opens on a risk that matters — missed malignancy</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One honest local number — no literature review in sight</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The aim has an X, a Y and a date</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‘Why it matters’ names the WHO domains: safe, effective</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Ends on a clear, small ask — a supervisor and a go-ahead</a:t>
            </a:r>
            <a:endParaRPr lang="en-US" sz="900" dirty="0"/>
          </a:p>
        </p:txBody>
      </p:sp>
      <p:sp>
        <p:nvSpPr>
          <p:cNvPr id="10" name="Text 8"/>
          <p:cNvSpPr/>
          <p:nvPr/>
        </p:nvSpPr>
        <p:spPr>
          <a:xfrm>
            <a:off x="457200" y="4553712"/>
            <a:ext cx="8229600" cy="219456"/>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Keep the fuller answers — delivery plan, measures, feasibility — in your back pocket for the questions afterwards.</a:t>
            </a:r>
            <a:endParaRPr lang="en-US" sz="850" dirty="0"/>
          </a:p>
        </p:txBody>
      </p:sp>
      <p:sp>
        <p:nvSpPr>
          <p:cNvPr id="12" name="Text 9"/>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3" name="Text 10"/>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CONTINUED — CHOOSING WHAT TO TEST FIRST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Sort Your Ideas on a 2×2</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960120" y="1143000"/>
            <a:ext cx="4572000" cy="12802"/>
          </a:xfrm>
          <a:prstGeom prst="rect">
            <a:avLst/>
          </a:prstGeom>
          <a:solidFill>
            <a:srgbClr val="D4E0D8"/>
          </a:solidFill>
          <a:ln w="12700">
            <a:solidFill>
              <a:srgbClr val="D4E0D8"/>
            </a:solidFill>
            <a:prstDash val="solid"/>
          </a:ln>
        </p:spPr>
        <p:txBody>
          <a:bodyPr/>
          <a:p/>
        </p:txBody>
      </p:sp>
      <p:sp>
        <p:nvSpPr>
          <p:cNvPr id="6" name="Shape 4"/>
          <p:cNvSpPr/>
          <p:nvPr/>
        </p:nvSpPr>
        <p:spPr>
          <a:xfrm>
            <a:off x="960120" y="4160520"/>
            <a:ext cx="4572000" cy="12802"/>
          </a:xfrm>
          <a:prstGeom prst="rect">
            <a:avLst/>
          </a:prstGeom>
          <a:solidFill>
            <a:srgbClr val="4A5A52"/>
          </a:solidFill>
          <a:ln w="12700">
            <a:solidFill>
              <a:srgbClr val="4A5A52"/>
            </a:solidFill>
            <a:prstDash val="solid"/>
          </a:ln>
        </p:spPr>
        <p:txBody>
          <a:bodyPr/>
          <a:p/>
        </p:txBody>
      </p:sp>
      <p:sp>
        <p:nvSpPr>
          <p:cNvPr id="7" name="Shape 5"/>
          <p:cNvSpPr/>
          <p:nvPr/>
        </p:nvSpPr>
        <p:spPr>
          <a:xfrm>
            <a:off x="960120" y="1143000"/>
            <a:ext cx="12802" cy="3017520"/>
          </a:xfrm>
          <a:prstGeom prst="rect">
            <a:avLst/>
          </a:prstGeom>
          <a:solidFill>
            <a:srgbClr val="4A5A52"/>
          </a:solidFill>
          <a:ln w="12700">
            <a:solidFill>
              <a:srgbClr val="4A5A52"/>
            </a:solidFill>
            <a:prstDash val="solid"/>
          </a:ln>
        </p:spPr>
        <p:txBody>
          <a:bodyPr/>
          <a:p/>
        </p:txBody>
      </p:sp>
      <p:sp>
        <p:nvSpPr>
          <p:cNvPr id="8" name="Shape 6"/>
          <p:cNvSpPr/>
          <p:nvPr/>
        </p:nvSpPr>
        <p:spPr>
          <a:xfrm>
            <a:off x="5532120" y="1143000"/>
            <a:ext cx="12802" cy="3017520"/>
          </a:xfrm>
          <a:prstGeom prst="rect">
            <a:avLst/>
          </a:prstGeom>
          <a:solidFill>
            <a:srgbClr val="D4E0D8"/>
          </a:solidFill>
          <a:ln w="12700">
            <a:solidFill>
              <a:srgbClr val="D4E0D8"/>
            </a:solidFill>
            <a:prstDash val="solid"/>
          </a:ln>
        </p:spPr>
        <p:txBody>
          <a:bodyPr/>
          <a:p/>
        </p:txBody>
      </p:sp>
      <p:sp>
        <p:nvSpPr>
          <p:cNvPr id="9" name="Shape 7"/>
          <p:cNvSpPr/>
          <p:nvPr/>
        </p:nvSpPr>
        <p:spPr>
          <a:xfrm>
            <a:off x="960120" y="2651760"/>
            <a:ext cx="4572000" cy="10973"/>
          </a:xfrm>
          <a:prstGeom prst="rect">
            <a:avLst/>
          </a:prstGeom>
          <a:solidFill>
            <a:srgbClr val="D4E0D8"/>
          </a:solidFill>
          <a:ln w="12700">
            <a:solidFill>
              <a:srgbClr val="D4E0D8"/>
            </a:solidFill>
            <a:prstDash val="solid"/>
          </a:ln>
        </p:spPr>
        <p:txBody>
          <a:bodyPr/>
          <a:p/>
        </p:txBody>
      </p:sp>
      <p:sp>
        <p:nvSpPr>
          <p:cNvPr id="10" name="Shape 8"/>
          <p:cNvSpPr/>
          <p:nvPr/>
        </p:nvSpPr>
        <p:spPr>
          <a:xfrm>
            <a:off x="3246120" y="1143000"/>
            <a:ext cx="10973" cy="3017520"/>
          </a:xfrm>
          <a:prstGeom prst="rect">
            <a:avLst/>
          </a:prstGeom>
          <a:solidFill>
            <a:srgbClr val="D4E0D8"/>
          </a:solidFill>
          <a:ln w="12700">
            <a:solidFill>
              <a:srgbClr val="D4E0D8"/>
            </a:solidFill>
            <a:prstDash val="solid"/>
          </a:ln>
        </p:spPr>
        <p:txBody>
          <a:bodyPr/>
          <a:p/>
        </p:txBody>
      </p:sp>
      <p:sp>
        <p:nvSpPr>
          <p:cNvPr id="11" name="Text 9"/>
          <p:cNvSpPr/>
          <p:nvPr/>
        </p:nvSpPr>
        <p:spPr>
          <a:xfrm rot="16200000">
            <a:off x="393192" y="2514600"/>
            <a:ext cx="1280160" cy="274320"/>
          </a:xfrm>
          <a:prstGeom prst="rect">
            <a:avLst/>
          </a:prstGeom>
          <a:noFill/>
          <a:ln/>
        </p:spPr>
        <p:txBody>
          <a:bodyPr wrap="square" lIns="0" tIns="0" rIns="0" bIns="0" rtlCol="0" anchor="ctr"/>
          <a:lstStyle/>
          <a:p>
            <a:pPr algn="ctr" indent="0" marL="0">
              <a:buNone/>
            </a:pPr>
            <a:r>
              <a:rPr lang="en-US" sz="850" b="1" spc="120" kern="0" dirty="0">
                <a:solidFill>
                  <a:srgbClr val="4A5A52"/>
                </a:solidFill>
                <a:latin typeface="Calibri" pitchFamily="34" charset="0"/>
                <a:ea typeface="Calibri" pitchFamily="34" charset="-122"/>
                <a:cs typeface="Calibri" pitchFamily="34" charset="-120"/>
              </a:rPr>
              <a:t>IMPACT →</a:t>
            </a:r>
            <a:endParaRPr lang="en-US" sz="850" dirty="0"/>
          </a:p>
        </p:txBody>
      </p:sp>
      <p:sp>
        <p:nvSpPr>
          <p:cNvPr id="12" name="Text 10"/>
          <p:cNvSpPr/>
          <p:nvPr/>
        </p:nvSpPr>
        <p:spPr>
          <a:xfrm>
            <a:off x="960120" y="4215384"/>
            <a:ext cx="4572000" cy="219456"/>
          </a:xfrm>
          <a:prstGeom prst="rect">
            <a:avLst/>
          </a:prstGeom>
          <a:noFill/>
          <a:ln/>
        </p:spPr>
        <p:txBody>
          <a:bodyPr wrap="square" lIns="0" tIns="0" rIns="0" bIns="0" rtlCol="0" anchor="ctr"/>
          <a:lstStyle/>
          <a:p>
            <a:pPr algn="ctr" indent="0" marL="0">
              <a:buNone/>
            </a:pPr>
            <a:r>
              <a:rPr lang="en-US" sz="850" b="1" spc="120" kern="0" dirty="0">
                <a:solidFill>
                  <a:srgbClr val="4A5A52"/>
                </a:solidFill>
                <a:latin typeface="Calibri" pitchFamily="34" charset="0"/>
                <a:ea typeface="Calibri" pitchFamily="34" charset="-122"/>
                <a:cs typeface="Calibri" pitchFamily="34" charset="-120"/>
              </a:rPr>
              <a:t>EASE OF DELIVERY →</a:t>
            </a:r>
            <a:endParaRPr lang="en-US" sz="850" dirty="0"/>
          </a:p>
        </p:txBody>
      </p:sp>
      <p:sp>
        <p:nvSpPr>
          <p:cNvPr id="13" name="Text 11"/>
          <p:cNvSpPr/>
          <p:nvPr/>
        </p:nvSpPr>
        <p:spPr>
          <a:xfrm>
            <a:off x="3429000" y="1252728"/>
            <a:ext cx="2011680" cy="256032"/>
          </a:xfrm>
          <a:prstGeom prst="roundRect">
            <a:avLst>
              <a:gd name="adj" fmla="val 28571"/>
            </a:avLst>
          </a:prstGeom>
          <a:solidFill>
            <a:srgbClr val="DCEFE3"/>
          </a:solidFill>
          <a:ln/>
        </p:spPr>
        <p:txBody>
          <a:bodyPr wrap="square" lIns="0" tIns="0" rIns="0" bIns="0" rtlCol="0" anchor="ctr"/>
          <a:lstStyle/>
          <a:p>
            <a:pPr algn="ctr" indent="0" marL="0">
              <a:buNone/>
            </a:pPr>
            <a:r>
              <a:rPr lang="en-US" sz="800" b="1" dirty="0">
                <a:solidFill>
                  <a:srgbClr val="036E3A"/>
                </a:solidFill>
                <a:latin typeface="Calibri" pitchFamily="34" charset="0"/>
                <a:ea typeface="Calibri" pitchFamily="34" charset="-122"/>
                <a:cs typeface="Calibri" pitchFamily="34" charset="-120"/>
              </a:rPr>
              <a:t>QUICK WINS — START HERE</a:t>
            </a:r>
            <a:endParaRPr lang="en-US" sz="800" dirty="0"/>
          </a:p>
        </p:txBody>
      </p:sp>
      <p:sp>
        <p:nvSpPr>
          <p:cNvPr id="14" name="Text 12"/>
          <p:cNvSpPr/>
          <p:nvPr/>
        </p:nvSpPr>
        <p:spPr>
          <a:xfrm>
            <a:off x="1069848" y="1271016"/>
            <a:ext cx="2011680" cy="219456"/>
          </a:xfrm>
          <a:prstGeom prst="rect">
            <a:avLst/>
          </a:prstGeom>
          <a:noFill/>
          <a:ln/>
        </p:spPr>
        <p:txBody>
          <a:bodyPr wrap="square" lIns="0" tIns="0" rIns="0" bIns="0" rtlCol="0" anchor="ctr"/>
          <a:lstStyle/>
          <a:p>
            <a:pPr indent="0" marL="0">
              <a:buNone/>
            </a:pPr>
            <a:r>
              <a:rPr lang="en-US" sz="800" i="1" dirty="0">
                <a:solidFill>
                  <a:srgbClr val="4A5A52"/>
                </a:solidFill>
                <a:latin typeface="Calibri" pitchFamily="34" charset="0"/>
                <a:ea typeface="Calibri" pitchFamily="34" charset="-122"/>
                <a:cs typeface="Calibri" pitchFamily="34" charset="-120"/>
              </a:rPr>
              <a:t>big bets — later cycles</a:t>
            </a:r>
            <a:endParaRPr lang="en-US" sz="800" dirty="0"/>
          </a:p>
        </p:txBody>
      </p:sp>
      <p:sp>
        <p:nvSpPr>
          <p:cNvPr id="15" name="Text 13"/>
          <p:cNvSpPr/>
          <p:nvPr/>
        </p:nvSpPr>
        <p:spPr>
          <a:xfrm>
            <a:off x="1069848" y="3831336"/>
            <a:ext cx="1828800" cy="219456"/>
          </a:xfrm>
          <a:prstGeom prst="rect">
            <a:avLst/>
          </a:prstGeom>
          <a:noFill/>
          <a:ln/>
        </p:spPr>
        <p:txBody>
          <a:bodyPr wrap="square" lIns="0" tIns="0" rIns="0" bIns="0" rtlCol="0" anchor="ctr"/>
          <a:lstStyle/>
          <a:p>
            <a:pPr indent="0" marL="0">
              <a:buNone/>
            </a:pPr>
            <a:r>
              <a:rPr lang="en-US" sz="800" i="1" dirty="0">
                <a:solidFill>
                  <a:srgbClr val="4A5A52"/>
                </a:solidFill>
                <a:latin typeface="Calibri" pitchFamily="34" charset="0"/>
                <a:ea typeface="Calibri" pitchFamily="34" charset="-122"/>
                <a:cs typeface="Calibri" pitchFamily="34" charset="-120"/>
              </a:rPr>
              <a:t>park these</a:t>
            </a:r>
            <a:endParaRPr lang="en-US" sz="800" dirty="0"/>
          </a:p>
        </p:txBody>
      </p:sp>
      <p:sp>
        <p:nvSpPr>
          <p:cNvPr id="16" name="Text 14"/>
          <p:cNvSpPr/>
          <p:nvPr/>
        </p:nvSpPr>
        <p:spPr>
          <a:xfrm>
            <a:off x="3429000" y="3831336"/>
            <a:ext cx="2011680" cy="219456"/>
          </a:xfrm>
          <a:prstGeom prst="rect">
            <a:avLst/>
          </a:prstGeom>
          <a:noFill/>
          <a:ln/>
        </p:spPr>
        <p:txBody>
          <a:bodyPr wrap="square" lIns="0" tIns="0" rIns="0" bIns="0" rtlCol="0" anchor="ctr"/>
          <a:lstStyle/>
          <a:p>
            <a:pPr indent="0" marL="0">
              <a:buNone/>
            </a:pPr>
            <a:r>
              <a:rPr lang="en-US" sz="800" i="1" dirty="0">
                <a:solidFill>
                  <a:srgbClr val="4A5A52"/>
                </a:solidFill>
                <a:latin typeface="Calibri" pitchFamily="34" charset="0"/>
                <a:ea typeface="Calibri" pitchFamily="34" charset="-122"/>
                <a:cs typeface="Calibri" pitchFamily="34" charset="-120"/>
              </a:rPr>
              <a:t>easy, but low yield</a:t>
            </a:r>
            <a:endParaRPr lang="en-US" sz="800" dirty="0"/>
          </a:p>
        </p:txBody>
      </p:sp>
      <p:sp>
        <p:nvSpPr>
          <p:cNvPr id="17" name="Text 15"/>
          <p:cNvSpPr/>
          <p:nvPr/>
        </p:nvSpPr>
        <p:spPr>
          <a:xfrm>
            <a:off x="3456432" y="1627632"/>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IDA pathway</a:t>
            </a:r>
            <a:endParaRPr lang="en-US" sz="780" dirty="0"/>
          </a:p>
        </p:txBody>
      </p:sp>
      <p:sp>
        <p:nvSpPr>
          <p:cNvPr id="18" name="Text 16"/>
          <p:cNvSpPr/>
          <p:nvPr/>
        </p:nvSpPr>
        <p:spPr>
          <a:xfrm>
            <a:off x="1170432" y="1627632"/>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ePrescribing prompt</a:t>
            </a:r>
            <a:endParaRPr lang="en-US" sz="780" dirty="0"/>
          </a:p>
        </p:txBody>
      </p:sp>
      <p:sp>
        <p:nvSpPr>
          <p:cNvPr id="19" name="Text 17"/>
          <p:cNvSpPr/>
          <p:nvPr/>
        </p:nvSpPr>
        <p:spPr>
          <a:xfrm>
            <a:off x="1078992" y="3218688"/>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One-off high-dose approval</a:t>
            </a:r>
            <a:endParaRPr lang="en-US" sz="780" dirty="0"/>
          </a:p>
        </p:txBody>
      </p:sp>
      <p:sp>
        <p:nvSpPr>
          <p:cNvPr id="20" name="Text 18"/>
          <p:cNvSpPr/>
          <p:nvPr/>
        </p:nvSpPr>
        <p:spPr>
          <a:xfrm>
            <a:off x="3401568" y="2944368"/>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Education sessions</a:t>
            </a:r>
            <a:endParaRPr lang="en-US" sz="780" dirty="0"/>
          </a:p>
        </p:txBody>
      </p:sp>
      <p:sp>
        <p:nvSpPr>
          <p:cNvPr id="21" name="Text 19"/>
          <p:cNvSpPr/>
          <p:nvPr/>
        </p:nvSpPr>
        <p:spPr>
          <a:xfrm>
            <a:off x="4041648" y="3419856"/>
            <a:ext cx="1481328" cy="310896"/>
          </a:xfrm>
          <a:prstGeom prst="roundRect">
            <a:avLst>
              <a:gd name="adj" fmla="val 26471"/>
            </a:avLst>
          </a:prstGeom>
          <a:solidFill>
            <a:srgbClr val="FFFFFF"/>
          </a:solidFill>
          <a:ln w="12700">
            <a:solidFill>
              <a:srgbClr val="036E3A"/>
            </a:solidFill>
          </a:ln>
        </p:spPr>
        <p:txBody>
          <a:bodyPr wrap="square" lIns="25400" tIns="25400" rIns="25400" bIns="25400" rtlCol="0" anchor="ctr"/>
          <a:lstStyle/>
          <a:p>
            <a:pPr algn="ctr" indent="0" marL="0">
              <a:buNone/>
            </a:pPr>
            <a:r>
              <a:rPr lang="en-US" sz="780" dirty="0">
                <a:solidFill>
                  <a:srgbClr val="1B1B1B"/>
                </a:solidFill>
                <a:latin typeface="Calibri" pitchFamily="34" charset="0"/>
                <a:ea typeface="Calibri" pitchFamily="34" charset="-122"/>
                <a:cs typeface="Calibri" pitchFamily="34" charset="-120"/>
              </a:rPr>
              <a:t>Posters</a:t>
            </a:r>
            <a:endParaRPr lang="en-US" sz="780" dirty="0"/>
          </a:p>
        </p:txBody>
      </p:sp>
      <p:sp>
        <p:nvSpPr>
          <p:cNvPr id="22" name="Shape 20"/>
          <p:cNvSpPr/>
          <p:nvPr/>
        </p:nvSpPr>
        <p:spPr>
          <a:xfrm>
            <a:off x="5897880" y="960120"/>
            <a:ext cx="2788920" cy="3200400"/>
          </a:xfrm>
          <a:prstGeom prst="roundRect">
            <a:avLst>
              <a:gd name="adj" fmla="val 2295"/>
            </a:avLst>
          </a:prstGeom>
          <a:solidFill>
            <a:srgbClr val="F1F6F2"/>
          </a:solidFill>
          <a:ln w="12700">
            <a:solidFill>
              <a:srgbClr val="F1F6F2"/>
            </a:solidFill>
            <a:prstDash val="solid"/>
          </a:ln>
        </p:spPr>
        <p:txBody>
          <a:bodyPr/>
          <a:p/>
        </p:txBody>
      </p:sp>
      <p:sp>
        <p:nvSpPr>
          <p:cNvPr id="23" name="Text 21"/>
          <p:cNvSpPr/>
          <p:nvPr/>
        </p:nvSpPr>
        <p:spPr>
          <a:xfrm>
            <a:off x="6044184" y="1088136"/>
            <a:ext cx="2514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HOW TO USE IT</a:t>
            </a:r>
            <a:endParaRPr lang="en-US" sz="800" dirty="0"/>
          </a:p>
        </p:txBody>
      </p:sp>
      <p:sp>
        <p:nvSpPr>
          <p:cNvPr id="24" name="Text 22"/>
          <p:cNvSpPr/>
          <p:nvPr/>
        </p:nvSpPr>
        <p:spPr>
          <a:xfrm>
            <a:off x="6044184" y="1371600"/>
            <a:ext cx="2514600" cy="265176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Sticky notes on a whiteboard — two minutes per idea, with the team</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Ask of each: how much would it move the aim? Could WE deliver it this rotation?</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No scores needed — where it sits relative to the others is enough</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Pick ONE from the top-right for cycle 1; park the rest for later cycles</a:t>
            </a:r>
            <a:endParaRPr lang="en-US" sz="900" dirty="0"/>
          </a:p>
        </p:txBody>
      </p:sp>
      <p:sp>
        <p:nvSpPr>
          <p:cNvPr id="25" name="Text 23"/>
          <p:cNvSpPr/>
          <p:nvPr/>
        </p:nvSpPr>
        <p:spPr>
          <a:xfrm>
            <a:off x="457200" y="4553712"/>
            <a:ext cx="8229600" cy="219456"/>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These five are from the IDA pitch — the pathway wins: high impact, deliverable this rotation.</a:t>
            </a:r>
            <a:endParaRPr lang="en-US" sz="850" dirty="0"/>
          </a:p>
        </p:txBody>
      </p:sp>
      <p:sp>
        <p:nvSpPr>
          <p:cNvPr id="27" name="Text 24"/>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8" name="Text 25"/>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1 CONTINUED — BEFORE YOU PITCH</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Who Needs to Be On Board?</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1</a:t>
            </a:r>
            <a:endParaRPr lang="en-US" sz="900" dirty="0"/>
          </a:p>
        </p:txBody>
      </p:sp>
      <p:sp>
        <p:nvSpPr>
          <p:cNvPr id="5" name="Shape 3"/>
          <p:cNvSpPr/>
          <p:nvPr/>
        </p:nvSpPr>
        <p:spPr>
          <a:xfrm>
            <a:off x="457200" y="960120"/>
            <a:ext cx="4023360" cy="1444752"/>
          </a:xfrm>
          <a:prstGeom prst="roundRect">
            <a:avLst>
              <a:gd name="adj" fmla="val 4430"/>
            </a:avLst>
          </a:prstGeom>
          <a:solidFill>
            <a:srgbClr val="F1F6F2"/>
          </a:solidFill>
          <a:ln w="12700">
            <a:solidFill>
              <a:srgbClr val="F1F6F2"/>
            </a:solidFill>
            <a:prstDash val="solid"/>
          </a:ln>
        </p:spPr>
        <p:txBody>
          <a:bodyPr/>
          <a:p/>
        </p:txBody>
      </p:sp>
      <p:sp>
        <p:nvSpPr>
          <p:cNvPr id="6" name="Text 4"/>
          <p:cNvSpPr/>
          <p:nvPr/>
        </p:nvSpPr>
        <p:spPr>
          <a:xfrm>
            <a:off x="621792" y="1088136"/>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 does the work day-to-day?</a:t>
            </a:r>
            <a:endParaRPr lang="en-US" sz="1150" dirty="0"/>
          </a:p>
        </p:txBody>
      </p:sp>
      <p:sp>
        <p:nvSpPr>
          <p:cNvPr id="7" name="Text 5"/>
          <p:cNvSpPr/>
          <p:nvPr/>
        </p:nvSpPr>
        <p:spPr>
          <a:xfrm>
            <a:off x="621792" y="1417320"/>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Nurses, HCAs, pharmacists, ward clerks — the people your change actually lands on. Invite one onto the team.</a:t>
            </a:r>
            <a:endParaRPr lang="en-US" sz="930" dirty="0"/>
          </a:p>
        </p:txBody>
      </p:sp>
      <p:sp>
        <p:nvSpPr>
          <p:cNvPr id="8" name="Shape 6"/>
          <p:cNvSpPr/>
          <p:nvPr/>
        </p:nvSpPr>
        <p:spPr>
          <a:xfrm>
            <a:off x="4663440" y="960120"/>
            <a:ext cx="4023360" cy="1444752"/>
          </a:xfrm>
          <a:prstGeom prst="roundRect">
            <a:avLst>
              <a:gd name="adj" fmla="val 4430"/>
            </a:avLst>
          </a:prstGeom>
          <a:solidFill>
            <a:srgbClr val="F1F6F2"/>
          </a:solidFill>
          <a:ln w="12700">
            <a:solidFill>
              <a:srgbClr val="F1F6F2"/>
            </a:solidFill>
            <a:prstDash val="solid"/>
          </a:ln>
        </p:spPr>
        <p:txBody>
          <a:bodyPr/>
          <a:p/>
        </p:txBody>
      </p:sp>
      <p:sp>
        <p:nvSpPr>
          <p:cNvPr id="9" name="Text 7"/>
          <p:cNvSpPr/>
          <p:nvPr/>
        </p:nvSpPr>
        <p:spPr>
          <a:xfrm>
            <a:off x="4828032" y="1088136"/>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Whose sign-off do you need?</a:t>
            </a:r>
            <a:endParaRPr lang="en-US" sz="1150" dirty="0"/>
          </a:p>
        </p:txBody>
      </p:sp>
      <p:sp>
        <p:nvSpPr>
          <p:cNvPr id="10" name="Text 8"/>
          <p:cNvSpPr/>
          <p:nvPr/>
        </p:nvSpPr>
        <p:spPr>
          <a:xfrm>
            <a:off x="4828032" y="1417320"/>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Ward manager, clinical lead, pharmacy, IT — name them before you launch. Nothing stalls a first QIP like a missing ‘yes’.</a:t>
            </a:r>
            <a:endParaRPr lang="en-US" sz="930" dirty="0"/>
          </a:p>
        </p:txBody>
      </p:sp>
      <p:sp>
        <p:nvSpPr>
          <p:cNvPr id="11" name="Shape 9"/>
          <p:cNvSpPr/>
          <p:nvPr/>
        </p:nvSpPr>
        <p:spPr>
          <a:xfrm>
            <a:off x="457200" y="2532888"/>
            <a:ext cx="4023360" cy="1444752"/>
          </a:xfrm>
          <a:prstGeom prst="roundRect">
            <a:avLst>
              <a:gd name="adj" fmla="val 4430"/>
            </a:avLst>
          </a:prstGeom>
          <a:solidFill>
            <a:srgbClr val="F1F6F2"/>
          </a:solidFill>
          <a:ln w="12700">
            <a:solidFill>
              <a:srgbClr val="F1F6F2"/>
            </a:solidFill>
            <a:prstDash val="solid"/>
          </a:ln>
        </p:spPr>
        <p:txBody>
          <a:bodyPr/>
          <a:p/>
        </p:txBody>
      </p:sp>
      <p:sp>
        <p:nvSpPr>
          <p:cNvPr id="12" name="Text 10"/>
          <p:cNvSpPr/>
          <p:nvPr/>
        </p:nvSpPr>
        <p:spPr>
          <a:xfrm>
            <a:off x="621792" y="2660904"/>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 might resist — and why?</a:t>
            </a:r>
            <a:endParaRPr lang="en-US" sz="1150" dirty="0"/>
          </a:p>
        </p:txBody>
      </p:sp>
      <p:sp>
        <p:nvSpPr>
          <p:cNvPr id="13" name="Text 11"/>
          <p:cNvSpPr/>
          <p:nvPr/>
        </p:nvSpPr>
        <p:spPr>
          <a:xfrm>
            <a:off x="621792" y="2990088"/>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It’s usually workload, not obstinacy. Ask what would make the change easier before you start, not after.</a:t>
            </a:r>
            <a:endParaRPr lang="en-US" sz="930" dirty="0"/>
          </a:p>
        </p:txBody>
      </p:sp>
      <p:sp>
        <p:nvSpPr>
          <p:cNvPr id="14" name="Shape 12"/>
          <p:cNvSpPr/>
          <p:nvPr/>
        </p:nvSpPr>
        <p:spPr>
          <a:xfrm>
            <a:off x="4663440" y="2532888"/>
            <a:ext cx="4023360" cy="1444752"/>
          </a:xfrm>
          <a:prstGeom prst="roundRect">
            <a:avLst>
              <a:gd name="adj" fmla="val 4430"/>
            </a:avLst>
          </a:prstGeom>
          <a:solidFill>
            <a:srgbClr val="F1F6F2"/>
          </a:solidFill>
          <a:ln w="12700">
            <a:solidFill>
              <a:srgbClr val="F1F6F2"/>
            </a:solidFill>
            <a:prstDash val="solid"/>
          </a:ln>
        </p:spPr>
        <p:txBody>
          <a:bodyPr/>
          <a:p/>
        </p:txBody>
      </p:sp>
      <p:sp>
        <p:nvSpPr>
          <p:cNvPr id="15" name="Text 13"/>
          <p:cNvSpPr/>
          <p:nvPr/>
        </p:nvSpPr>
        <p:spPr>
          <a:xfrm>
            <a:off x="4828032" y="2660904"/>
            <a:ext cx="3703320" cy="274320"/>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Who speaks for patients?</a:t>
            </a:r>
            <a:endParaRPr lang="en-US" sz="1150" dirty="0"/>
          </a:p>
        </p:txBody>
      </p:sp>
      <p:sp>
        <p:nvSpPr>
          <p:cNvPr id="16" name="Text 14"/>
          <p:cNvSpPr/>
          <p:nvPr/>
        </p:nvSpPr>
        <p:spPr>
          <a:xfrm>
            <a:off x="4828032" y="2990088"/>
            <a:ext cx="3703320" cy="914400"/>
          </a:xfrm>
          <a:prstGeom prst="rect">
            <a:avLst/>
          </a:prstGeom>
          <a:noFill/>
          <a:ln/>
        </p:spPr>
        <p:txBody>
          <a:bodyPr wrap="square" lIns="0" tIns="0" rIns="0" bIns="0" rtlCol="0" anchor="t"/>
          <a:lstStyle/>
          <a:p>
            <a:pPr indent="0" marL="0">
              <a:buNone/>
            </a:pPr>
            <a:r>
              <a:rPr lang="en-US" sz="930" dirty="0">
                <a:solidFill>
                  <a:srgbClr val="1B1B1B"/>
                </a:solidFill>
                <a:latin typeface="Calibri" pitchFamily="34" charset="0"/>
                <a:ea typeface="Calibri" pitchFamily="34" charset="-122"/>
                <a:cs typeface="Calibri" pitchFamily="34" charset="-120"/>
              </a:rPr>
              <a:t>Even one conversation — or a PALS / friends-and-family theme — counts. Note what patients say about the problem.</a:t>
            </a:r>
            <a:endParaRPr lang="en-US" sz="930" dirty="0"/>
          </a:p>
        </p:txBody>
      </p:sp>
      <p:sp>
        <p:nvSpPr>
          <p:cNvPr id="17" name="Text 15"/>
          <p:cNvSpPr/>
          <p:nvPr/>
        </p:nvSpPr>
        <p:spPr>
          <a:xfrm>
            <a:off x="457200" y="4160520"/>
            <a:ext cx="8229600" cy="502920"/>
          </a:xfrm>
          <a:prstGeom prst="roundRect">
            <a:avLst>
              <a:gd name="adj" fmla="val 1272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Buy-in is the commonest reason first QIPs stall.  </a:t>
            </a:r>
            <a:pPr indent="0" marL="0">
              <a:buNone/>
            </a:pPr>
            <a:r>
              <a:rPr lang="en-US" sz="950" dirty="0">
                <a:solidFill>
                  <a:srgbClr val="1B1B1B"/>
                </a:solidFill>
                <a:latin typeface="Calibri" pitchFamily="34" charset="0"/>
                <a:ea typeface="Calibri" pitchFamily="34" charset="-122"/>
                <a:cs typeface="Calibri" pitchFamily="34" charset="-120"/>
              </a:rPr>
              <a:t>A five-minute corridor conversation now saves a stalled launch later — there’s a ‘who must say yes’ line on the Team Workbook’s Home tab.</a:t>
            </a:r>
            <a:endParaRPr lang="en-US" sz="950" dirty="0"/>
          </a:p>
        </p:txBody>
      </p:sp>
      <p:sp>
        <p:nvSpPr>
          <p:cNvPr id="19" name="Text 1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0" name="Text 1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OF 7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Plan Your QIP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txBody>
          <a:bodyPr/>
          <a:p/>
        </p:txBody>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Map the current process with the people who do the work — log it on the Workbook’s Process Map tab</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Fishbone the causes, then 5 Whys the ones you can evidence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Sketch a driver diagram: aim → primary → secondary → change ideas — see ‘Primary vs Secondary Drivers’</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Pick measures: one outcome, one process, one balancing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Write a data plan: what, who collects, how often, recorded where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Collect 2–4 weeks of baseline before changing anything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Register the project with your trust’s audit team first</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txBody>
          <a:bodyPr/>
          <a:p/>
        </p:txBody>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Photos of a sticky-note process map and a whiteboard driver diagram — tested against the WHO quality lens. Baseline of 10–20 cases per week.</a:t>
            </a:r>
            <a:endParaRPr lang="en-US" sz="950" dirty="0"/>
          </a:p>
        </p:txBody>
      </p:sp>
      <p:sp>
        <p:nvSpPr>
          <p:cNvPr id="11" name="Shape 9"/>
          <p:cNvSpPr/>
          <p:nvPr/>
        </p:nvSpPr>
        <p:spPr>
          <a:xfrm>
            <a:off x="5504688" y="2715768"/>
            <a:ext cx="3182112" cy="1207008"/>
          </a:xfrm>
          <a:prstGeom prst="roundRect">
            <a:avLst>
              <a:gd name="adj" fmla="val 5303"/>
            </a:avLst>
          </a:prstGeom>
          <a:solidFill>
            <a:srgbClr val="F1F6F2"/>
          </a:solidFill>
          <a:ln w="12700">
            <a:solidFill>
              <a:srgbClr val="F1F6F2"/>
            </a:solidFill>
            <a:prstDash val="solid"/>
          </a:ln>
        </p:spPr>
        <p:txBody>
          <a:bodyPr/>
          <a:p/>
        </p:txBody>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676656"/>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You have a baseline run chart and a one-page data plan.</a:t>
            </a:r>
            <a:endParaRPr lang="en-US" sz="950" dirty="0"/>
          </a:p>
        </p:txBody>
      </p:sp>
      <p:sp>
        <p:nvSpPr>
          <p:cNvPr id="14" name="Text 12">
            <a:hlinkClick r:id="rId1" tooltip=""/>
          </p:cNvPr>
          <p:cNvSpPr/>
          <p:nvPr/>
        </p:nvSpPr>
        <p:spPr>
          <a:xfrm>
            <a:off x="5504688" y="4041648"/>
            <a:ext cx="3182112" cy="402336"/>
          </a:xfrm>
          <a:prstGeom prst="roundRect">
            <a:avLst>
              <a:gd name="adj" fmla="val 22727"/>
            </a:avLst>
          </a:prstGeom>
          <a:solidFill>
            <a:srgbClr val="036E3A"/>
          </a:solidFill>
          <a:ln/>
        </p:spPr>
        <p:txBody>
          <a:bodyPr wrap="square" lIns="0" tIns="0" rIns="0" bIns="0" rtlCol="0" anchor="ctr"/>
          <a:lstStyle/>
          <a:p>
            <a:pPr algn="ctr" indent="0" marL="0">
              <a:buNone/>
            </a:pPr>
            <a:r>
              <a:rPr lang="en-US" sz="1050" b="1"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Draw both online  →  aimqa.github.io/SAMQIP</a:t>
            </a:r>
            <a:endParaRPr lang="en-US" sz="1050" dirty="0"/>
          </a:p>
        </p:txBody>
      </p:sp>
      <p:sp>
        <p:nvSpPr>
          <p:cNvPr id="15" name="Text 13"/>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5 · 7 · 10 · 12</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7" name="Text 14"/>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8" name="Text 15"/>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BEFORE YOU CAN CHANGE IT, YOU HAVE TO SEE IT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Map What Actually Happens</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Text 3"/>
          <p:cNvSpPr/>
          <p:nvPr/>
        </p:nvSpPr>
        <p:spPr>
          <a:xfrm>
            <a:off x="457200" y="1060704"/>
            <a:ext cx="1481328" cy="566928"/>
          </a:xfrm>
          <a:prstGeom prst="roundRect">
            <a:avLst>
              <a:gd name="adj" fmla="val 48387"/>
            </a:avLst>
          </a:prstGeom>
          <a:solidFill>
            <a:srgbClr val="023D22"/>
          </a:solidFill>
          <a:ln/>
        </p:spPr>
        <p:txBody>
          <a:bodyPr wrap="square" lIns="38100" tIns="38100" rIns="38100" bIns="381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Patient arrives on AMU</a:t>
            </a:r>
            <a:endParaRPr lang="en-US" sz="850" dirty="0"/>
          </a:p>
        </p:txBody>
      </p:sp>
      <p:sp>
        <p:nvSpPr>
          <p:cNvPr id="6" name="Text 4"/>
          <p:cNvSpPr/>
          <p:nvPr/>
        </p:nvSpPr>
        <p:spPr>
          <a:xfrm>
            <a:off x="2084832" y="1060704"/>
            <a:ext cx="1481328" cy="566928"/>
          </a:xfrm>
          <a:prstGeom prst="roundRect">
            <a:avLst>
              <a:gd name="adj" fmla="val 8065"/>
            </a:avLst>
          </a:prstGeom>
          <a:solidFill>
            <a:srgbClr val="FFFFFF"/>
          </a:solidFill>
          <a:ln w="15240">
            <a:solidFill>
              <a:srgbClr val="036E3A"/>
            </a:solidFill>
          </a:ln>
        </p:spPr>
        <p:txBody>
          <a:bodyPr wrap="square" lIns="38100" tIns="38100" rIns="38100" bIns="38100" rtlCol="0" anchor="ctr"/>
          <a:lstStyle/>
          <a:p>
            <a:pPr algn="ctr" indent="0" marL="0">
              <a:buNone/>
            </a:pPr>
            <a:r>
              <a:rPr lang="en-US" sz="850" dirty="0">
                <a:solidFill>
                  <a:srgbClr val="1B1B1B"/>
                </a:solidFill>
                <a:latin typeface="Calibri" pitchFamily="34" charset="0"/>
                <a:ea typeface="Calibri" pitchFamily="34" charset="-122"/>
                <a:cs typeface="Calibri" pitchFamily="34" charset="-120"/>
              </a:rPr>
              <a:t>Clerked by admitting doctor</a:t>
            </a:r>
            <a:endParaRPr lang="en-US" sz="850" dirty="0"/>
          </a:p>
        </p:txBody>
      </p:sp>
      <p:sp>
        <p:nvSpPr>
          <p:cNvPr id="7" name="Shape 5"/>
          <p:cNvSpPr/>
          <p:nvPr/>
        </p:nvSpPr>
        <p:spPr>
          <a:xfrm>
            <a:off x="3712464" y="932688"/>
            <a:ext cx="1572768" cy="822960"/>
          </a:xfrm>
          <a:prstGeom prst="diamond">
            <a:avLst/>
          </a:prstGeom>
          <a:solidFill>
            <a:srgbClr val="DCEFE3"/>
          </a:solidFill>
          <a:ln w="15240">
            <a:solidFill>
              <a:srgbClr val="036E3A"/>
            </a:solidFill>
            <a:prstDash val="solid"/>
          </a:ln>
        </p:spPr>
        <p:txBody>
          <a:bodyPr/>
          <a:p/>
        </p:txBody>
      </p:sp>
      <p:sp>
        <p:nvSpPr>
          <p:cNvPr id="8" name="Text 6"/>
          <p:cNvSpPr/>
          <p:nvPr/>
        </p:nvSpPr>
        <p:spPr>
          <a:xfrm>
            <a:off x="3877056" y="1060704"/>
            <a:ext cx="1243584" cy="566928"/>
          </a:xfrm>
          <a:prstGeom prst="rect">
            <a:avLst/>
          </a:prstGeom>
          <a:noFill/>
          <a:ln/>
        </p:spPr>
        <p:txBody>
          <a:bodyPr wrap="square" lIns="0" tIns="0" rIns="0" bIns="0" rtlCol="0" anchor="ctr"/>
          <a:lstStyle/>
          <a:p>
            <a:pPr algn="ctr" indent="0" marL="0">
              <a:buNone/>
            </a:pPr>
            <a:r>
              <a:rPr lang="en-US" sz="800" dirty="0">
                <a:solidFill>
                  <a:srgbClr val="1B1B1B"/>
                </a:solidFill>
                <a:latin typeface="Calibri" pitchFamily="34" charset="0"/>
                <a:ea typeface="Calibri" pitchFamily="34" charset="-122"/>
                <a:cs typeface="Calibri" pitchFamily="34" charset="-120"/>
              </a:rPr>
              <a:t>VTE section done?</a:t>
            </a:r>
            <a:endParaRPr lang="en-US" sz="800" dirty="0"/>
          </a:p>
        </p:txBody>
      </p:sp>
      <p:sp>
        <p:nvSpPr>
          <p:cNvPr id="9" name="Text 7"/>
          <p:cNvSpPr/>
          <p:nvPr/>
        </p:nvSpPr>
        <p:spPr>
          <a:xfrm>
            <a:off x="5449824" y="1060704"/>
            <a:ext cx="1481328" cy="566928"/>
          </a:xfrm>
          <a:prstGeom prst="roundRect">
            <a:avLst>
              <a:gd name="adj" fmla="val 8065"/>
            </a:avLst>
          </a:prstGeom>
          <a:solidFill>
            <a:srgbClr val="F1F6F2"/>
          </a:solidFill>
          <a:ln w="15240">
            <a:solidFill>
              <a:srgbClr val="036E3A"/>
            </a:solidFill>
            <a:prstDash val="dash"/>
          </a:ln>
        </p:spPr>
        <p:txBody>
          <a:bodyPr wrap="square" lIns="38100" tIns="38100" rIns="38100" bIns="38100" rtlCol="0" anchor="ctr"/>
          <a:lstStyle/>
          <a:p>
            <a:pPr algn="ctr" indent="0" marL="0">
              <a:buNone/>
            </a:pPr>
            <a:r>
              <a:rPr lang="en-US" sz="850" i="1" dirty="0">
                <a:solidFill>
                  <a:srgbClr val="1B1B1B"/>
                </a:solidFill>
                <a:latin typeface="Calibri" pitchFamily="34" charset="0"/>
                <a:ea typeface="Calibri" pitchFamily="34" charset="-122"/>
                <a:cs typeface="Calibri" pitchFamily="34" charset="-120"/>
              </a:rPr>
              <a:t>Wait for the drug round</a:t>
            </a:r>
            <a:endParaRPr lang="en-US" sz="850" dirty="0"/>
          </a:p>
        </p:txBody>
      </p:sp>
      <p:sp>
        <p:nvSpPr>
          <p:cNvPr id="10" name="Text 8"/>
          <p:cNvSpPr/>
          <p:nvPr/>
        </p:nvSpPr>
        <p:spPr>
          <a:xfrm>
            <a:off x="7077456" y="1060704"/>
            <a:ext cx="1481328" cy="566928"/>
          </a:xfrm>
          <a:prstGeom prst="roundRect">
            <a:avLst>
              <a:gd name="adj" fmla="val 48387"/>
            </a:avLst>
          </a:prstGeom>
          <a:solidFill>
            <a:srgbClr val="023D22"/>
          </a:solidFill>
          <a:ln/>
        </p:spPr>
        <p:txBody>
          <a:bodyPr wrap="square" lIns="38100" tIns="38100" rIns="38100" bIns="381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First doses given</a:t>
            </a:r>
            <a:endParaRPr lang="en-US" sz="850" dirty="0"/>
          </a:p>
        </p:txBody>
      </p:sp>
      <p:sp>
        <p:nvSpPr>
          <p:cNvPr id="11" name="Shape 9"/>
          <p:cNvSpPr/>
          <p:nvPr/>
        </p:nvSpPr>
        <p:spPr>
          <a:xfrm>
            <a:off x="1938528" y="1335024"/>
            <a:ext cx="146304" cy="20117"/>
          </a:xfrm>
          <a:prstGeom prst="rect">
            <a:avLst/>
          </a:prstGeom>
          <a:solidFill>
            <a:srgbClr val="036E3A"/>
          </a:solidFill>
          <a:ln w="12700">
            <a:solidFill>
              <a:srgbClr val="036E3A"/>
            </a:solidFill>
            <a:prstDash val="solid"/>
          </a:ln>
        </p:spPr>
        <p:txBody>
          <a:bodyPr/>
          <a:p/>
        </p:txBody>
      </p:sp>
      <p:sp>
        <p:nvSpPr>
          <p:cNvPr id="12" name="Shape 10"/>
          <p:cNvSpPr/>
          <p:nvPr/>
        </p:nvSpPr>
        <p:spPr>
          <a:xfrm>
            <a:off x="3566160" y="1335024"/>
            <a:ext cx="146304" cy="20117"/>
          </a:xfrm>
          <a:prstGeom prst="rect">
            <a:avLst/>
          </a:prstGeom>
          <a:solidFill>
            <a:srgbClr val="036E3A"/>
          </a:solidFill>
          <a:ln w="12700">
            <a:solidFill>
              <a:srgbClr val="036E3A"/>
            </a:solidFill>
            <a:prstDash val="solid"/>
          </a:ln>
        </p:spPr>
        <p:txBody>
          <a:bodyPr/>
          <a:p/>
        </p:txBody>
      </p:sp>
      <p:sp>
        <p:nvSpPr>
          <p:cNvPr id="13" name="Shape 11"/>
          <p:cNvSpPr/>
          <p:nvPr/>
        </p:nvSpPr>
        <p:spPr>
          <a:xfrm>
            <a:off x="5303520" y="1335024"/>
            <a:ext cx="146304" cy="20117"/>
          </a:xfrm>
          <a:prstGeom prst="rect">
            <a:avLst/>
          </a:prstGeom>
          <a:solidFill>
            <a:srgbClr val="036E3A"/>
          </a:solidFill>
          <a:ln w="12700">
            <a:solidFill>
              <a:srgbClr val="036E3A"/>
            </a:solidFill>
            <a:prstDash val="solid"/>
          </a:ln>
        </p:spPr>
        <p:txBody>
          <a:bodyPr/>
          <a:p/>
        </p:txBody>
      </p:sp>
      <p:sp>
        <p:nvSpPr>
          <p:cNvPr id="14" name="Shape 12"/>
          <p:cNvSpPr/>
          <p:nvPr/>
        </p:nvSpPr>
        <p:spPr>
          <a:xfrm>
            <a:off x="6931152" y="1335024"/>
            <a:ext cx="146304" cy="20117"/>
          </a:xfrm>
          <a:prstGeom prst="rect">
            <a:avLst/>
          </a:prstGeom>
          <a:solidFill>
            <a:srgbClr val="036E3A"/>
          </a:solidFill>
          <a:ln w="12700">
            <a:solidFill>
              <a:srgbClr val="036E3A"/>
            </a:solidFill>
            <a:prstDash val="solid"/>
          </a:ln>
        </p:spPr>
        <p:txBody>
          <a:bodyPr/>
          <a:p/>
        </p:txBody>
      </p:sp>
      <p:sp>
        <p:nvSpPr>
          <p:cNvPr id="15" name="Text 13"/>
          <p:cNvSpPr/>
          <p:nvPr/>
        </p:nvSpPr>
        <p:spPr>
          <a:xfrm>
            <a:off x="2084832" y="1655064"/>
            <a:ext cx="1481328" cy="182880"/>
          </a:xfrm>
          <a:prstGeom prst="rect">
            <a:avLst/>
          </a:prstGeom>
          <a:noFill/>
          <a:ln/>
        </p:spPr>
        <p:txBody>
          <a:bodyPr wrap="square" lIns="0" tIns="0" rIns="0" bIns="0" rtlCol="0" anchor="ctr"/>
          <a:lstStyle/>
          <a:p>
            <a:pPr algn="ctr" indent="0" marL="0">
              <a:buNone/>
            </a:pPr>
            <a:r>
              <a:rPr lang="en-US" sz="750" i="1" dirty="0">
                <a:solidFill>
                  <a:srgbClr val="4A5A52"/>
                </a:solidFill>
                <a:latin typeface="Calibri" pitchFamily="34" charset="0"/>
                <a:ea typeface="Calibri" pitchFamily="34" charset="-122"/>
                <a:cs typeface="Calibri" pitchFamily="34" charset="-120"/>
              </a:rPr>
              <a:t>15 min</a:t>
            </a:r>
            <a:endParaRPr lang="en-US" sz="750" dirty="0"/>
          </a:p>
        </p:txBody>
      </p:sp>
      <p:sp>
        <p:nvSpPr>
          <p:cNvPr id="16" name="Text 14"/>
          <p:cNvSpPr/>
          <p:nvPr/>
        </p:nvSpPr>
        <p:spPr>
          <a:xfrm>
            <a:off x="5449824" y="1655064"/>
            <a:ext cx="1481328" cy="182880"/>
          </a:xfrm>
          <a:prstGeom prst="rect">
            <a:avLst/>
          </a:prstGeom>
          <a:noFill/>
          <a:ln/>
        </p:spPr>
        <p:txBody>
          <a:bodyPr wrap="square" lIns="0" tIns="0" rIns="0" bIns="0" rtlCol="0" anchor="ctr"/>
          <a:lstStyle/>
          <a:p>
            <a:pPr algn="ctr" indent="0" marL="0">
              <a:buNone/>
            </a:pPr>
            <a:r>
              <a:rPr lang="en-US" sz="750" b="1" i="1" dirty="0">
                <a:solidFill>
                  <a:srgbClr val="DA291C"/>
                </a:solidFill>
                <a:latin typeface="Calibri" pitchFamily="34" charset="0"/>
                <a:ea typeface="Calibri" pitchFamily="34" charset="-122"/>
                <a:cs typeface="Calibri" pitchFamily="34" charset="-120"/>
              </a:rPr>
              <a:t>waits 2 h</a:t>
            </a:r>
            <a:endParaRPr lang="en-US" sz="750" dirty="0"/>
          </a:p>
        </p:txBody>
      </p:sp>
      <p:sp>
        <p:nvSpPr>
          <p:cNvPr id="17" name="Text 15"/>
          <p:cNvSpPr/>
          <p:nvPr/>
        </p:nvSpPr>
        <p:spPr>
          <a:xfrm>
            <a:off x="457200" y="1975104"/>
            <a:ext cx="8229600" cy="219456"/>
          </a:xfrm>
          <a:prstGeom prst="rect">
            <a:avLst/>
          </a:prstGeom>
          <a:noFill/>
          <a:ln/>
        </p:spPr>
        <p:txBody>
          <a:bodyPr wrap="square" lIns="0" tIns="0" rIns="0" bIns="0" rtlCol="0" anchor="ctr"/>
          <a:lstStyle/>
          <a:p>
            <a:pPr algn="ctr" indent="0" marL="0">
              <a:buNone/>
            </a:pPr>
            <a:r>
              <a:rPr lang="en-US" sz="850" b="1" dirty="0">
                <a:solidFill>
                  <a:srgbClr val="036E3A"/>
                </a:solidFill>
                <a:latin typeface="Calibri" pitchFamily="34" charset="0"/>
                <a:ea typeface="Calibri" pitchFamily="34" charset="-122"/>
                <a:cs typeface="Calibri" pitchFamily="34" charset="-120"/>
              </a:rPr>
              <a:t>Pill</a:t>
            </a:r>
            <a:pPr algn="ctr" indent="0" marL="0">
              <a:buNone/>
            </a:pPr>
            <a:r>
              <a:rPr lang="en-US" sz="850" dirty="0">
                <a:solidFill>
                  <a:srgbClr val="4A5A52"/>
                </a:solidFill>
                <a:latin typeface="Calibri" pitchFamily="34" charset="0"/>
                <a:ea typeface="Calibri" pitchFamily="34" charset="-122"/>
                <a:cs typeface="Calibri" pitchFamily="34" charset="-120"/>
              </a:rPr>
              <a:t> start / end    </a:t>
            </a:r>
            <a:pPr algn="ctr" indent="0" marL="0">
              <a:buNone/>
            </a:pPr>
            <a:r>
              <a:rPr lang="en-US" sz="850" b="1" dirty="0">
                <a:solidFill>
                  <a:srgbClr val="036E3A"/>
                </a:solidFill>
                <a:latin typeface="Calibri" pitchFamily="34" charset="0"/>
                <a:ea typeface="Calibri" pitchFamily="34" charset="-122"/>
                <a:cs typeface="Calibri" pitchFamily="34" charset="-120"/>
              </a:rPr>
              <a:t>Box</a:t>
            </a:r>
            <a:pPr algn="ctr" indent="0" marL="0">
              <a:buNone/>
            </a:pPr>
            <a:r>
              <a:rPr lang="en-US" sz="850" dirty="0">
                <a:solidFill>
                  <a:srgbClr val="4A5A52"/>
                </a:solidFill>
                <a:latin typeface="Calibri" pitchFamily="34" charset="0"/>
                <a:ea typeface="Calibri" pitchFamily="34" charset="-122"/>
                <a:cs typeface="Calibri" pitchFamily="34" charset="-120"/>
              </a:rPr>
              <a:t> a step    </a:t>
            </a:r>
            <a:pPr algn="ctr" indent="0" marL="0">
              <a:buNone/>
            </a:pPr>
            <a:r>
              <a:rPr lang="en-US" sz="850" b="1" dirty="0">
                <a:solidFill>
                  <a:srgbClr val="036E3A"/>
                </a:solidFill>
                <a:latin typeface="Calibri" pitchFamily="34" charset="0"/>
                <a:ea typeface="Calibri" pitchFamily="34" charset="-122"/>
                <a:cs typeface="Calibri" pitchFamily="34" charset="-120"/>
              </a:rPr>
              <a:t>Diamond</a:t>
            </a:r>
            <a:pPr algn="ctr" indent="0" marL="0">
              <a:buNone/>
            </a:pPr>
            <a:r>
              <a:rPr lang="en-US" sz="850" dirty="0">
                <a:solidFill>
                  <a:srgbClr val="4A5A52"/>
                </a:solidFill>
                <a:latin typeface="Calibri" pitchFamily="34" charset="0"/>
                <a:ea typeface="Calibri" pitchFamily="34" charset="-122"/>
                <a:cs typeface="Calibri" pitchFamily="34" charset="-120"/>
              </a:rPr>
              <a:t> a decision — map the ‘no’ route too    </a:t>
            </a:r>
            <a:pPr algn="ctr" indent="0" marL="0">
              <a:buNone/>
            </a:pPr>
            <a:r>
              <a:rPr lang="en-US" sz="850" b="1" dirty="0">
                <a:solidFill>
                  <a:srgbClr val="036E3A"/>
                </a:solidFill>
                <a:latin typeface="Calibri" pitchFamily="34" charset="0"/>
                <a:ea typeface="Calibri" pitchFamily="34" charset="-122"/>
                <a:cs typeface="Calibri" pitchFamily="34" charset="-120"/>
              </a:rPr>
              <a:t>Dashed</a:t>
            </a:r>
            <a:pPr algn="ctr" indent="0" marL="0">
              <a:buNone/>
            </a:pPr>
            <a:r>
              <a:rPr lang="en-US" sz="850" dirty="0">
                <a:solidFill>
                  <a:srgbClr val="4A5A52"/>
                </a:solidFill>
                <a:latin typeface="Calibri" pitchFamily="34" charset="0"/>
                <a:ea typeface="Calibri" pitchFamily="34" charset="-122"/>
                <a:cs typeface="Calibri" pitchFamily="34" charset="-120"/>
              </a:rPr>
              <a:t> a wait or delay</a:t>
            </a:r>
            <a:endParaRPr lang="en-US" sz="850" dirty="0"/>
          </a:p>
        </p:txBody>
      </p:sp>
      <p:sp>
        <p:nvSpPr>
          <p:cNvPr id="18" name="Shape 16"/>
          <p:cNvSpPr/>
          <p:nvPr/>
        </p:nvSpPr>
        <p:spPr>
          <a:xfrm>
            <a:off x="457200" y="2304288"/>
            <a:ext cx="4023360" cy="1755648"/>
          </a:xfrm>
          <a:prstGeom prst="roundRect">
            <a:avLst>
              <a:gd name="adj" fmla="val 3646"/>
            </a:avLst>
          </a:prstGeom>
          <a:solidFill>
            <a:srgbClr val="F1F6F2"/>
          </a:solidFill>
          <a:ln w="12700">
            <a:solidFill>
              <a:srgbClr val="F1F6F2"/>
            </a:solidFill>
            <a:prstDash val="solid"/>
          </a:ln>
        </p:spPr>
        <p:txBody>
          <a:bodyPr/>
          <a:p/>
        </p:txBody>
      </p:sp>
      <p:sp>
        <p:nvSpPr>
          <p:cNvPr id="19" name="Text 17"/>
          <p:cNvSpPr/>
          <p:nvPr/>
        </p:nvSpPr>
        <p:spPr>
          <a:xfrm>
            <a:off x="621792" y="2432304"/>
            <a:ext cx="3703320" cy="256032"/>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How to do it</a:t>
            </a:r>
            <a:endParaRPr lang="en-US" sz="1200" dirty="0"/>
          </a:p>
        </p:txBody>
      </p:sp>
      <p:sp>
        <p:nvSpPr>
          <p:cNvPr id="20" name="Text 18"/>
          <p:cNvSpPr/>
          <p:nvPr/>
        </p:nvSpPr>
        <p:spPr>
          <a:xfrm>
            <a:off x="621792" y="2743200"/>
            <a:ext cx="3703320" cy="1225296"/>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Walk the route with the people who do the work — not from memory at a desk</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Thirty minutes and a corridor conversation is enough</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Map what actually happens, including the workarounds — not what the policy says</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Stop at 8–12 steps: any more and you’re mapping the hospital, not the problem</a:t>
            </a:r>
            <a:endParaRPr lang="en-US" sz="920" dirty="0"/>
          </a:p>
        </p:txBody>
      </p:sp>
      <p:sp>
        <p:nvSpPr>
          <p:cNvPr id="21" name="Shape 19"/>
          <p:cNvSpPr/>
          <p:nvPr/>
        </p:nvSpPr>
        <p:spPr>
          <a:xfrm>
            <a:off x="4663440" y="2304288"/>
            <a:ext cx="4023360" cy="1755648"/>
          </a:xfrm>
          <a:prstGeom prst="roundRect">
            <a:avLst>
              <a:gd name="adj" fmla="val 3646"/>
            </a:avLst>
          </a:prstGeom>
          <a:solidFill>
            <a:srgbClr val="F1F6F2"/>
          </a:solidFill>
          <a:ln w="12700">
            <a:solidFill>
              <a:srgbClr val="F1F6F2"/>
            </a:solidFill>
            <a:prstDash val="solid"/>
          </a:ln>
        </p:spPr>
        <p:txBody>
          <a:bodyPr/>
          <a:p/>
        </p:txBody>
      </p:sp>
      <p:sp>
        <p:nvSpPr>
          <p:cNvPr id="22" name="Text 20"/>
          <p:cNvSpPr/>
          <p:nvPr/>
        </p:nvSpPr>
        <p:spPr>
          <a:xfrm>
            <a:off x="4828032" y="2432304"/>
            <a:ext cx="3703320" cy="256032"/>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What you’re looking for</a:t>
            </a:r>
            <a:endParaRPr lang="en-US" sz="1200" dirty="0"/>
          </a:p>
        </p:txBody>
      </p:sp>
      <p:sp>
        <p:nvSpPr>
          <p:cNvPr id="23" name="Text 21"/>
          <p:cNvSpPr/>
          <p:nvPr/>
        </p:nvSpPr>
        <p:spPr>
          <a:xfrm>
            <a:off x="4828032" y="2743200"/>
            <a:ext cx="3703320" cy="1225296"/>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The waits between steps — that’s usually where the delay really lives</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The steps where it goes wrong: those become your change ideas</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Steps two people describe differently — that disagreement is a finding in itself</a:t>
            </a:r>
            <a:endParaRPr lang="en-US" sz="920" dirty="0"/>
          </a:p>
          <a:p>
            <a:pPr marL="342900" indent="-342900">
              <a:spcAft>
                <a:spcPts val="500"/>
              </a:spcAft>
              <a:buSzPct val="100000"/>
              <a:buChar char="–"/>
            </a:pPr>
            <a:r>
              <a:rPr lang="en-US" sz="920" dirty="0">
                <a:solidFill>
                  <a:srgbClr val="1B1B1B"/>
                </a:solidFill>
                <a:latin typeface="Calibri" pitchFamily="34" charset="0"/>
                <a:ea typeface="Calibri" pitchFamily="34" charset="-122"/>
                <a:cs typeface="Calibri" pitchFamily="34" charset="-120"/>
              </a:rPr>
              <a:t>Anything done twice, or not at all</a:t>
            </a:r>
            <a:endParaRPr lang="en-US" sz="920" dirty="0"/>
          </a:p>
        </p:txBody>
      </p:sp>
      <p:sp>
        <p:nvSpPr>
          <p:cNvPr id="24" name="Text 22"/>
          <p:cNvSpPr/>
          <p:nvPr/>
        </p:nvSpPr>
        <p:spPr>
          <a:xfrm>
            <a:off x="457200" y="4169664"/>
            <a:ext cx="8229600" cy="475488"/>
          </a:xfrm>
          <a:prstGeom prst="roundRect">
            <a:avLst>
              <a:gd name="adj" fmla="val 13462"/>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Log the detail on the Workbook’s Process Map tab</a:t>
            </a:r>
            <a:pPr indent="0" marL="0">
              <a:buNone/>
            </a:pPr>
            <a:r>
              <a:rPr lang="en-US" sz="950" dirty="0">
                <a:solidFill>
                  <a:srgbClr val="1B1B1B"/>
                </a:solidFill>
                <a:latin typeface="Calibri" pitchFamily="34" charset="0"/>
                <a:ea typeface="Calibri" pitchFamily="34" charset="-122"/>
                <a:cs typeface="Calibri" pitchFamily="34" charset="-120"/>
              </a:rPr>
              <a:t> — who does each step, how long it takes, how long people wait, what goes wrong. Then draw the picture: </a:t>
            </a:r>
            <a:pPr indent="0" marL="0">
              <a:buNone/>
            </a:pPr>
            <a:r>
              <a:rPr lang="en-US" sz="9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aimqa.github.io/SAMQIP</a:t>
            </a:r>
            <a:endParaRPr lang="en-US" sz="950" dirty="0"/>
          </a:p>
        </p:txBody>
      </p:sp>
      <p:sp>
        <p:nvSpPr>
          <p:cNvPr id="26" name="Text 2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7" name="Text 2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GET EVERY CANDIDATE CAUSE OUT ON THE TABLE</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Fishbone: Spread Wide Before You Go Deep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1836115"/>
            <a:ext cx="6446520" cy="21946"/>
          </a:xfrm>
          <a:prstGeom prst="rect">
            <a:avLst/>
          </a:prstGeom>
          <a:solidFill>
            <a:srgbClr val="036E3A"/>
          </a:solidFill>
          <a:ln w="12700">
            <a:solidFill>
              <a:srgbClr val="036E3A"/>
            </a:solidFill>
            <a:prstDash val="solid"/>
          </a:ln>
        </p:spPr>
        <p:txBody>
          <a:bodyPr/>
          <a:p/>
        </p:txBody>
      </p:sp>
      <p:sp>
        <p:nvSpPr>
          <p:cNvPr id="6" name="Text 4"/>
          <p:cNvSpPr/>
          <p:nvPr/>
        </p:nvSpPr>
        <p:spPr>
          <a:xfrm>
            <a:off x="6903720" y="1481328"/>
            <a:ext cx="1783080" cy="731520"/>
          </a:xfrm>
          <a:prstGeom prst="roundRect">
            <a:avLst>
              <a:gd name="adj" fmla="val 10000"/>
            </a:avLst>
          </a:prstGeom>
          <a:solidFill>
            <a:srgbClr val="023D22"/>
          </a:solidFill>
          <a:ln/>
        </p:spPr>
        <p:txBody>
          <a:bodyPr wrap="square" lIns="38100" tIns="38100" rIns="38100" bIns="381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VTE assessment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missed at clerking</a:t>
            </a:r>
            <a:endParaRPr lang="en-US" sz="950" dirty="0"/>
          </a:p>
        </p:txBody>
      </p:sp>
      <p:sp>
        <p:nvSpPr>
          <p:cNvPr id="7" name="Text 5"/>
          <p:cNvSpPr/>
          <p:nvPr/>
        </p:nvSpPr>
        <p:spPr>
          <a:xfrm>
            <a:off x="566928" y="877824"/>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People</a:t>
            </a:r>
            <a:endParaRPr lang="en-US" sz="900" dirty="0"/>
          </a:p>
        </p:txBody>
      </p:sp>
      <p:sp>
        <p:nvSpPr>
          <p:cNvPr id="8" name="Text 6"/>
          <p:cNvSpPr/>
          <p:nvPr/>
        </p:nvSpPr>
        <p:spPr>
          <a:xfrm>
            <a:off x="694944" y="1115568"/>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New F1s never shown the box</a:t>
            </a:r>
            <a:endParaRPr lang="en-US" sz="780" dirty="0"/>
          </a:p>
        </p:txBody>
      </p:sp>
      <p:sp>
        <p:nvSpPr>
          <p:cNvPr id="9" name="Text 7"/>
          <p:cNvSpPr/>
          <p:nvPr/>
        </p:nvSpPr>
        <p:spPr>
          <a:xfrm>
            <a:off x="694944" y="133502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Locums don’t know our proforma</a:t>
            </a:r>
            <a:endParaRPr lang="en-US" sz="780" dirty="0"/>
          </a:p>
        </p:txBody>
      </p:sp>
      <p:sp>
        <p:nvSpPr>
          <p:cNvPr id="10" name="Shape 8"/>
          <p:cNvSpPr/>
          <p:nvPr/>
        </p:nvSpPr>
        <p:spPr>
          <a:xfrm>
            <a:off x="1490472" y="1591056"/>
            <a:ext cx="384048" cy="256032"/>
          </a:xfrm>
          <a:prstGeom prst="line">
            <a:avLst/>
          </a:prstGeom>
          <a:noFill/>
          <a:ln w="15875">
            <a:solidFill>
              <a:srgbClr val="036E3A"/>
            </a:solidFill>
            <a:prstDash val="solid"/>
          </a:ln>
        </p:spPr>
        <p:txBody>
          <a:bodyPr/>
          <a:p/>
        </p:txBody>
      </p:sp>
      <p:sp>
        <p:nvSpPr>
          <p:cNvPr id="11" name="Text 9"/>
          <p:cNvSpPr/>
          <p:nvPr/>
        </p:nvSpPr>
        <p:spPr>
          <a:xfrm>
            <a:off x="2651760" y="877824"/>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Process</a:t>
            </a:r>
            <a:endParaRPr lang="en-US" sz="900" dirty="0"/>
          </a:p>
        </p:txBody>
      </p:sp>
      <p:sp>
        <p:nvSpPr>
          <p:cNvPr id="12" name="Text 10"/>
          <p:cNvSpPr/>
          <p:nvPr/>
        </p:nvSpPr>
        <p:spPr>
          <a:xfrm>
            <a:off x="2779776" y="1115568"/>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Nothing prompts it at the chart</a:t>
            </a:r>
            <a:endParaRPr lang="en-US" sz="780" dirty="0"/>
          </a:p>
        </p:txBody>
      </p:sp>
      <p:sp>
        <p:nvSpPr>
          <p:cNvPr id="13" name="Text 11"/>
          <p:cNvSpPr/>
          <p:nvPr/>
        </p:nvSpPr>
        <p:spPr>
          <a:xfrm>
            <a:off x="2779776" y="133502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 check before post-take</a:t>
            </a:r>
            <a:endParaRPr lang="en-US" sz="780" dirty="0"/>
          </a:p>
        </p:txBody>
      </p:sp>
      <p:sp>
        <p:nvSpPr>
          <p:cNvPr id="14" name="Shape 12"/>
          <p:cNvSpPr/>
          <p:nvPr/>
        </p:nvSpPr>
        <p:spPr>
          <a:xfrm>
            <a:off x="3575304" y="1591056"/>
            <a:ext cx="384048" cy="256032"/>
          </a:xfrm>
          <a:prstGeom prst="line">
            <a:avLst/>
          </a:prstGeom>
          <a:noFill/>
          <a:ln w="15875">
            <a:solidFill>
              <a:srgbClr val="036E3A"/>
            </a:solidFill>
            <a:prstDash val="solid"/>
          </a:ln>
        </p:spPr>
        <p:txBody>
          <a:bodyPr/>
          <a:p/>
        </p:txBody>
      </p:sp>
      <p:sp>
        <p:nvSpPr>
          <p:cNvPr id="15" name="Text 13"/>
          <p:cNvSpPr/>
          <p:nvPr/>
        </p:nvSpPr>
        <p:spPr>
          <a:xfrm>
            <a:off x="4736592" y="877824"/>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Equipment</a:t>
            </a:r>
            <a:endParaRPr lang="en-US" sz="900" dirty="0"/>
          </a:p>
        </p:txBody>
      </p:sp>
      <p:sp>
        <p:nvSpPr>
          <p:cNvPr id="16" name="Text 14"/>
          <p:cNvSpPr/>
          <p:nvPr/>
        </p:nvSpPr>
        <p:spPr>
          <a:xfrm>
            <a:off x="4864608" y="1115568"/>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Proforma predates the rule</a:t>
            </a:r>
            <a:endParaRPr lang="en-US" sz="780" dirty="0"/>
          </a:p>
        </p:txBody>
      </p:sp>
      <p:sp>
        <p:nvSpPr>
          <p:cNvPr id="17" name="Shape 15"/>
          <p:cNvSpPr/>
          <p:nvPr/>
        </p:nvSpPr>
        <p:spPr>
          <a:xfrm>
            <a:off x="5660136" y="1591056"/>
            <a:ext cx="384048" cy="256032"/>
          </a:xfrm>
          <a:prstGeom prst="line">
            <a:avLst/>
          </a:prstGeom>
          <a:noFill/>
          <a:ln w="15875">
            <a:solidFill>
              <a:srgbClr val="036E3A"/>
            </a:solidFill>
            <a:prstDash val="solid"/>
          </a:ln>
        </p:spPr>
        <p:txBody>
          <a:bodyPr/>
          <a:p/>
        </p:txBody>
      </p:sp>
      <p:sp>
        <p:nvSpPr>
          <p:cNvPr id="18" name="Text 16"/>
          <p:cNvSpPr/>
          <p:nvPr/>
        </p:nvSpPr>
        <p:spPr>
          <a:xfrm>
            <a:off x="566928" y="2103120"/>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Environment</a:t>
            </a:r>
            <a:endParaRPr lang="en-US" sz="900" dirty="0"/>
          </a:p>
        </p:txBody>
      </p:sp>
      <p:sp>
        <p:nvSpPr>
          <p:cNvPr id="19" name="Text 17"/>
          <p:cNvSpPr/>
          <p:nvPr/>
        </p:nvSpPr>
        <p:spPr>
          <a:xfrm>
            <a:off x="694944" y="234086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Noisy bay, interruptions</a:t>
            </a:r>
            <a:endParaRPr lang="en-US" sz="780" dirty="0"/>
          </a:p>
        </p:txBody>
      </p:sp>
      <p:sp>
        <p:nvSpPr>
          <p:cNvPr id="20" name="Text 18"/>
          <p:cNvSpPr/>
          <p:nvPr/>
        </p:nvSpPr>
        <p:spPr>
          <a:xfrm>
            <a:off x="694944" y="2560320"/>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Worst at weekends</a:t>
            </a:r>
            <a:endParaRPr lang="en-US" sz="780" dirty="0"/>
          </a:p>
        </p:txBody>
      </p:sp>
      <p:sp>
        <p:nvSpPr>
          <p:cNvPr id="21" name="Shape 19"/>
          <p:cNvSpPr/>
          <p:nvPr/>
        </p:nvSpPr>
        <p:spPr>
          <a:xfrm flipV="1">
            <a:off x="1490472" y="1847088"/>
            <a:ext cx="384048" cy="201168"/>
          </a:xfrm>
          <a:prstGeom prst="line">
            <a:avLst/>
          </a:prstGeom>
          <a:noFill/>
          <a:ln w="15875">
            <a:solidFill>
              <a:srgbClr val="036E3A"/>
            </a:solidFill>
            <a:prstDash val="solid"/>
          </a:ln>
        </p:spPr>
        <p:txBody>
          <a:bodyPr/>
          <a:p/>
        </p:txBody>
      </p:sp>
      <p:sp>
        <p:nvSpPr>
          <p:cNvPr id="22" name="Text 20"/>
          <p:cNvSpPr/>
          <p:nvPr/>
        </p:nvSpPr>
        <p:spPr>
          <a:xfrm>
            <a:off x="2651760" y="2103120"/>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Policies</a:t>
            </a:r>
            <a:endParaRPr lang="en-US" sz="900" dirty="0"/>
          </a:p>
        </p:txBody>
      </p:sp>
      <p:sp>
        <p:nvSpPr>
          <p:cNvPr id="23" name="Text 21"/>
          <p:cNvSpPr/>
          <p:nvPr/>
        </p:nvSpPr>
        <p:spPr>
          <a:xfrm>
            <a:off x="2779776" y="234086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Nobody knows the 14-hour target</a:t>
            </a:r>
            <a:endParaRPr lang="en-US" sz="780" dirty="0"/>
          </a:p>
        </p:txBody>
      </p:sp>
      <p:sp>
        <p:nvSpPr>
          <p:cNvPr id="24" name="Shape 22"/>
          <p:cNvSpPr/>
          <p:nvPr/>
        </p:nvSpPr>
        <p:spPr>
          <a:xfrm flipV="1">
            <a:off x="3575304" y="1847088"/>
            <a:ext cx="384048" cy="201168"/>
          </a:xfrm>
          <a:prstGeom prst="line">
            <a:avLst/>
          </a:prstGeom>
          <a:noFill/>
          <a:ln w="15875">
            <a:solidFill>
              <a:srgbClr val="036E3A"/>
            </a:solidFill>
            <a:prstDash val="solid"/>
          </a:ln>
        </p:spPr>
        <p:txBody>
          <a:bodyPr/>
          <a:p/>
        </p:txBody>
      </p:sp>
      <p:sp>
        <p:nvSpPr>
          <p:cNvPr id="25" name="Text 23"/>
          <p:cNvSpPr/>
          <p:nvPr/>
        </p:nvSpPr>
        <p:spPr>
          <a:xfrm>
            <a:off x="4736592" y="2103120"/>
            <a:ext cx="1847088" cy="219456"/>
          </a:xfrm>
          <a:prstGeom prst="roundRect">
            <a:avLst>
              <a:gd name="adj" fmla="val 20833"/>
            </a:avLst>
          </a:prstGeom>
          <a:solidFill>
            <a:srgbClr val="DCEFE3"/>
          </a:solidFill>
          <a:ln w="12700">
            <a:solidFill>
              <a:srgbClr val="036E3A"/>
            </a:solidFill>
          </a:ln>
        </p:spPr>
        <p:txBody>
          <a:bodyPr wrap="square" lIns="0" tIns="0" rIns="0" bIns="0" rtlCol="0" anchor="ctr"/>
          <a:lstStyle/>
          <a:p>
            <a:pPr algn="ctr" indent="0" marL="0">
              <a:buNone/>
            </a:pPr>
            <a:r>
              <a:rPr lang="en-US" sz="900" b="1" dirty="0">
                <a:solidFill>
                  <a:srgbClr val="023D22"/>
                </a:solidFill>
                <a:latin typeface="Calibri" pitchFamily="34" charset="0"/>
                <a:ea typeface="Calibri" pitchFamily="34" charset="-122"/>
                <a:cs typeface="Calibri" pitchFamily="34" charset="-120"/>
              </a:rPr>
              <a:t>Patient factors</a:t>
            </a:r>
            <a:endParaRPr lang="en-US" sz="900" dirty="0"/>
          </a:p>
        </p:txBody>
      </p:sp>
      <p:sp>
        <p:nvSpPr>
          <p:cNvPr id="26" name="Text 24"/>
          <p:cNvSpPr/>
          <p:nvPr/>
        </p:nvSpPr>
        <p:spPr>
          <a:xfrm>
            <a:off x="4864608" y="2340864"/>
            <a:ext cx="1719072" cy="210312"/>
          </a:xfrm>
          <a:prstGeom prst="rect">
            <a:avLst/>
          </a:prstGeom>
          <a:noFill/>
          <a:ln/>
        </p:spPr>
        <p:txBody>
          <a:bodyPr wrap="square" lIns="0" tIns="0" rIns="0" bIns="0" rtlCol="0" anchor="ctr"/>
          <a:lstStyle/>
          <a:p>
            <a:pPr marL="342900" indent="-342900">
              <a:buSzPct val="100000"/>
              <a:buChar char="–"/>
            </a:pPr>
            <a:r>
              <a:rPr lang="en-US" sz="780" dirty="0">
                <a:solidFill>
                  <a:srgbClr val="1B1B1B"/>
                </a:solidFill>
                <a:latin typeface="Calibri" pitchFamily="34" charset="0"/>
                <a:ea typeface="Calibri" pitchFamily="34" charset="-122"/>
                <a:cs typeface="Calibri" pitchFamily="34" charset="-120"/>
              </a:rPr>
              <a:t>No weight → dose left blank</a:t>
            </a:r>
            <a:endParaRPr lang="en-US" sz="780" dirty="0"/>
          </a:p>
        </p:txBody>
      </p:sp>
      <p:sp>
        <p:nvSpPr>
          <p:cNvPr id="27" name="Shape 25"/>
          <p:cNvSpPr/>
          <p:nvPr/>
        </p:nvSpPr>
        <p:spPr>
          <a:xfrm flipV="1">
            <a:off x="5660136" y="1847088"/>
            <a:ext cx="384048" cy="201168"/>
          </a:xfrm>
          <a:prstGeom prst="line">
            <a:avLst/>
          </a:prstGeom>
          <a:noFill/>
          <a:ln w="15875">
            <a:solidFill>
              <a:srgbClr val="036E3A"/>
            </a:solidFill>
            <a:prstDash val="solid"/>
          </a:ln>
        </p:spPr>
        <p:txBody>
          <a:bodyPr/>
          <a:p/>
        </p:txBody>
      </p:sp>
      <p:sp>
        <p:nvSpPr>
          <p:cNvPr id="28" name="Shape 26"/>
          <p:cNvSpPr/>
          <p:nvPr/>
        </p:nvSpPr>
        <p:spPr>
          <a:xfrm>
            <a:off x="457200" y="2926080"/>
            <a:ext cx="4023360" cy="1335024"/>
          </a:xfrm>
          <a:prstGeom prst="roundRect">
            <a:avLst>
              <a:gd name="adj" fmla="val 4795"/>
            </a:avLst>
          </a:prstGeom>
          <a:solidFill>
            <a:srgbClr val="F1F6F2"/>
          </a:solidFill>
          <a:ln w="12700">
            <a:solidFill>
              <a:srgbClr val="F1F6F2"/>
            </a:solidFill>
            <a:prstDash val="solid"/>
          </a:ln>
        </p:spPr>
        <p:txBody>
          <a:bodyPr/>
          <a:p/>
        </p:txBody>
      </p:sp>
      <p:sp>
        <p:nvSpPr>
          <p:cNvPr id="29" name="Text 27"/>
          <p:cNvSpPr/>
          <p:nvPr/>
        </p:nvSpPr>
        <p:spPr>
          <a:xfrm>
            <a:off x="621792" y="3035808"/>
            <a:ext cx="3703320" cy="237744"/>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Why bother, when you have the 5 Whys?</a:t>
            </a:r>
            <a:endParaRPr lang="en-US" sz="1150" dirty="0"/>
          </a:p>
        </p:txBody>
      </p:sp>
      <p:sp>
        <p:nvSpPr>
          <p:cNvPr id="30" name="Text 28"/>
          <p:cNvSpPr/>
          <p:nvPr/>
        </p:nvSpPr>
        <p:spPr>
          <a:xfrm>
            <a:off x="621792" y="3310128"/>
            <a:ext cx="3703320" cy="896112"/>
          </a:xfrm>
          <a:prstGeom prst="rect">
            <a:avLst/>
          </a:prstGeom>
          <a:noFill/>
          <a:ln/>
        </p:spPr>
        <p:txBody>
          <a:bodyPr wrap="square" lIns="0" tIns="0" rIns="0" bIns="0" rtlCol="0" anchor="t"/>
          <a:lstStyle/>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The 5 Whys goes deep down one path — the fishbone goes wide across all of them</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It stops the team fixing the first cause somebody happens to name</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The empty bones are informative too: they show where nobody has looked</a:t>
            </a:r>
            <a:endParaRPr lang="en-US" sz="880" dirty="0"/>
          </a:p>
        </p:txBody>
      </p:sp>
      <p:sp>
        <p:nvSpPr>
          <p:cNvPr id="31" name="Shape 29"/>
          <p:cNvSpPr/>
          <p:nvPr/>
        </p:nvSpPr>
        <p:spPr>
          <a:xfrm>
            <a:off x="4663440" y="2926080"/>
            <a:ext cx="4023360" cy="1335024"/>
          </a:xfrm>
          <a:prstGeom prst="roundRect">
            <a:avLst>
              <a:gd name="adj" fmla="val 4795"/>
            </a:avLst>
          </a:prstGeom>
          <a:solidFill>
            <a:srgbClr val="F1F6F2"/>
          </a:solidFill>
          <a:ln w="12700">
            <a:solidFill>
              <a:srgbClr val="F1F6F2"/>
            </a:solidFill>
            <a:prstDash val="solid"/>
          </a:ln>
        </p:spPr>
        <p:txBody>
          <a:bodyPr/>
          <a:p/>
        </p:txBody>
      </p:sp>
      <p:sp>
        <p:nvSpPr>
          <p:cNvPr id="32" name="Text 30"/>
          <p:cNvSpPr/>
          <p:nvPr/>
        </p:nvSpPr>
        <p:spPr>
          <a:xfrm>
            <a:off x="4828032" y="3035808"/>
            <a:ext cx="3703320" cy="237744"/>
          </a:xfrm>
          <a:prstGeom prst="rect">
            <a:avLst/>
          </a:prstGeom>
          <a:noFill/>
          <a:ln/>
        </p:spPr>
        <p:txBody>
          <a:bodyPr wrap="square" lIns="0" tIns="0" rIns="0" bIns="0" rtlCol="0" anchor="ctr"/>
          <a:lstStyle/>
          <a:p>
            <a:pPr indent="0" marL="0">
              <a:buNone/>
            </a:pPr>
            <a:r>
              <a:rPr lang="en-US" sz="1150" b="1" dirty="0">
                <a:solidFill>
                  <a:srgbClr val="036E3A"/>
                </a:solidFill>
                <a:latin typeface="Calibri" pitchFamily="34" charset="0"/>
                <a:ea typeface="Calibri" pitchFamily="34" charset="-122"/>
                <a:cs typeface="Calibri" pitchFamily="34" charset="-120"/>
              </a:rPr>
              <a:t>How to run it in twenty minutes</a:t>
            </a:r>
            <a:endParaRPr lang="en-US" sz="1150" dirty="0"/>
          </a:p>
        </p:txBody>
      </p:sp>
      <p:sp>
        <p:nvSpPr>
          <p:cNvPr id="33" name="Text 31"/>
          <p:cNvSpPr/>
          <p:nvPr/>
        </p:nvSpPr>
        <p:spPr>
          <a:xfrm>
            <a:off x="4828032" y="3310128"/>
            <a:ext cx="3703320" cy="896112"/>
          </a:xfrm>
          <a:prstGeom prst="rect">
            <a:avLst/>
          </a:prstGeom>
          <a:noFill/>
          <a:ln/>
        </p:spPr>
        <p:txBody>
          <a:bodyPr wrap="square" lIns="0" tIns="0" rIns="0" bIns="0" rtlCol="0" anchor="t"/>
          <a:lstStyle/>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Problem in the head on the right — one sentence, no blame</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Take each bone in turn: “what here could be contributing?”</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Write everything down first; argue about importance afterwards</a:t>
            </a:r>
            <a:endParaRPr lang="en-US" sz="880" dirty="0"/>
          </a:p>
          <a:p>
            <a:pPr marL="342900" indent="-342900">
              <a:spcAft>
                <a:spcPts val="400"/>
              </a:spcAft>
              <a:buSzPct val="100000"/>
              <a:buChar char="–"/>
            </a:pPr>
            <a:r>
              <a:rPr lang="en-US" sz="880" dirty="0">
                <a:solidFill>
                  <a:srgbClr val="1B1B1B"/>
                </a:solidFill>
                <a:latin typeface="Calibri" pitchFamily="34" charset="0"/>
                <a:ea typeface="Calibri" pitchFamily="34" charset="-122"/>
                <a:cs typeface="Calibri" pitchFamily="34" charset="-120"/>
              </a:rPr>
              <a:t>Then pick the one or two you have evidence for, and take those deep</a:t>
            </a:r>
            <a:endParaRPr lang="en-US" sz="880" dirty="0"/>
          </a:p>
        </p:txBody>
      </p:sp>
      <p:sp>
        <p:nvSpPr>
          <p:cNvPr id="34" name="Text 32"/>
          <p:cNvSpPr/>
          <p:nvPr/>
        </p:nvSpPr>
        <p:spPr>
          <a:xfrm>
            <a:off x="457200" y="4389120"/>
            <a:ext cx="8229600" cy="420624"/>
          </a:xfrm>
          <a:prstGeom prst="roundRect">
            <a:avLst>
              <a:gd name="adj" fmla="val 1521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Draw it online</a:t>
            </a:r>
            <a:pPr indent="0" marL="0">
              <a:buNone/>
            </a:pPr>
            <a:r>
              <a:rPr lang="en-US" sz="950" dirty="0">
                <a:solidFill>
                  <a:srgbClr val="1B1B1B"/>
                </a:solidFill>
                <a:latin typeface="Calibri" pitchFamily="34" charset="0"/>
                <a:ea typeface="Calibri" pitchFamily="34" charset="-122"/>
                <a:cs typeface="Calibri" pitchFamily="34" charset="-120"/>
              </a:rPr>
              <a:t>  —  the Fishbone tab at </a:t>
            </a:r>
            <a:pPr indent="0" marL="0">
              <a:buNone/>
            </a:pPr>
            <a:r>
              <a:rPr lang="en-US" sz="95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aimqa.github.io/SAMQIP</a:t>
            </a:r>
            <a:pPr indent="0" marL="0">
              <a:buNone/>
            </a:pPr>
            <a:r>
              <a:rPr lang="en-US" sz="950" dirty="0">
                <a:solidFill>
                  <a:srgbClr val="1B1B1B"/>
                </a:solidFill>
                <a:latin typeface="Calibri" pitchFamily="34" charset="0"/>
                <a:ea typeface="Calibri" pitchFamily="34" charset="-122"/>
                <a:cs typeface="Calibri" pitchFamily="34" charset="-120"/>
              </a:rPr>
              <a:t> turns your causes straight into a driver diagram, and the Workbook’s Causes tab is where you record which ones you actually have evidence for.</a:t>
            </a:r>
            <a:endParaRPr lang="en-US" sz="950" dirty="0"/>
          </a:p>
        </p:txBody>
      </p:sp>
      <p:sp>
        <p:nvSpPr>
          <p:cNvPr id="36" name="Text 3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37" name="Text 3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BEFORE YOU DRAW THE DRIVER DIAGRAM</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First, Ask Why — Five Times</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Text 3"/>
          <p:cNvSpPr/>
          <p:nvPr/>
        </p:nvSpPr>
        <p:spPr>
          <a:xfrm>
            <a:off x="457200" y="960120"/>
            <a:ext cx="5257800" cy="548640"/>
          </a:xfrm>
          <a:prstGeom prst="roundRect">
            <a:avLst>
              <a:gd name="adj" fmla="val 15000"/>
            </a:avLst>
          </a:prstGeom>
          <a:solidFill>
            <a:srgbClr val="023D22"/>
          </a:solidFill>
          <a:ln/>
        </p:spPr>
        <p:txBody>
          <a:bodyPr wrap="square" lIns="127000" tIns="127000" rIns="127000" bIns="127000" rtlCol="0" anchor="ctr"/>
          <a:lstStyle/>
          <a:p>
            <a:pPr indent="0" marL="0">
              <a:buNone/>
            </a:pPr>
            <a:r>
              <a:rPr lang="en-US" sz="800" b="1" spc="120" kern="0" dirty="0">
                <a:solidFill>
                  <a:srgbClr val="7DD08F"/>
                </a:solidFill>
                <a:latin typeface="Calibri" pitchFamily="34" charset="0"/>
                <a:ea typeface="Calibri" pitchFamily="34" charset="-122"/>
                <a:cs typeface="Calibri" pitchFamily="34" charset="-120"/>
              </a:rPr>
              <a:t>THE PROBLEM   </a:t>
            </a:r>
            <a:pPr indent="0" marL="0">
              <a:buNone/>
            </a:pPr>
            <a:r>
              <a:rPr lang="en-US" sz="1000" b="1" dirty="0">
                <a:solidFill>
                  <a:srgbClr val="FFFFFF"/>
                </a:solidFill>
                <a:latin typeface="Calibri" pitchFamily="34" charset="0"/>
                <a:ea typeface="Calibri" pitchFamily="34" charset="-122"/>
                <a:cs typeface="Calibri" pitchFamily="34" charset="-120"/>
              </a:rPr>
              <a:t>VTE assessments get missed at clerking</a:t>
            </a:r>
            <a:endParaRPr lang="en-US" sz="800" dirty="0"/>
          </a:p>
        </p:txBody>
      </p:sp>
      <p:sp>
        <p:nvSpPr>
          <p:cNvPr id="6" name="Text 4"/>
          <p:cNvSpPr/>
          <p:nvPr/>
        </p:nvSpPr>
        <p:spPr>
          <a:xfrm>
            <a:off x="2468880" y="1490472"/>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7" name="Text 5"/>
          <p:cNvSpPr/>
          <p:nvPr/>
        </p:nvSpPr>
        <p:spPr>
          <a:xfrm>
            <a:off x="457200" y="1673352"/>
            <a:ext cx="5257800" cy="548640"/>
          </a:xfrm>
          <a:prstGeom prst="roundRect">
            <a:avLst>
              <a:gd name="adj" fmla="val 15000"/>
            </a:avLst>
          </a:prstGeom>
          <a:solidFill>
            <a:srgbClr val="FFFFFF"/>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WHY 1   </a:t>
            </a:r>
            <a:pPr indent="0" marL="0">
              <a:buNone/>
            </a:pPr>
            <a:r>
              <a:rPr lang="en-US" sz="1000" dirty="0">
                <a:solidFill>
                  <a:srgbClr val="1B1B1B"/>
                </a:solidFill>
                <a:latin typeface="Calibri" pitchFamily="34" charset="0"/>
                <a:ea typeface="Calibri" pitchFamily="34" charset="-122"/>
                <a:cs typeface="Calibri" pitchFamily="34" charset="-120"/>
              </a:rPr>
              <a:t>Doctors skip the section when it’s busy</a:t>
            </a:r>
            <a:endParaRPr lang="en-US" sz="800" dirty="0"/>
          </a:p>
        </p:txBody>
      </p:sp>
      <p:sp>
        <p:nvSpPr>
          <p:cNvPr id="8" name="Text 6"/>
          <p:cNvSpPr/>
          <p:nvPr/>
        </p:nvSpPr>
        <p:spPr>
          <a:xfrm>
            <a:off x="2468880" y="2203704"/>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9" name="Text 7"/>
          <p:cNvSpPr/>
          <p:nvPr/>
        </p:nvSpPr>
        <p:spPr>
          <a:xfrm>
            <a:off x="457200" y="2386584"/>
            <a:ext cx="5257800" cy="548640"/>
          </a:xfrm>
          <a:prstGeom prst="roundRect">
            <a:avLst>
              <a:gd name="adj" fmla="val 15000"/>
            </a:avLst>
          </a:prstGeom>
          <a:solidFill>
            <a:srgbClr val="FFFFFF"/>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WHY 2   </a:t>
            </a:r>
            <a:pPr indent="0" marL="0">
              <a:buNone/>
            </a:pPr>
            <a:r>
              <a:rPr lang="en-US" sz="1000" dirty="0">
                <a:solidFill>
                  <a:srgbClr val="1B1B1B"/>
                </a:solidFill>
                <a:latin typeface="Calibri" pitchFamily="34" charset="0"/>
                <a:ea typeface="Calibri" pitchFamily="34" charset="-122"/>
                <a:cs typeface="Calibri" pitchFamily="34" charset="-120"/>
              </a:rPr>
              <a:t>Nothing prompts it while the chart is being written</a:t>
            </a:r>
            <a:endParaRPr lang="en-US" sz="800" dirty="0"/>
          </a:p>
        </p:txBody>
      </p:sp>
      <p:sp>
        <p:nvSpPr>
          <p:cNvPr id="10" name="Text 8"/>
          <p:cNvSpPr/>
          <p:nvPr/>
        </p:nvSpPr>
        <p:spPr>
          <a:xfrm>
            <a:off x="2468880" y="2916936"/>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11" name="Text 9"/>
          <p:cNvSpPr/>
          <p:nvPr/>
        </p:nvSpPr>
        <p:spPr>
          <a:xfrm>
            <a:off x="457200" y="3099816"/>
            <a:ext cx="5257800" cy="548640"/>
          </a:xfrm>
          <a:prstGeom prst="roundRect">
            <a:avLst>
              <a:gd name="adj" fmla="val 15000"/>
            </a:avLst>
          </a:prstGeom>
          <a:solidFill>
            <a:srgbClr val="FFFFFF"/>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WHY 3   </a:t>
            </a:r>
            <a:pPr indent="0" marL="0">
              <a:buNone/>
            </a:pPr>
            <a:r>
              <a:rPr lang="en-US" sz="1000" dirty="0">
                <a:solidFill>
                  <a:srgbClr val="1B1B1B"/>
                </a:solidFill>
                <a:latin typeface="Calibri" pitchFamily="34" charset="0"/>
                <a:ea typeface="Calibri" pitchFamily="34" charset="-122"/>
                <a:cs typeface="Calibri" pitchFamily="34" charset="-120"/>
              </a:rPr>
              <a:t>The clerking proforma predates the VTE requirement</a:t>
            </a:r>
            <a:endParaRPr lang="en-US" sz="800" dirty="0"/>
          </a:p>
        </p:txBody>
      </p:sp>
      <p:sp>
        <p:nvSpPr>
          <p:cNvPr id="12" name="Text 10"/>
          <p:cNvSpPr/>
          <p:nvPr/>
        </p:nvSpPr>
        <p:spPr>
          <a:xfrm>
            <a:off x="2468880" y="3630168"/>
            <a:ext cx="1280160" cy="182880"/>
          </a:xfrm>
          <a:prstGeom prst="rect">
            <a:avLst/>
          </a:prstGeom>
          <a:noFill/>
          <a:ln/>
        </p:spPr>
        <p:txBody>
          <a:bodyPr wrap="square" lIns="0" tIns="0" rIns="0" bIns="0" rtlCol="0" anchor="ctr"/>
          <a:lstStyle/>
          <a:p>
            <a:pPr algn="ctr" indent="0" marL="0">
              <a:buNone/>
            </a:pPr>
            <a:r>
              <a:rPr lang="en-US" sz="850" b="1" i="1" dirty="0">
                <a:solidFill>
                  <a:srgbClr val="036E3A"/>
                </a:solidFill>
                <a:latin typeface="Calibri" pitchFamily="34" charset="0"/>
                <a:ea typeface="Calibri" pitchFamily="34" charset="-122"/>
                <a:cs typeface="Calibri" pitchFamily="34" charset="-120"/>
              </a:rPr>
              <a:t>↓ why?</a:t>
            </a:r>
            <a:endParaRPr lang="en-US" sz="850" dirty="0"/>
          </a:p>
        </p:txBody>
      </p:sp>
      <p:sp>
        <p:nvSpPr>
          <p:cNvPr id="13" name="Text 11"/>
          <p:cNvSpPr/>
          <p:nvPr/>
        </p:nvSpPr>
        <p:spPr>
          <a:xfrm>
            <a:off x="457200" y="3813048"/>
            <a:ext cx="5257800" cy="548640"/>
          </a:xfrm>
          <a:prstGeom prst="roundRect">
            <a:avLst>
              <a:gd name="adj" fmla="val 15000"/>
            </a:avLst>
          </a:prstGeom>
          <a:solidFill>
            <a:srgbClr val="DCEFE3"/>
          </a:solidFill>
          <a:ln w="12700">
            <a:solidFill>
              <a:srgbClr val="036E3A"/>
            </a:solidFill>
          </a:ln>
        </p:spPr>
        <p:txBody>
          <a:bodyPr wrap="square" lIns="127000" tIns="127000" rIns="127000" bIns="127000" rtlCol="0" anchor="ctr"/>
          <a:lstStyle/>
          <a:p>
            <a:pPr indent="0" marL="0">
              <a:buNone/>
            </a:pPr>
            <a:r>
              <a:rPr lang="en-US" sz="800" b="1" spc="120" kern="0" dirty="0">
                <a:solidFill>
                  <a:srgbClr val="036E3A"/>
                </a:solidFill>
                <a:latin typeface="Calibri" pitchFamily="34" charset="0"/>
                <a:ea typeface="Calibri" pitchFamily="34" charset="-122"/>
                <a:cs typeface="Calibri" pitchFamily="34" charset="-120"/>
              </a:rPr>
              <a:t>ROOT CAUSE   </a:t>
            </a:r>
            <a:pPr indent="0" marL="0">
              <a:buNone/>
            </a:pPr>
            <a:r>
              <a:rPr lang="en-US" sz="1000" b="1" dirty="0">
                <a:solidFill>
                  <a:srgbClr val="1B1B1B"/>
                </a:solidFill>
                <a:latin typeface="Calibri" pitchFamily="34" charset="0"/>
                <a:ea typeface="Calibri" pitchFamily="34" charset="-122"/>
                <a:cs typeface="Calibri" pitchFamily="34" charset="-120"/>
              </a:rPr>
              <a:t>A process gap — not a people problem. Fix the proforma.</a:t>
            </a:r>
            <a:endParaRPr lang="en-US" sz="800" dirty="0"/>
          </a:p>
        </p:txBody>
      </p:sp>
      <p:sp>
        <p:nvSpPr>
          <p:cNvPr id="14" name="Shape 12"/>
          <p:cNvSpPr/>
          <p:nvPr/>
        </p:nvSpPr>
        <p:spPr>
          <a:xfrm>
            <a:off x="5897880" y="960120"/>
            <a:ext cx="2788920" cy="3520440"/>
          </a:xfrm>
          <a:prstGeom prst="roundRect">
            <a:avLst>
              <a:gd name="adj" fmla="val 2295"/>
            </a:avLst>
          </a:prstGeom>
          <a:solidFill>
            <a:srgbClr val="F1F6F2"/>
          </a:solidFill>
          <a:ln w="12700">
            <a:solidFill>
              <a:srgbClr val="F1F6F2"/>
            </a:solidFill>
            <a:prstDash val="solid"/>
          </a:ln>
        </p:spPr>
        <p:txBody>
          <a:bodyPr/>
          <a:p/>
        </p:txBody>
      </p:sp>
      <p:sp>
        <p:nvSpPr>
          <p:cNvPr id="15" name="Text 13"/>
          <p:cNvSpPr/>
          <p:nvPr/>
        </p:nvSpPr>
        <p:spPr>
          <a:xfrm>
            <a:off x="6044184" y="1088136"/>
            <a:ext cx="2514600" cy="219456"/>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HOW TO DO IT</a:t>
            </a:r>
            <a:endParaRPr lang="en-US" sz="800" dirty="0"/>
          </a:p>
        </p:txBody>
      </p:sp>
      <p:sp>
        <p:nvSpPr>
          <p:cNvPr id="16" name="Text 14"/>
          <p:cNvSpPr/>
          <p:nvPr/>
        </p:nvSpPr>
        <p:spPr>
          <a:xfrm>
            <a:off x="6044184" y="1371600"/>
            <a:ext cx="2514600" cy="292608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Ten minutes at the whiteboard, with the team — three to five whys is typical</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Keep asking until you hit something you can redesign: a process, a form, a step — not a person</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If your final ‘why’ names a person, ask why once more</a:t>
            </a:r>
            <a:endParaRPr lang="en-US" sz="900" dirty="0"/>
          </a:p>
          <a:p>
            <a:pPr marL="342900" indent="-342900">
              <a:spcAft>
                <a:spcPts val="600"/>
              </a:spcAft>
              <a:buSzPct val="100000"/>
              <a:buChar char="–"/>
            </a:pPr>
            <a:r>
              <a:rPr lang="en-US" sz="900" dirty="0">
                <a:solidFill>
                  <a:srgbClr val="1B1B1B"/>
                </a:solidFill>
                <a:latin typeface="Calibri" pitchFamily="34" charset="0"/>
                <a:ea typeface="Calibri" pitchFamily="34" charset="-122"/>
                <a:cs typeface="Calibri" pitchFamily="34" charset="-120"/>
              </a:rPr>
              <a:t>The root cause becomes a secondary driver — its fixes become your change ideas</a:t>
            </a:r>
            <a:endParaRPr lang="en-US" sz="900" dirty="0"/>
          </a:p>
        </p:txBody>
      </p:sp>
      <p:sp>
        <p:nvSpPr>
          <p:cNvPr id="17" name="Text 15"/>
          <p:cNvSpPr/>
          <p:nvPr/>
        </p:nvSpPr>
        <p:spPr>
          <a:xfrm>
            <a:off x="457200" y="4572000"/>
            <a:ext cx="8229600" cy="219456"/>
          </a:xfrm>
          <a:prstGeom prst="rect">
            <a:avLst/>
          </a:prstGeom>
          <a:noFill/>
          <a:ln/>
        </p:spPr>
        <p:txBody>
          <a:bodyPr wrap="square" lIns="0" tIns="0" rIns="0" bIns="0" rtlCol="0" anchor="ctr"/>
          <a:lstStyle/>
          <a:p>
            <a:pPr indent="0" marL="0">
              <a:buNone/>
            </a:pPr>
            <a:r>
              <a:rPr lang="en-US" sz="900" b="1" u="sng" dirty="0">
                <a:solidFill>
                  <a:srgbClr val="036E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Draw it online → aimqa.github.io/SAMQIP</a:t>
            </a:r>
            <a:pPr indent="0" marL="0">
              <a:buNone/>
            </a:pPr>
            <a:r>
              <a:rPr lang="en-US" sz="850" i="1" dirty="0">
                <a:solidFill>
                  <a:srgbClr val="4A5A52"/>
                </a:solidFill>
                <a:latin typeface="Calibri" pitchFamily="34" charset="0"/>
                <a:ea typeface="Calibri" pitchFamily="34" charset="-122"/>
                <a:cs typeface="Calibri" pitchFamily="34" charset="-120"/>
              </a:rPr>
              <a:t>   — the Diagram Tool has a 5 Whys tab between the process map and driver diagram.</a:t>
            </a:r>
            <a:endParaRPr lang="en-US" sz="900" dirty="0"/>
          </a:p>
        </p:txBody>
      </p:sp>
      <p:sp>
        <p:nvSpPr>
          <p:cNvPr id="19" name="Text 1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0" name="Text 1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GETTING THE MIDDLE TWO COLUMNS RIGHT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Primary vs Secondary Drivers</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932688"/>
            <a:ext cx="4023360" cy="1828800"/>
          </a:xfrm>
          <a:prstGeom prst="roundRect">
            <a:avLst>
              <a:gd name="adj" fmla="val 3500"/>
            </a:avLst>
          </a:prstGeom>
          <a:solidFill>
            <a:srgbClr val="F1F6F2"/>
          </a:solidFill>
          <a:ln w="12700">
            <a:solidFill>
              <a:srgbClr val="F1F6F2"/>
            </a:solidFill>
            <a:prstDash val="solid"/>
          </a:ln>
        </p:spPr>
        <p:txBody>
          <a:bodyPr/>
          <a:p/>
        </p:txBody>
      </p:sp>
      <p:sp>
        <p:nvSpPr>
          <p:cNvPr id="6" name="Text 4"/>
          <p:cNvSpPr/>
          <p:nvPr/>
        </p:nvSpPr>
        <p:spPr>
          <a:xfrm>
            <a:off x="621792" y="1060704"/>
            <a:ext cx="3703320" cy="274320"/>
          </a:xfrm>
          <a:prstGeom prst="rect">
            <a:avLst/>
          </a:prstGeom>
          <a:noFill/>
          <a:ln/>
        </p:spPr>
        <p:txBody>
          <a:bodyPr wrap="square" lIns="0" tIns="0" rIns="0" bIns="0" rtlCol="0" anchor="ctr"/>
          <a:lstStyle/>
          <a:p>
            <a:pPr indent="0" marL="0">
              <a:buNone/>
            </a:pPr>
            <a:r>
              <a:rPr lang="en-US" sz="1250" b="1" dirty="0">
                <a:solidFill>
                  <a:srgbClr val="036E3A"/>
                </a:solidFill>
                <a:latin typeface="Calibri" pitchFamily="34" charset="0"/>
                <a:ea typeface="Calibri" pitchFamily="34" charset="-122"/>
                <a:cs typeface="Calibri" pitchFamily="34" charset="-120"/>
              </a:rPr>
              <a:t>Primary drivers</a:t>
            </a:r>
            <a:pPr indent="0" marL="0">
              <a:buNone/>
            </a:pPr>
            <a:r>
              <a:rPr lang="en-US" sz="950" i="1" dirty="0">
                <a:solidFill>
                  <a:srgbClr val="4A5A52"/>
                </a:solidFill>
                <a:latin typeface="Calibri" pitchFamily="34" charset="0"/>
                <a:ea typeface="Calibri" pitchFamily="34" charset="-122"/>
                <a:cs typeface="Calibri" pitchFamily="34" charset="-120"/>
              </a:rPr>
              <a:t>  — the headings of your theory</a:t>
            </a:r>
            <a:endParaRPr lang="en-US" sz="1250" dirty="0"/>
          </a:p>
        </p:txBody>
      </p:sp>
      <p:sp>
        <p:nvSpPr>
          <p:cNvPr id="7" name="Text 5"/>
          <p:cNvSpPr/>
          <p:nvPr/>
        </p:nvSpPr>
        <p:spPr>
          <a:xfrm>
            <a:off x="621792" y="1389888"/>
            <a:ext cx="3703320" cy="932688"/>
          </a:xfrm>
          <a:prstGeom prst="rect">
            <a:avLst/>
          </a:prstGeom>
          <a:noFill/>
          <a:ln/>
        </p:spPr>
        <p:txBody>
          <a:bodyPr wrap="square" lIns="0" tIns="0" rIns="0" bIns="0" rtlCol="0" anchor="t"/>
          <a:lstStyle/>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The 3–5 big things that must be true for the aim to happen.</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Write them as conditions, not actions — ‘it’s easy to do in the moment’, not ‘put up a poster’.</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Common ones: people know what’s expected · it’s easy to do · the team sees its own data · someone owns it.</a:t>
            </a:r>
            <a:endParaRPr lang="en-US" sz="920" dirty="0"/>
          </a:p>
        </p:txBody>
      </p:sp>
      <p:sp>
        <p:nvSpPr>
          <p:cNvPr id="8" name="Text 6"/>
          <p:cNvSpPr/>
          <p:nvPr/>
        </p:nvSpPr>
        <p:spPr>
          <a:xfrm>
            <a:off x="621792" y="2377440"/>
            <a:ext cx="3703320" cy="274320"/>
          </a:xfrm>
          <a:prstGeom prst="roundRect">
            <a:avLst>
              <a:gd name="adj" fmla="val 23333"/>
            </a:avLst>
          </a:prstGeom>
          <a:solidFill>
            <a:srgbClr val="DCEFE3"/>
          </a:solidFill>
          <a:ln/>
        </p:spPr>
        <p:txBody>
          <a:bodyPr wrap="square" lIns="88900" tIns="88900" rIns="88900" bIns="88900" rtlCol="0" anchor="ctr"/>
          <a:lstStyle/>
          <a:p>
            <a:pPr indent="0" marL="0">
              <a:buNone/>
            </a:pPr>
            <a:r>
              <a:rPr lang="en-US" sz="900" b="1" dirty="0">
                <a:solidFill>
                  <a:srgbClr val="036E3A"/>
                </a:solidFill>
                <a:latin typeface="Calibri" pitchFamily="34" charset="0"/>
                <a:ea typeface="Calibri" pitchFamily="34" charset="-122"/>
                <a:cs typeface="Calibri" pitchFamily="34" charset="-120"/>
              </a:rPr>
              <a:t>Test: if all of these were true, would we hit the aim?</a:t>
            </a:r>
            <a:endParaRPr lang="en-US" sz="900" dirty="0"/>
          </a:p>
        </p:txBody>
      </p:sp>
      <p:sp>
        <p:nvSpPr>
          <p:cNvPr id="9" name="Shape 7"/>
          <p:cNvSpPr/>
          <p:nvPr/>
        </p:nvSpPr>
        <p:spPr>
          <a:xfrm>
            <a:off x="4663440" y="932688"/>
            <a:ext cx="4023360" cy="1828800"/>
          </a:xfrm>
          <a:prstGeom prst="roundRect">
            <a:avLst>
              <a:gd name="adj" fmla="val 3500"/>
            </a:avLst>
          </a:prstGeom>
          <a:solidFill>
            <a:srgbClr val="F1F6F2"/>
          </a:solidFill>
          <a:ln w="12700">
            <a:solidFill>
              <a:srgbClr val="F1F6F2"/>
            </a:solidFill>
            <a:prstDash val="solid"/>
          </a:ln>
        </p:spPr>
        <p:txBody>
          <a:bodyPr/>
          <a:p/>
        </p:txBody>
      </p:sp>
      <p:sp>
        <p:nvSpPr>
          <p:cNvPr id="10" name="Text 8"/>
          <p:cNvSpPr/>
          <p:nvPr/>
        </p:nvSpPr>
        <p:spPr>
          <a:xfrm>
            <a:off x="4828032" y="1060704"/>
            <a:ext cx="3703320" cy="274320"/>
          </a:xfrm>
          <a:prstGeom prst="rect">
            <a:avLst/>
          </a:prstGeom>
          <a:noFill/>
          <a:ln/>
        </p:spPr>
        <p:txBody>
          <a:bodyPr wrap="square" lIns="0" tIns="0" rIns="0" bIns="0" rtlCol="0" anchor="ctr"/>
          <a:lstStyle/>
          <a:p>
            <a:pPr indent="0" marL="0">
              <a:buNone/>
            </a:pPr>
            <a:r>
              <a:rPr lang="en-US" sz="1250" b="1" dirty="0">
                <a:solidFill>
                  <a:srgbClr val="036E3A"/>
                </a:solidFill>
                <a:latin typeface="Calibri" pitchFamily="34" charset="0"/>
                <a:ea typeface="Calibri" pitchFamily="34" charset="-122"/>
                <a:cs typeface="Calibri" pitchFamily="34" charset="-120"/>
              </a:rPr>
              <a:t>Secondary drivers</a:t>
            </a:r>
            <a:pPr indent="0" marL="0">
              <a:buNone/>
            </a:pPr>
            <a:r>
              <a:rPr lang="en-US" sz="950" i="1" dirty="0">
                <a:solidFill>
                  <a:srgbClr val="4A5A52"/>
                </a:solidFill>
                <a:latin typeface="Calibri" pitchFamily="34" charset="0"/>
                <a:ea typeface="Calibri" pitchFamily="34" charset="-122"/>
                <a:cs typeface="Calibri" pitchFamily="34" charset="-120"/>
              </a:rPr>
              <a:t>  — the bits you can actually get at</a:t>
            </a:r>
            <a:endParaRPr lang="en-US" sz="1250" dirty="0"/>
          </a:p>
        </p:txBody>
      </p:sp>
      <p:sp>
        <p:nvSpPr>
          <p:cNvPr id="11" name="Text 9"/>
          <p:cNvSpPr/>
          <p:nvPr/>
        </p:nvSpPr>
        <p:spPr>
          <a:xfrm>
            <a:off x="4828032" y="1389888"/>
            <a:ext cx="3703320" cy="932688"/>
          </a:xfrm>
          <a:prstGeom prst="rect">
            <a:avLst/>
          </a:prstGeom>
          <a:noFill/>
          <a:ln/>
        </p:spPr>
        <p:txBody>
          <a:bodyPr wrap="square" lIns="0" tIns="0" rIns="0" bIns="0" rtlCol="0" anchor="t"/>
          <a:lstStyle/>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The specific parts of the system that would make one primary driver true.</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Ward-level and concrete enough to influence — a step, a form, a conversation, a rota.</a:t>
            </a:r>
            <a:endParaRPr lang="en-US" sz="920" dirty="0"/>
          </a:p>
          <a:p>
            <a:pPr marL="342900" indent="-342900">
              <a:spcAft>
                <a:spcPts val="400"/>
              </a:spcAft>
              <a:buSzPct val="100000"/>
              <a:buChar char="–"/>
            </a:pPr>
            <a:r>
              <a:rPr lang="en-US" sz="920" dirty="0">
                <a:solidFill>
                  <a:srgbClr val="1B1B1B"/>
                </a:solidFill>
                <a:latin typeface="Calibri" pitchFamily="34" charset="0"/>
                <a:ea typeface="Calibri" pitchFamily="34" charset="-122"/>
                <a:cs typeface="Calibri" pitchFamily="34" charset="-120"/>
              </a:rPr>
              <a:t>1–3 under each primary driver is plenty on a first project.</a:t>
            </a:r>
            <a:endParaRPr lang="en-US" sz="920" dirty="0"/>
          </a:p>
        </p:txBody>
      </p:sp>
      <p:sp>
        <p:nvSpPr>
          <p:cNvPr id="12" name="Text 10"/>
          <p:cNvSpPr/>
          <p:nvPr/>
        </p:nvSpPr>
        <p:spPr>
          <a:xfrm>
            <a:off x="4828032" y="2377440"/>
            <a:ext cx="3703320" cy="274320"/>
          </a:xfrm>
          <a:prstGeom prst="roundRect">
            <a:avLst>
              <a:gd name="adj" fmla="val 23333"/>
            </a:avLst>
          </a:prstGeom>
          <a:solidFill>
            <a:srgbClr val="DCEFE3"/>
          </a:solidFill>
          <a:ln/>
        </p:spPr>
        <p:txBody>
          <a:bodyPr wrap="square" lIns="88900" tIns="88900" rIns="88900" bIns="88900" rtlCol="0" anchor="ctr"/>
          <a:lstStyle/>
          <a:p>
            <a:pPr indent="0" marL="0">
              <a:buNone/>
            </a:pPr>
            <a:r>
              <a:rPr lang="en-US" sz="900" b="1" dirty="0">
                <a:solidFill>
                  <a:srgbClr val="036E3A"/>
                </a:solidFill>
                <a:latin typeface="Calibri" pitchFamily="34" charset="0"/>
                <a:ea typeface="Calibri" pitchFamily="34" charset="-122"/>
                <a:cs typeface="Calibri" pitchFamily="34" charset="-120"/>
              </a:rPr>
              <a:t>Test: if we changed this, would the driver to its left improve?</a:t>
            </a:r>
            <a:endParaRPr lang="en-US" sz="900" dirty="0"/>
          </a:p>
        </p:txBody>
      </p:sp>
      <p:sp>
        <p:nvSpPr>
          <p:cNvPr id="13" name="Text 11"/>
          <p:cNvSpPr/>
          <p:nvPr/>
        </p:nvSpPr>
        <p:spPr>
          <a:xfrm>
            <a:off x="457200" y="2926080"/>
            <a:ext cx="1691640" cy="841248"/>
          </a:xfrm>
          <a:prstGeom prst="roundRect">
            <a:avLst>
              <a:gd name="adj" fmla="val 7609"/>
            </a:avLst>
          </a:prstGeom>
          <a:solidFill>
            <a:srgbClr val="DCEFE3"/>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AIM</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Increase completed VTE assessments on AMU from 60% to 90% by Mar 2027</a:t>
            </a:r>
            <a:endParaRPr lang="en-US" sz="750" dirty="0"/>
          </a:p>
        </p:txBody>
      </p:sp>
      <p:sp>
        <p:nvSpPr>
          <p:cNvPr id="14" name="Text 12"/>
          <p:cNvSpPr/>
          <p:nvPr/>
        </p:nvSpPr>
        <p:spPr>
          <a:xfrm>
            <a:off x="2148840" y="2926080"/>
            <a:ext cx="484632" cy="841248"/>
          </a:xfrm>
          <a:prstGeom prst="rect">
            <a:avLst/>
          </a:prstGeom>
          <a:noFill/>
          <a:ln/>
        </p:spPr>
        <p:txBody>
          <a:bodyPr wrap="square" lIns="0" tIns="0" rIns="0" bIns="0" rtlCol="0" anchor="ctr"/>
          <a:lstStyle/>
          <a:p>
            <a:pPr algn="ctr" indent="0" marL="0">
              <a:buNone/>
            </a:pPr>
            <a:r>
              <a:rPr lang="en-US" sz="1400" b="1" dirty="0">
                <a:solidFill>
                  <a:srgbClr val="036E3A"/>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2633472" y="2926080"/>
            <a:ext cx="1691640" cy="841248"/>
          </a:xfrm>
          <a:prstGeom prst="roundRect">
            <a:avLst>
              <a:gd name="adj" fmla="val 7609"/>
            </a:avLst>
          </a:prstGeom>
          <a:solidFill>
            <a:srgbClr val="F1F6F2"/>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PRIMARY DRIVER</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It’s easy to do in the moment</a:t>
            </a:r>
            <a:endParaRPr lang="en-US" sz="750" dirty="0"/>
          </a:p>
        </p:txBody>
      </p:sp>
      <p:sp>
        <p:nvSpPr>
          <p:cNvPr id="16" name="Text 14"/>
          <p:cNvSpPr/>
          <p:nvPr/>
        </p:nvSpPr>
        <p:spPr>
          <a:xfrm>
            <a:off x="4325112" y="2926080"/>
            <a:ext cx="484632" cy="841248"/>
          </a:xfrm>
          <a:prstGeom prst="rect">
            <a:avLst/>
          </a:prstGeom>
          <a:noFill/>
          <a:ln/>
        </p:spPr>
        <p:txBody>
          <a:bodyPr wrap="square" lIns="0" tIns="0" rIns="0" bIns="0" rtlCol="0" anchor="ctr"/>
          <a:lstStyle/>
          <a:p>
            <a:pPr algn="ctr" indent="0" marL="0">
              <a:buNone/>
            </a:pPr>
            <a:r>
              <a:rPr lang="en-US" sz="1400" b="1" dirty="0">
                <a:solidFill>
                  <a:srgbClr val="036E3A"/>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4809744" y="2926080"/>
            <a:ext cx="1691640" cy="841248"/>
          </a:xfrm>
          <a:prstGeom prst="roundRect">
            <a:avLst>
              <a:gd name="adj" fmla="val 7609"/>
            </a:avLst>
          </a:prstGeom>
          <a:solidFill>
            <a:srgbClr val="F1F6F2"/>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SECONDARY DRIVER</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Prompt at the point of prescribing</a:t>
            </a:r>
            <a:endParaRPr lang="en-US" sz="750" dirty="0"/>
          </a:p>
        </p:txBody>
      </p:sp>
      <p:sp>
        <p:nvSpPr>
          <p:cNvPr id="18" name="Text 16"/>
          <p:cNvSpPr/>
          <p:nvPr/>
        </p:nvSpPr>
        <p:spPr>
          <a:xfrm>
            <a:off x="6501384" y="2926080"/>
            <a:ext cx="484632" cy="841248"/>
          </a:xfrm>
          <a:prstGeom prst="rect">
            <a:avLst/>
          </a:prstGeom>
          <a:noFill/>
          <a:ln/>
        </p:spPr>
        <p:txBody>
          <a:bodyPr wrap="square" lIns="0" tIns="0" rIns="0" bIns="0" rtlCol="0" anchor="ctr"/>
          <a:lstStyle/>
          <a:p>
            <a:pPr algn="ctr" indent="0" marL="0">
              <a:buNone/>
            </a:pPr>
            <a:r>
              <a:rPr lang="en-US" sz="1400" b="1" dirty="0">
                <a:solidFill>
                  <a:srgbClr val="036E3A"/>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6986016" y="2926080"/>
            <a:ext cx="1691640" cy="841248"/>
          </a:xfrm>
          <a:prstGeom prst="roundRect">
            <a:avLst>
              <a:gd name="adj" fmla="val 7609"/>
            </a:avLst>
          </a:prstGeom>
          <a:solidFill>
            <a:srgbClr val="F1F6F2"/>
          </a:solidFill>
          <a:ln/>
        </p:spPr>
        <p:txBody>
          <a:bodyPr wrap="square" lIns="101600" tIns="101600" rIns="101600" bIns="101600" rtlCol="0" anchor="t"/>
          <a:lstStyle/>
          <a:p>
            <a:pPr indent="0" marL="0">
              <a:spcAft>
                <a:spcPts val="200"/>
              </a:spcAft>
              <a:buNone/>
            </a:pPr>
            <a:r>
              <a:rPr lang="en-US" sz="750" b="1" spc="110" kern="0" dirty="0">
                <a:solidFill>
                  <a:srgbClr val="036E3A"/>
                </a:solidFill>
                <a:latin typeface="Calibri" pitchFamily="34" charset="0"/>
                <a:ea typeface="Calibri" pitchFamily="34" charset="-122"/>
                <a:cs typeface="Calibri" pitchFamily="34" charset="-120"/>
              </a:rPr>
              <a:t>CHANGE IDEA</a:t>
            </a:r>
            <a:endParaRPr lang="en-US" sz="750" dirty="0"/>
          </a:p>
          <a:p>
            <a:pPr indent="0" marL="0">
              <a:buNone/>
            </a:pPr>
            <a:r>
              <a:rPr lang="en-US" sz="880" dirty="0">
                <a:solidFill>
                  <a:srgbClr val="1B1B1B"/>
                </a:solidFill>
                <a:latin typeface="Calibri" pitchFamily="34" charset="0"/>
                <a:ea typeface="Calibri" pitchFamily="34" charset="-122"/>
                <a:cs typeface="Calibri" pitchFamily="34" charset="-120"/>
              </a:rPr>
              <a:t>VTE prompt on the clerking proforma</a:t>
            </a:r>
            <a:endParaRPr lang="en-US" sz="750" dirty="0"/>
          </a:p>
        </p:txBody>
      </p:sp>
      <p:sp>
        <p:nvSpPr>
          <p:cNvPr id="20" name="Text 18"/>
          <p:cNvSpPr/>
          <p:nvPr/>
        </p:nvSpPr>
        <p:spPr>
          <a:xfrm>
            <a:off x="457200" y="3803904"/>
            <a:ext cx="8229600" cy="237744"/>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Read it left to right as one sentence: we’ll achieve the aim BECAUSE this driver changes — which will change BECAUSE of this secondary driver — which we’ll test with this change idea.</a:t>
            </a:r>
            <a:endParaRPr lang="en-US" sz="850" dirty="0"/>
          </a:p>
        </p:txBody>
      </p:sp>
      <p:sp>
        <p:nvSpPr>
          <p:cNvPr id="21" name="Text 19"/>
          <p:cNvSpPr/>
          <p:nvPr/>
        </p:nvSpPr>
        <p:spPr>
          <a:xfrm>
            <a:off x="457200" y="4114800"/>
            <a:ext cx="8229600" cy="548640"/>
          </a:xfrm>
          <a:prstGeom prst="roundRect">
            <a:avLst>
              <a:gd name="adj" fmla="val 11667"/>
            </a:avLst>
          </a:prstGeom>
          <a:solidFill>
            <a:srgbClr val="DCEFE3"/>
          </a:solidFill>
          <a:ln/>
        </p:spPr>
        <p:txBody>
          <a:bodyPr wrap="square" lIns="127000" tIns="127000" rIns="127000" bIns="127000" rtlCol="0" anchor="ctr"/>
          <a:lstStyle/>
          <a:p>
            <a:pPr indent="0" marL="0">
              <a:buNone/>
            </a:pPr>
            <a:r>
              <a:rPr lang="en-US" sz="930" b="1" dirty="0">
                <a:solidFill>
                  <a:srgbClr val="1B1B1B"/>
                </a:solidFill>
                <a:latin typeface="Calibri" pitchFamily="34" charset="0"/>
                <a:ea typeface="Calibri" pitchFamily="34" charset="-122"/>
                <a:cs typeface="Calibri" pitchFamily="34" charset="-120"/>
              </a:rPr>
              <a:t>Three things that catch people out:   </a:t>
            </a:r>
            <a:pPr indent="0" marL="0">
              <a:buNone/>
            </a:pPr>
            <a:r>
              <a:rPr lang="en-US" sz="930" dirty="0">
                <a:solidFill>
                  <a:srgbClr val="1B1B1B"/>
                </a:solidFill>
                <a:latin typeface="Calibri" pitchFamily="34" charset="0"/>
                <a:ea typeface="Calibri" pitchFamily="34" charset="-122"/>
                <a:cs typeface="Calibri" pitchFamily="34" charset="-120"/>
              </a:rPr>
              <a:t>1. If it names a poster, checklist or proforma, it’s a change idea — not a driver.   2. If nobody could disagree with it, it’s too vague to be a driver.   3. More than five primary drivers usually means some are really secondary ones.</a:t>
            </a:r>
            <a:endParaRPr lang="en-US" sz="930" dirty="0"/>
          </a:p>
        </p:txBody>
      </p:sp>
      <p:sp>
        <p:nvSpPr>
          <p:cNvPr id="23" name="Text 2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4" name="Text 2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2 CONTINUED — WHAT DATA DO YOU NEED?</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Two Kinds of Data — You Need Both</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2</a:t>
            </a:r>
            <a:endParaRPr lang="en-US" sz="900" dirty="0"/>
          </a:p>
        </p:txBody>
      </p:sp>
      <p:sp>
        <p:nvSpPr>
          <p:cNvPr id="5" name="Shape 3"/>
          <p:cNvSpPr/>
          <p:nvPr/>
        </p:nvSpPr>
        <p:spPr>
          <a:xfrm>
            <a:off x="457200" y="932688"/>
            <a:ext cx="4023360" cy="3108960"/>
          </a:xfrm>
          <a:prstGeom prst="roundRect">
            <a:avLst>
              <a:gd name="adj" fmla="val 2059"/>
            </a:avLst>
          </a:prstGeom>
          <a:solidFill>
            <a:srgbClr val="F1F6F2"/>
          </a:solidFill>
          <a:ln w="12700">
            <a:solidFill>
              <a:srgbClr val="F1F6F2"/>
            </a:solidFill>
            <a:prstDash val="solid"/>
          </a:ln>
        </p:spPr>
        <p:txBody>
          <a:bodyPr/>
          <a:p/>
        </p:txBody>
      </p:sp>
      <p:sp>
        <p:nvSpPr>
          <p:cNvPr id="6" name="Text 4"/>
          <p:cNvSpPr/>
          <p:nvPr/>
        </p:nvSpPr>
        <p:spPr>
          <a:xfrm>
            <a:off x="621792" y="1060704"/>
            <a:ext cx="3703320" cy="274320"/>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Quantitative — the numbers</a:t>
            </a:r>
            <a:endParaRPr lang="en-US" sz="1200" dirty="0"/>
          </a:p>
        </p:txBody>
      </p:sp>
      <p:sp>
        <p:nvSpPr>
          <p:cNvPr id="7" name="Text 5"/>
          <p:cNvSpPr/>
          <p:nvPr/>
        </p:nvSpPr>
        <p:spPr>
          <a:xfrm>
            <a:off x="621792" y="1389888"/>
            <a:ext cx="3703320" cy="2514600"/>
          </a:xfrm>
          <a:prstGeom prst="rect">
            <a:avLst/>
          </a:prstGeom>
          <a:noFill/>
          <a:ln/>
        </p:spPr>
        <p:txBody>
          <a:bodyPr wrap="square" lIns="0" tIns="0" rIns="0" bIns="0" rtlCol="0" anchor="t"/>
          <a:lstStyle/>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WHAT IT IS</a:t>
            </a:r>
            <a:endParaRPr lang="en-US" sz="750" dirty="0"/>
          </a:p>
          <a:p>
            <a:pPr indent="0" marL="0">
              <a:spcAft>
                <a:spcPts val="300"/>
              </a:spcAft>
              <a:buNone/>
            </a:pPr>
            <a:r>
              <a:rPr lang="en-US" sz="900" dirty="0">
                <a:solidFill>
                  <a:srgbClr val="1B1B1B"/>
                </a:solidFill>
                <a:latin typeface="Calibri" pitchFamily="34" charset="0"/>
                <a:ea typeface="Calibri" pitchFamily="34" charset="-122"/>
                <a:cs typeface="Calibri" pitchFamily="34" charset="-120"/>
              </a:rPr>
              <a:t>Things you can count: rates, percentages, times, simple tallies.</a:t>
            </a:r>
            <a:endParaRPr lang="en-US" sz="750" dirty="0"/>
          </a:p>
          <a:p>
            <a:pPr indent="0" marL="0">
              <a:spcAft>
                <a:spcPts val="600"/>
              </a:spcAft>
              <a:buNone/>
            </a:pPr>
            <a:r>
              <a:rPr lang="en-US" sz="850" i="1" dirty="0">
                <a:solidFill>
                  <a:srgbClr val="4A5A52"/>
                </a:solidFill>
                <a:latin typeface="Calibri" pitchFamily="34" charset="0"/>
                <a:ea typeface="Calibri" pitchFamily="34" charset="-122"/>
                <a:cs typeface="Calibri" pitchFamily="34" charset="-120"/>
              </a:rPr>
              <a:t>e.g. % of drug charts with a VTE assessment · minutes to antibiotics · falls per week</a:t>
            </a:r>
            <a:endParaRPr lang="en-US" sz="750" dirty="0"/>
          </a:p>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WHY IT MATTERS</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Shows whether things actually changed — plotted over time on your run chart</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Convinces others — a chart beats an anecdote in any meeting</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Small counts are fine: 10–20 cases per time point, plotted honestly</a:t>
            </a:r>
            <a:endParaRPr lang="en-US" sz="750" dirty="0"/>
          </a:p>
        </p:txBody>
      </p:sp>
      <p:sp>
        <p:nvSpPr>
          <p:cNvPr id="8" name="Shape 6"/>
          <p:cNvSpPr/>
          <p:nvPr/>
        </p:nvSpPr>
        <p:spPr>
          <a:xfrm>
            <a:off x="4663440" y="932688"/>
            <a:ext cx="4023360" cy="3108960"/>
          </a:xfrm>
          <a:prstGeom prst="roundRect">
            <a:avLst>
              <a:gd name="adj" fmla="val 2059"/>
            </a:avLst>
          </a:prstGeom>
          <a:solidFill>
            <a:srgbClr val="F1F6F2"/>
          </a:solidFill>
          <a:ln w="12700">
            <a:solidFill>
              <a:srgbClr val="F1F6F2"/>
            </a:solidFill>
            <a:prstDash val="solid"/>
          </a:ln>
        </p:spPr>
        <p:txBody>
          <a:bodyPr/>
          <a:p/>
        </p:txBody>
      </p:sp>
      <p:sp>
        <p:nvSpPr>
          <p:cNvPr id="9" name="Text 7"/>
          <p:cNvSpPr/>
          <p:nvPr/>
        </p:nvSpPr>
        <p:spPr>
          <a:xfrm>
            <a:off x="4828032" y="1060704"/>
            <a:ext cx="3703320" cy="274320"/>
          </a:xfrm>
          <a:prstGeom prst="rect">
            <a:avLst/>
          </a:prstGeom>
          <a:noFill/>
          <a:ln/>
        </p:spPr>
        <p:txBody>
          <a:bodyPr wrap="square" lIns="0" tIns="0" rIns="0" bIns="0" rtlCol="0" anchor="ctr"/>
          <a:lstStyle/>
          <a:p>
            <a:pPr indent="0" marL="0">
              <a:buNone/>
            </a:pPr>
            <a:r>
              <a:rPr lang="en-US" sz="1200" b="1" dirty="0">
                <a:solidFill>
                  <a:srgbClr val="036E3A"/>
                </a:solidFill>
                <a:latin typeface="Calibri" pitchFamily="34" charset="0"/>
                <a:ea typeface="Calibri" pitchFamily="34" charset="-122"/>
                <a:cs typeface="Calibri" pitchFamily="34" charset="-120"/>
              </a:rPr>
              <a:t>Qualitative — the words</a:t>
            </a:r>
            <a:endParaRPr lang="en-US" sz="1200" dirty="0"/>
          </a:p>
        </p:txBody>
      </p:sp>
      <p:sp>
        <p:nvSpPr>
          <p:cNvPr id="10" name="Text 8"/>
          <p:cNvSpPr/>
          <p:nvPr/>
        </p:nvSpPr>
        <p:spPr>
          <a:xfrm>
            <a:off x="4828032" y="1389888"/>
            <a:ext cx="3703320" cy="2514600"/>
          </a:xfrm>
          <a:prstGeom prst="rect">
            <a:avLst/>
          </a:prstGeom>
          <a:noFill/>
          <a:ln/>
        </p:spPr>
        <p:txBody>
          <a:bodyPr wrap="square" lIns="0" tIns="0" rIns="0" bIns="0" rtlCol="0" anchor="t"/>
          <a:lstStyle/>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WHAT IT IS</a:t>
            </a:r>
            <a:endParaRPr lang="en-US" sz="750" dirty="0"/>
          </a:p>
          <a:p>
            <a:pPr indent="0" marL="0">
              <a:spcAft>
                <a:spcPts val="300"/>
              </a:spcAft>
              <a:buNone/>
            </a:pPr>
            <a:r>
              <a:rPr lang="en-US" sz="900" dirty="0">
                <a:solidFill>
                  <a:srgbClr val="1B1B1B"/>
                </a:solidFill>
                <a:latin typeface="Calibri" pitchFamily="34" charset="0"/>
                <a:ea typeface="Calibri" pitchFamily="34" charset="-122"/>
                <a:cs typeface="Calibri" pitchFamily="34" charset="-120"/>
              </a:rPr>
              <a:t>What people say and experience: comments, quotes, what you observe.</a:t>
            </a:r>
            <a:endParaRPr lang="en-US" sz="750" dirty="0"/>
          </a:p>
          <a:p>
            <a:pPr indent="0" marL="0">
              <a:spcAft>
                <a:spcPts val="600"/>
              </a:spcAft>
              <a:buNone/>
            </a:pPr>
            <a:r>
              <a:rPr lang="en-US" sz="850" i="1" dirty="0">
                <a:solidFill>
                  <a:srgbClr val="4A5A52"/>
                </a:solidFill>
                <a:latin typeface="Calibri" pitchFamily="34" charset="0"/>
                <a:ea typeface="Calibri" pitchFamily="34" charset="-122"/>
                <a:cs typeface="Calibri" pitchFamily="34" charset="-120"/>
              </a:rPr>
              <a:t>e.g. a huddle comment · a free-text survey box · what you noticed on the ward round</a:t>
            </a:r>
            <a:endParaRPr lang="en-US" sz="750" dirty="0"/>
          </a:p>
          <a:p>
            <a:pPr indent="0" marL="0">
              <a:spcAft>
                <a:spcPts val="200"/>
              </a:spcAft>
              <a:buNone/>
            </a:pPr>
            <a:r>
              <a:rPr lang="en-US" sz="750" b="1" spc="140" kern="0" dirty="0">
                <a:solidFill>
                  <a:srgbClr val="036E3A"/>
                </a:solidFill>
                <a:latin typeface="Calibri" pitchFamily="34" charset="0"/>
                <a:ea typeface="Calibri" pitchFamily="34" charset="-122"/>
                <a:cs typeface="Calibri" pitchFamily="34" charset="-120"/>
              </a:rPr>
              <a:t>WHY IT MATTERS</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Tells you WHY the numbers moved — what helped, what got in the way</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Catches what numbers miss — workload, morale, unintended effects</a:t>
            </a:r>
            <a:endParaRPr lang="en-US" sz="750" dirty="0"/>
          </a:p>
          <a:p>
            <a:pPr marL="342900" indent="-342900">
              <a:spcAft>
                <a:spcPts val="300"/>
              </a:spcAft>
              <a:buSzPct val="100000"/>
              <a:buChar char="–"/>
            </a:pPr>
            <a:r>
              <a:rPr lang="en-US" sz="900" dirty="0">
                <a:solidFill>
                  <a:srgbClr val="1B1B1B"/>
                </a:solidFill>
                <a:latin typeface="Calibri" pitchFamily="34" charset="0"/>
                <a:ea typeface="Calibri" pitchFamily="34" charset="-122"/>
                <a:cs typeface="Calibri" pitchFamily="34" charset="-120"/>
              </a:rPr>
              <a:t>Shapes cycle 2 — the best next change ideas come from what staff tell you</a:t>
            </a:r>
            <a:endParaRPr lang="en-US" sz="750" dirty="0"/>
          </a:p>
        </p:txBody>
      </p:sp>
      <p:sp>
        <p:nvSpPr>
          <p:cNvPr id="11" name="Text 9"/>
          <p:cNvSpPr/>
          <p:nvPr/>
        </p:nvSpPr>
        <p:spPr>
          <a:xfrm>
            <a:off x="457200" y="4160520"/>
            <a:ext cx="8229600" cy="502920"/>
          </a:xfrm>
          <a:prstGeom prst="roundRect">
            <a:avLst>
              <a:gd name="adj" fmla="val 1272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You need both.  </a:t>
            </a:r>
            <a:pPr indent="0" marL="0">
              <a:buNone/>
            </a:pPr>
            <a:r>
              <a:rPr lang="en-US" sz="950" dirty="0">
                <a:solidFill>
                  <a:srgbClr val="1B1B1B"/>
                </a:solidFill>
                <a:latin typeface="Calibri" pitchFamily="34" charset="0"/>
                <a:ea typeface="Calibri" pitchFamily="34" charset="-122"/>
                <a:cs typeface="Calibri" pitchFamily="34" charset="-120"/>
              </a:rPr>
              <a:t>Numbers show whether it changed — words tell you why. A run chart plus three staff quotes is a complete data set for a first QIP.</a:t>
            </a:r>
            <a:endParaRPr lang="en-US" sz="950" dirty="0"/>
          </a:p>
        </p:txBody>
      </p:sp>
      <p:sp>
        <p:nvSpPr>
          <p:cNvPr id="13" name="Text 1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4" name="Text 1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3 OF 7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Plan Your Intervention</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3</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txBody>
          <a:bodyPr/>
          <a:p/>
        </p:txBody>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Pick ONE change idea — top-right of your 2×2: high impact, easy to deliver</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Design it small: a checklist, proforma prompt or 5-minute teaching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Agree who does what, from what date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Tell everyone affected before you start — huddle, poster, ward meeting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Write down what you predict will happen</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txBody>
          <a:bodyPr/>
          <a:p/>
        </p:txBody>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One change, one ward, a named start date. If it needs a committee, it’s too big for cycle 1.</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txBody>
          <a:bodyPr/>
          <a:p/>
        </p:txBody>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The team knows the plan and the start date is in the diary.</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8 · 9</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4 OF 7  —  DO</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Deliver &amp; Measure</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4</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txBody>
          <a:bodyPr/>
          <a:p/>
        </p:txBody>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Launch on the planned date — be visible in week one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Keep collecting the same measures, the same way, every week</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Keep a project diary — tweaks made, and what changed around you</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Don’t panic at a dip — the next slide shows what counts as a signal</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Run for 6–8 weeks after the change</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txBody>
          <a:bodyPr/>
          <a:p/>
        </p:txBody>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Same counting rules as baseline, plus a few diary lines a week.</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txBody>
          <a:bodyPr/>
          <a:p/>
        </p:txBody>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You have 6–8 post-change data points and a diary of what really happened.</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10b–c · 13a</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4 CONTINUED — SIGNAL OR NOISE?</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How to Read Your Run Chart</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4</a:t>
            </a:r>
            <a:endParaRPr lang="en-US" sz="900" dirty="0"/>
          </a:p>
        </p:txBody>
      </p:sp>
      <p:sp>
        <p:nvSpPr>
          <p:cNvPr id="5" name="Shape 3"/>
          <p:cNvSpPr/>
          <p:nvPr/>
        </p:nvSpPr>
        <p:spPr>
          <a:xfrm>
            <a:off x="457200" y="1005840"/>
            <a:ext cx="5212080" cy="2880360"/>
          </a:xfrm>
          <a:prstGeom prst="roundRect">
            <a:avLst>
              <a:gd name="adj" fmla="val 2222"/>
            </a:avLst>
          </a:prstGeom>
          <a:solidFill>
            <a:srgbClr val="FFFFFF"/>
          </a:solidFill>
          <a:ln w="12700">
            <a:solidFill>
              <a:srgbClr val="FFFFFF"/>
            </a:solidFill>
            <a:prstDash val="solid"/>
          </a:ln>
        </p:spPr>
        <p:txBody>
          <a:bodyPr/>
          <a:p/>
        </p:txBody>
      </p:sp>
      <p:sp>
        <p:nvSpPr>
          <p:cNvPr id="6" name="Shape 4"/>
          <p:cNvSpPr/>
          <p:nvPr/>
        </p:nvSpPr>
        <p:spPr>
          <a:xfrm>
            <a:off x="594360" y="2377440"/>
            <a:ext cx="4846320" cy="14630"/>
          </a:xfrm>
          <a:prstGeom prst="rect">
            <a:avLst/>
          </a:prstGeom>
          <a:solidFill>
            <a:srgbClr val="4A5A52"/>
          </a:solidFill>
          <a:ln w="12700">
            <a:solidFill>
              <a:srgbClr val="4A5A52"/>
            </a:solidFill>
            <a:prstDash val="solid"/>
          </a:ln>
        </p:spPr>
        <p:txBody>
          <a:bodyPr/>
          <a:p/>
        </p:txBody>
      </p:sp>
      <p:sp>
        <p:nvSpPr>
          <p:cNvPr id="7" name="Text 5"/>
          <p:cNvSpPr/>
          <p:nvPr/>
        </p:nvSpPr>
        <p:spPr>
          <a:xfrm>
            <a:off x="594360" y="2176272"/>
            <a:ext cx="731520" cy="182880"/>
          </a:xfrm>
          <a:prstGeom prst="rect">
            <a:avLst/>
          </a:prstGeom>
          <a:noFill/>
          <a:ln/>
        </p:spPr>
        <p:txBody>
          <a:bodyPr wrap="square" lIns="0" tIns="0" rIns="0" bIns="0" rtlCol="0" anchor="ctr"/>
          <a:lstStyle/>
          <a:p>
            <a:pPr indent="0" marL="0">
              <a:buNone/>
            </a:pPr>
            <a:r>
              <a:rPr lang="en-US" sz="750" i="1" dirty="0">
                <a:solidFill>
                  <a:srgbClr val="4A5A52"/>
                </a:solidFill>
                <a:latin typeface="Calibri" pitchFamily="34" charset="0"/>
                <a:ea typeface="Calibri" pitchFamily="34" charset="-122"/>
                <a:cs typeface="Calibri" pitchFamily="34" charset="-120"/>
              </a:rPr>
              <a:t>median</a:t>
            </a:r>
            <a:endParaRPr lang="en-US" sz="750" dirty="0"/>
          </a:p>
        </p:txBody>
      </p:sp>
      <p:sp>
        <p:nvSpPr>
          <p:cNvPr id="8" name="Shape 6"/>
          <p:cNvSpPr/>
          <p:nvPr/>
        </p:nvSpPr>
        <p:spPr>
          <a:xfrm>
            <a:off x="3017520" y="1234440"/>
            <a:ext cx="10973" cy="2194560"/>
          </a:xfrm>
          <a:prstGeom prst="rect">
            <a:avLst/>
          </a:prstGeom>
          <a:solidFill>
            <a:srgbClr val="098040"/>
          </a:solidFill>
          <a:ln w="12700">
            <a:solidFill>
              <a:srgbClr val="098040"/>
            </a:solidFill>
            <a:prstDash val="solid"/>
          </a:ln>
        </p:spPr>
        <p:txBody>
          <a:bodyPr/>
          <a:p/>
        </p:txBody>
      </p:sp>
      <p:sp>
        <p:nvSpPr>
          <p:cNvPr id="9" name="Text 7"/>
          <p:cNvSpPr/>
          <p:nvPr/>
        </p:nvSpPr>
        <p:spPr>
          <a:xfrm>
            <a:off x="2331720" y="1060704"/>
            <a:ext cx="1554480" cy="182880"/>
          </a:xfrm>
          <a:prstGeom prst="rect">
            <a:avLst/>
          </a:prstGeom>
          <a:noFill/>
          <a:ln/>
        </p:spPr>
        <p:txBody>
          <a:bodyPr wrap="square" lIns="0" tIns="0" rIns="0" bIns="0" rtlCol="0" anchor="ctr"/>
          <a:lstStyle/>
          <a:p>
            <a:pPr algn="ctr" indent="0" marL="0">
              <a:buNone/>
            </a:pPr>
            <a:r>
              <a:rPr lang="en-US" sz="750" b="1" dirty="0">
                <a:solidFill>
                  <a:srgbClr val="098040"/>
                </a:solidFill>
                <a:latin typeface="Calibri" pitchFamily="34" charset="0"/>
                <a:ea typeface="Calibri" pitchFamily="34" charset="-122"/>
                <a:cs typeface="Calibri" pitchFamily="34" charset="-120"/>
              </a:rPr>
              <a:t>↓ change launched</a:t>
            </a:r>
            <a:endParaRPr lang="en-US" sz="750" dirty="0"/>
          </a:p>
        </p:txBody>
      </p:sp>
      <p:sp>
        <p:nvSpPr>
          <p:cNvPr id="10" name="Shape 8"/>
          <p:cNvSpPr/>
          <p:nvPr/>
        </p:nvSpPr>
        <p:spPr>
          <a:xfrm>
            <a:off x="658368" y="2560320"/>
            <a:ext cx="91440" cy="91440"/>
          </a:xfrm>
          <a:prstGeom prst="ellipse">
            <a:avLst/>
          </a:prstGeom>
          <a:solidFill>
            <a:srgbClr val="627267"/>
          </a:solidFill>
          <a:ln w="9525">
            <a:solidFill>
              <a:srgbClr val="FFFFFF"/>
            </a:solidFill>
            <a:prstDash val="solid"/>
          </a:ln>
        </p:spPr>
        <p:txBody>
          <a:bodyPr/>
          <a:p/>
        </p:txBody>
      </p:sp>
      <p:sp>
        <p:nvSpPr>
          <p:cNvPr id="11" name="Shape 9"/>
          <p:cNvSpPr/>
          <p:nvPr/>
        </p:nvSpPr>
        <p:spPr>
          <a:xfrm>
            <a:off x="1010060" y="2148840"/>
            <a:ext cx="91440" cy="91440"/>
          </a:xfrm>
          <a:prstGeom prst="ellipse">
            <a:avLst/>
          </a:prstGeom>
          <a:solidFill>
            <a:srgbClr val="627267"/>
          </a:solidFill>
          <a:ln w="9525">
            <a:solidFill>
              <a:srgbClr val="FFFFFF"/>
            </a:solidFill>
            <a:prstDash val="solid"/>
          </a:ln>
        </p:spPr>
        <p:txBody>
          <a:bodyPr/>
          <a:p/>
        </p:txBody>
      </p:sp>
      <p:sp>
        <p:nvSpPr>
          <p:cNvPr id="12" name="Shape 10"/>
          <p:cNvSpPr/>
          <p:nvPr/>
        </p:nvSpPr>
        <p:spPr>
          <a:xfrm>
            <a:off x="1361753" y="2697480"/>
            <a:ext cx="91440" cy="91440"/>
          </a:xfrm>
          <a:prstGeom prst="ellipse">
            <a:avLst/>
          </a:prstGeom>
          <a:solidFill>
            <a:srgbClr val="627267"/>
          </a:solidFill>
          <a:ln w="9525">
            <a:solidFill>
              <a:srgbClr val="FFFFFF"/>
            </a:solidFill>
            <a:prstDash val="solid"/>
          </a:ln>
        </p:spPr>
        <p:txBody>
          <a:bodyPr/>
          <a:p/>
        </p:txBody>
      </p:sp>
      <p:sp>
        <p:nvSpPr>
          <p:cNvPr id="13" name="Shape 11"/>
          <p:cNvSpPr/>
          <p:nvPr/>
        </p:nvSpPr>
        <p:spPr>
          <a:xfrm>
            <a:off x="1713445" y="3200400"/>
            <a:ext cx="91440" cy="91440"/>
          </a:xfrm>
          <a:prstGeom prst="ellipse">
            <a:avLst/>
          </a:prstGeom>
          <a:solidFill>
            <a:srgbClr val="DA291C"/>
          </a:solidFill>
          <a:ln w="9525">
            <a:solidFill>
              <a:srgbClr val="FFFFFF"/>
            </a:solidFill>
            <a:prstDash val="solid"/>
          </a:ln>
        </p:spPr>
        <p:txBody>
          <a:bodyPr/>
          <a:p/>
        </p:txBody>
      </p:sp>
      <p:sp>
        <p:nvSpPr>
          <p:cNvPr id="14" name="Shape 12"/>
          <p:cNvSpPr/>
          <p:nvPr/>
        </p:nvSpPr>
        <p:spPr>
          <a:xfrm>
            <a:off x="2065137" y="2468880"/>
            <a:ext cx="91440" cy="91440"/>
          </a:xfrm>
          <a:prstGeom prst="ellipse">
            <a:avLst/>
          </a:prstGeom>
          <a:solidFill>
            <a:srgbClr val="627267"/>
          </a:solidFill>
          <a:ln w="9525">
            <a:solidFill>
              <a:srgbClr val="FFFFFF"/>
            </a:solidFill>
            <a:prstDash val="solid"/>
          </a:ln>
        </p:spPr>
        <p:txBody>
          <a:bodyPr/>
          <a:p/>
        </p:txBody>
      </p:sp>
      <p:sp>
        <p:nvSpPr>
          <p:cNvPr id="15" name="Shape 13"/>
          <p:cNvSpPr/>
          <p:nvPr/>
        </p:nvSpPr>
        <p:spPr>
          <a:xfrm>
            <a:off x="2416830" y="2651760"/>
            <a:ext cx="91440" cy="91440"/>
          </a:xfrm>
          <a:prstGeom prst="ellipse">
            <a:avLst/>
          </a:prstGeom>
          <a:solidFill>
            <a:srgbClr val="627267"/>
          </a:solidFill>
          <a:ln w="9525">
            <a:solidFill>
              <a:srgbClr val="FFFFFF"/>
            </a:solidFill>
            <a:prstDash val="solid"/>
          </a:ln>
        </p:spPr>
        <p:txBody>
          <a:bodyPr/>
          <a:p/>
        </p:txBody>
      </p:sp>
      <p:sp>
        <p:nvSpPr>
          <p:cNvPr id="16" name="Shape 14"/>
          <p:cNvSpPr/>
          <p:nvPr/>
        </p:nvSpPr>
        <p:spPr>
          <a:xfrm>
            <a:off x="2768522" y="2217420"/>
            <a:ext cx="91440" cy="91440"/>
          </a:xfrm>
          <a:prstGeom prst="ellipse">
            <a:avLst/>
          </a:prstGeom>
          <a:solidFill>
            <a:srgbClr val="627267"/>
          </a:solidFill>
          <a:ln w="9525">
            <a:solidFill>
              <a:srgbClr val="FFFFFF"/>
            </a:solidFill>
            <a:prstDash val="solid"/>
          </a:ln>
        </p:spPr>
        <p:txBody>
          <a:bodyPr/>
          <a:p/>
        </p:txBody>
      </p:sp>
      <p:sp>
        <p:nvSpPr>
          <p:cNvPr id="17" name="Shape 15"/>
          <p:cNvSpPr/>
          <p:nvPr/>
        </p:nvSpPr>
        <p:spPr>
          <a:xfrm>
            <a:off x="3120214" y="2057400"/>
            <a:ext cx="91440" cy="91440"/>
          </a:xfrm>
          <a:prstGeom prst="ellipse">
            <a:avLst/>
          </a:prstGeom>
          <a:solidFill>
            <a:srgbClr val="036E3A"/>
          </a:solidFill>
          <a:ln w="9525">
            <a:solidFill>
              <a:srgbClr val="FFFFFF"/>
            </a:solidFill>
            <a:prstDash val="solid"/>
          </a:ln>
        </p:spPr>
        <p:txBody>
          <a:bodyPr/>
          <a:p/>
        </p:txBody>
      </p:sp>
      <p:sp>
        <p:nvSpPr>
          <p:cNvPr id="18" name="Shape 16"/>
          <p:cNvSpPr/>
          <p:nvPr/>
        </p:nvSpPr>
        <p:spPr>
          <a:xfrm>
            <a:off x="3471906" y="1920240"/>
            <a:ext cx="91440" cy="91440"/>
          </a:xfrm>
          <a:prstGeom prst="ellipse">
            <a:avLst/>
          </a:prstGeom>
          <a:solidFill>
            <a:srgbClr val="036E3A"/>
          </a:solidFill>
          <a:ln w="9525">
            <a:solidFill>
              <a:srgbClr val="FFFFFF"/>
            </a:solidFill>
            <a:prstDash val="solid"/>
          </a:ln>
        </p:spPr>
        <p:txBody>
          <a:bodyPr/>
          <a:p/>
        </p:txBody>
      </p:sp>
      <p:sp>
        <p:nvSpPr>
          <p:cNvPr id="19" name="Shape 17"/>
          <p:cNvSpPr/>
          <p:nvPr/>
        </p:nvSpPr>
        <p:spPr>
          <a:xfrm>
            <a:off x="3823599" y="2103120"/>
            <a:ext cx="91440" cy="91440"/>
          </a:xfrm>
          <a:prstGeom prst="ellipse">
            <a:avLst/>
          </a:prstGeom>
          <a:solidFill>
            <a:srgbClr val="036E3A"/>
          </a:solidFill>
          <a:ln w="9525">
            <a:solidFill>
              <a:srgbClr val="FFFFFF"/>
            </a:solidFill>
            <a:prstDash val="solid"/>
          </a:ln>
        </p:spPr>
        <p:txBody>
          <a:bodyPr/>
          <a:p/>
        </p:txBody>
      </p:sp>
      <p:sp>
        <p:nvSpPr>
          <p:cNvPr id="20" name="Shape 18"/>
          <p:cNvSpPr/>
          <p:nvPr/>
        </p:nvSpPr>
        <p:spPr>
          <a:xfrm>
            <a:off x="4175291" y="1828800"/>
            <a:ext cx="91440" cy="91440"/>
          </a:xfrm>
          <a:prstGeom prst="ellipse">
            <a:avLst/>
          </a:prstGeom>
          <a:solidFill>
            <a:srgbClr val="036E3A"/>
          </a:solidFill>
          <a:ln w="9525">
            <a:solidFill>
              <a:srgbClr val="FFFFFF"/>
            </a:solidFill>
            <a:prstDash val="solid"/>
          </a:ln>
        </p:spPr>
        <p:txBody>
          <a:bodyPr/>
          <a:p/>
        </p:txBody>
      </p:sp>
      <p:sp>
        <p:nvSpPr>
          <p:cNvPr id="21" name="Shape 19"/>
          <p:cNvSpPr/>
          <p:nvPr/>
        </p:nvSpPr>
        <p:spPr>
          <a:xfrm>
            <a:off x="4526983" y="1965960"/>
            <a:ext cx="91440" cy="91440"/>
          </a:xfrm>
          <a:prstGeom prst="ellipse">
            <a:avLst/>
          </a:prstGeom>
          <a:solidFill>
            <a:srgbClr val="036E3A"/>
          </a:solidFill>
          <a:ln w="9525">
            <a:solidFill>
              <a:srgbClr val="FFFFFF"/>
            </a:solidFill>
            <a:prstDash val="solid"/>
          </a:ln>
        </p:spPr>
        <p:txBody>
          <a:bodyPr/>
          <a:p/>
        </p:txBody>
      </p:sp>
      <p:sp>
        <p:nvSpPr>
          <p:cNvPr id="22" name="Shape 20"/>
          <p:cNvSpPr/>
          <p:nvPr/>
        </p:nvSpPr>
        <p:spPr>
          <a:xfrm>
            <a:off x="4878676" y="1737360"/>
            <a:ext cx="91440" cy="91440"/>
          </a:xfrm>
          <a:prstGeom prst="ellipse">
            <a:avLst/>
          </a:prstGeom>
          <a:solidFill>
            <a:srgbClr val="036E3A"/>
          </a:solidFill>
          <a:ln w="9525">
            <a:solidFill>
              <a:srgbClr val="FFFFFF"/>
            </a:solidFill>
            <a:prstDash val="solid"/>
          </a:ln>
        </p:spPr>
        <p:txBody>
          <a:bodyPr/>
          <a:p/>
        </p:txBody>
      </p:sp>
      <p:sp>
        <p:nvSpPr>
          <p:cNvPr id="23" name="Shape 21"/>
          <p:cNvSpPr/>
          <p:nvPr/>
        </p:nvSpPr>
        <p:spPr>
          <a:xfrm>
            <a:off x="5230368" y="1874520"/>
            <a:ext cx="91440" cy="91440"/>
          </a:xfrm>
          <a:prstGeom prst="ellipse">
            <a:avLst/>
          </a:prstGeom>
          <a:solidFill>
            <a:srgbClr val="036E3A"/>
          </a:solidFill>
          <a:ln w="9525">
            <a:solidFill>
              <a:srgbClr val="FFFFFF"/>
            </a:solidFill>
            <a:prstDash val="solid"/>
          </a:ln>
        </p:spPr>
        <p:txBody>
          <a:bodyPr/>
          <a:p/>
        </p:txBody>
      </p:sp>
      <p:sp>
        <p:nvSpPr>
          <p:cNvPr id="24" name="Text 22"/>
          <p:cNvSpPr/>
          <p:nvPr/>
        </p:nvSpPr>
        <p:spPr>
          <a:xfrm>
            <a:off x="1051560" y="3300984"/>
            <a:ext cx="2377440" cy="182880"/>
          </a:xfrm>
          <a:prstGeom prst="rect">
            <a:avLst/>
          </a:prstGeom>
          <a:noFill/>
          <a:ln/>
        </p:spPr>
        <p:txBody>
          <a:bodyPr wrap="square" lIns="0" tIns="0" rIns="0" bIns="0" rtlCol="0" anchor="ctr"/>
          <a:lstStyle/>
          <a:p>
            <a:pPr indent="0" marL="0">
              <a:buNone/>
            </a:pPr>
            <a:r>
              <a:rPr lang="en-US" sz="750" i="1" dirty="0">
                <a:solidFill>
                  <a:srgbClr val="DA291C"/>
                </a:solidFill>
                <a:latin typeface="Calibri" pitchFamily="34" charset="0"/>
                <a:ea typeface="Calibri" pitchFamily="34" charset="-122"/>
                <a:cs typeface="Calibri" pitchFamily="34" charset="-120"/>
              </a:rPr>
              <a:t>astronomical point — a story, not a signal</a:t>
            </a:r>
            <a:endParaRPr lang="en-US" sz="750" dirty="0"/>
          </a:p>
        </p:txBody>
      </p:sp>
      <p:sp>
        <p:nvSpPr>
          <p:cNvPr id="25" name="Text 23"/>
          <p:cNvSpPr/>
          <p:nvPr/>
        </p:nvSpPr>
        <p:spPr>
          <a:xfrm>
            <a:off x="3114446" y="1554480"/>
            <a:ext cx="2377440" cy="182880"/>
          </a:xfrm>
          <a:prstGeom prst="rect">
            <a:avLst/>
          </a:prstGeom>
          <a:noFill/>
          <a:ln/>
        </p:spPr>
        <p:txBody>
          <a:bodyPr wrap="square" lIns="0" tIns="0" rIns="0" bIns="0" rtlCol="0" anchor="ctr"/>
          <a:lstStyle/>
          <a:p>
            <a:pPr indent="0" marL="0">
              <a:buNone/>
            </a:pPr>
            <a:r>
              <a:rPr lang="en-US" sz="780" b="1" dirty="0">
                <a:solidFill>
                  <a:srgbClr val="036E3A"/>
                </a:solidFill>
                <a:latin typeface="Calibri" pitchFamily="34" charset="0"/>
                <a:ea typeface="Calibri" pitchFamily="34" charset="-122"/>
                <a:cs typeface="Calibri" pitchFamily="34" charset="-120"/>
              </a:rPr>
              <a:t>SHIFT — 6+ in a row above the median</a:t>
            </a:r>
            <a:endParaRPr lang="en-US" sz="780" dirty="0"/>
          </a:p>
        </p:txBody>
      </p:sp>
      <p:sp>
        <p:nvSpPr>
          <p:cNvPr id="26" name="Text 24"/>
          <p:cNvSpPr/>
          <p:nvPr/>
        </p:nvSpPr>
        <p:spPr>
          <a:xfrm>
            <a:off x="548640" y="3602736"/>
            <a:ext cx="5029200" cy="182880"/>
          </a:xfrm>
          <a:prstGeom prst="rect">
            <a:avLst/>
          </a:prstGeom>
          <a:noFill/>
          <a:ln/>
        </p:spPr>
        <p:txBody>
          <a:bodyPr wrap="square" lIns="0" tIns="0" rIns="0" bIns="0" rtlCol="0" anchor="ctr"/>
          <a:lstStyle/>
          <a:p>
            <a:pPr algn="ctr" indent="0" marL="0">
              <a:buNone/>
            </a:pPr>
            <a:r>
              <a:rPr lang="en-US" sz="750" i="1" dirty="0">
                <a:solidFill>
                  <a:srgbClr val="4A5A52"/>
                </a:solidFill>
                <a:latin typeface="Calibri" pitchFamily="34" charset="0"/>
                <a:ea typeface="Calibri" pitchFamily="34" charset="-122"/>
                <a:cs typeface="Calibri" pitchFamily="34" charset="-120"/>
              </a:rPr>
              <a:t>(example: % of drug charts with VTE assessment completed — rising after launch)</a:t>
            </a:r>
            <a:endParaRPr lang="en-US" sz="750" dirty="0"/>
          </a:p>
        </p:txBody>
      </p:sp>
      <p:sp>
        <p:nvSpPr>
          <p:cNvPr id="27" name="Shape 25"/>
          <p:cNvSpPr/>
          <p:nvPr/>
        </p:nvSpPr>
        <p:spPr>
          <a:xfrm>
            <a:off x="5897880" y="1005840"/>
            <a:ext cx="2788920" cy="841248"/>
          </a:xfrm>
          <a:prstGeom prst="roundRect">
            <a:avLst>
              <a:gd name="adj" fmla="val 7609"/>
            </a:avLst>
          </a:prstGeom>
          <a:solidFill>
            <a:srgbClr val="F1F6F2"/>
          </a:solidFill>
          <a:ln w="12700">
            <a:solidFill>
              <a:srgbClr val="F1F6F2"/>
            </a:solidFill>
            <a:prstDash val="solid"/>
          </a:ln>
        </p:spPr>
        <p:txBody>
          <a:bodyPr/>
          <a:p/>
        </p:txBody>
      </p:sp>
      <p:sp>
        <p:nvSpPr>
          <p:cNvPr id="28" name="Text 26"/>
          <p:cNvSpPr/>
          <p:nvPr/>
        </p:nvSpPr>
        <p:spPr>
          <a:xfrm>
            <a:off x="6044184" y="1097280"/>
            <a:ext cx="2514600" cy="237744"/>
          </a:xfrm>
          <a:prstGeom prst="rect">
            <a:avLst/>
          </a:prstGeom>
          <a:noFill/>
          <a:ln/>
        </p:spPr>
        <p:txBody>
          <a:bodyPr wrap="square" lIns="0" tIns="0" rIns="0" bIns="0" rtlCol="0" anchor="ctr"/>
          <a:lstStyle/>
          <a:p>
            <a:pPr indent="0" marL="0">
              <a:buNone/>
            </a:pPr>
            <a:r>
              <a:rPr lang="en-US" sz="1050" b="1" dirty="0">
                <a:solidFill>
                  <a:srgbClr val="036E3A"/>
                </a:solidFill>
                <a:latin typeface="Calibri" pitchFamily="34" charset="0"/>
                <a:ea typeface="Calibri" pitchFamily="34" charset="-122"/>
                <a:cs typeface="Calibri" pitchFamily="34" charset="-120"/>
              </a:rPr>
              <a:t>Shift</a:t>
            </a:r>
            <a:endParaRPr lang="en-US" sz="1050" dirty="0"/>
          </a:p>
        </p:txBody>
      </p:sp>
      <p:sp>
        <p:nvSpPr>
          <p:cNvPr id="29" name="Text 27"/>
          <p:cNvSpPr/>
          <p:nvPr/>
        </p:nvSpPr>
        <p:spPr>
          <a:xfrm>
            <a:off x="6044184" y="1353312"/>
            <a:ext cx="2514600" cy="457200"/>
          </a:xfrm>
          <a:prstGeom prst="rect">
            <a:avLst/>
          </a:prstGeom>
          <a:noFill/>
          <a:ln/>
        </p:spPr>
        <p:txBody>
          <a:bodyPr wrap="square" lIns="0" tIns="0" rIns="0" bIns="0" rtlCol="0" anchor="t"/>
          <a:lstStyle/>
          <a:p>
            <a:pPr indent="0" marL="0">
              <a:buNone/>
            </a:pPr>
            <a:r>
              <a:rPr lang="en-US" sz="880" dirty="0">
                <a:solidFill>
                  <a:srgbClr val="1B1B1B"/>
                </a:solidFill>
                <a:latin typeface="Calibri" pitchFamily="34" charset="0"/>
                <a:ea typeface="Calibri" pitchFamily="34" charset="-122"/>
                <a:cs typeface="Calibri" pitchFamily="34" charset="-120"/>
              </a:rPr>
              <a:t>6 or more consecutive dots on the same side of the median — that’s a real change.</a:t>
            </a:r>
            <a:endParaRPr lang="en-US" sz="880" dirty="0"/>
          </a:p>
        </p:txBody>
      </p:sp>
      <p:sp>
        <p:nvSpPr>
          <p:cNvPr id="30" name="Shape 28"/>
          <p:cNvSpPr/>
          <p:nvPr/>
        </p:nvSpPr>
        <p:spPr>
          <a:xfrm>
            <a:off x="5897880" y="1965960"/>
            <a:ext cx="2788920" cy="841248"/>
          </a:xfrm>
          <a:prstGeom prst="roundRect">
            <a:avLst>
              <a:gd name="adj" fmla="val 7609"/>
            </a:avLst>
          </a:prstGeom>
          <a:solidFill>
            <a:srgbClr val="F1F6F2"/>
          </a:solidFill>
          <a:ln w="12700">
            <a:solidFill>
              <a:srgbClr val="F1F6F2"/>
            </a:solidFill>
            <a:prstDash val="solid"/>
          </a:ln>
        </p:spPr>
        <p:txBody>
          <a:bodyPr/>
          <a:p/>
        </p:txBody>
      </p:sp>
      <p:sp>
        <p:nvSpPr>
          <p:cNvPr id="31" name="Text 29"/>
          <p:cNvSpPr/>
          <p:nvPr/>
        </p:nvSpPr>
        <p:spPr>
          <a:xfrm>
            <a:off x="6044184" y="2057400"/>
            <a:ext cx="2514600" cy="237744"/>
          </a:xfrm>
          <a:prstGeom prst="rect">
            <a:avLst/>
          </a:prstGeom>
          <a:noFill/>
          <a:ln/>
        </p:spPr>
        <p:txBody>
          <a:bodyPr wrap="square" lIns="0" tIns="0" rIns="0" bIns="0" rtlCol="0" anchor="ctr"/>
          <a:lstStyle/>
          <a:p>
            <a:pPr indent="0" marL="0">
              <a:buNone/>
            </a:pPr>
            <a:r>
              <a:rPr lang="en-US" sz="1050" b="1" dirty="0">
                <a:solidFill>
                  <a:srgbClr val="036E3A"/>
                </a:solidFill>
                <a:latin typeface="Calibri" pitchFamily="34" charset="0"/>
                <a:ea typeface="Calibri" pitchFamily="34" charset="-122"/>
                <a:cs typeface="Calibri" pitchFamily="34" charset="-120"/>
              </a:rPr>
              <a:t>Trend</a:t>
            </a:r>
            <a:endParaRPr lang="en-US" sz="1050" dirty="0"/>
          </a:p>
        </p:txBody>
      </p:sp>
      <p:sp>
        <p:nvSpPr>
          <p:cNvPr id="32" name="Text 30"/>
          <p:cNvSpPr/>
          <p:nvPr/>
        </p:nvSpPr>
        <p:spPr>
          <a:xfrm>
            <a:off x="6044184" y="2313432"/>
            <a:ext cx="2514600" cy="457200"/>
          </a:xfrm>
          <a:prstGeom prst="rect">
            <a:avLst/>
          </a:prstGeom>
          <a:noFill/>
          <a:ln/>
        </p:spPr>
        <p:txBody>
          <a:bodyPr wrap="square" lIns="0" tIns="0" rIns="0" bIns="0" rtlCol="0" anchor="t"/>
          <a:lstStyle/>
          <a:p>
            <a:pPr indent="0" marL="0">
              <a:buNone/>
            </a:pPr>
            <a:r>
              <a:rPr lang="en-US" sz="880" dirty="0">
                <a:solidFill>
                  <a:srgbClr val="1B1B1B"/>
                </a:solidFill>
                <a:latin typeface="Calibri" pitchFamily="34" charset="0"/>
                <a:ea typeface="Calibri" pitchFamily="34" charset="-122"/>
                <a:cs typeface="Calibri" pitchFamily="34" charset="-120"/>
              </a:rPr>
              <a:t>5 or more dots all rising, or all falling — drift, in either direction.</a:t>
            </a:r>
            <a:endParaRPr lang="en-US" sz="880" dirty="0"/>
          </a:p>
        </p:txBody>
      </p:sp>
      <p:sp>
        <p:nvSpPr>
          <p:cNvPr id="33" name="Shape 31"/>
          <p:cNvSpPr/>
          <p:nvPr/>
        </p:nvSpPr>
        <p:spPr>
          <a:xfrm>
            <a:off x="5897880" y="2926080"/>
            <a:ext cx="2788920" cy="841248"/>
          </a:xfrm>
          <a:prstGeom prst="roundRect">
            <a:avLst>
              <a:gd name="adj" fmla="val 7609"/>
            </a:avLst>
          </a:prstGeom>
          <a:solidFill>
            <a:srgbClr val="F1F6F2"/>
          </a:solidFill>
          <a:ln w="12700">
            <a:solidFill>
              <a:srgbClr val="F1F6F2"/>
            </a:solidFill>
            <a:prstDash val="solid"/>
          </a:ln>
        </p:spPr>
        <p:txBody>
          <a:bodyPr/>
          <a:p/>
        </p:txBody>
      </p:sp>
      <p:sp>
        <p:nvSpPr>
          <p:cNvPr id="34" name="Text 32"/>
          <p:cNvSpPr/>
          <p:nvPr/>
        </p:nvSpPr>
        <p:spPr>
          <a:xfrm>
            <a:off x="6044184" y="3017520"/>
            <a:ext cx="2514600" cy="237744"/>
          </a:xfrm>
          <a:prstGeom prst="rect">
            <a:avLst/>
          </a:prstGeom>
          <a:noFill/>
          <a:ln/>
        </p:spPr>
        <p:txBody>
          <a:bodyPr wrap="square" lIns="0" tIns="0" rIns="0" bIns="0" rtlCol="0" anchor="ctr"/>
          <a:lstStyle/>
          <a:p>
            <a:pPr indent="0" marL="0">
              <a:buNone/>
            </a:pPr>
            <a:r>
              <a:rPr lang="en-US" sz="1050" b="1" dirty="0">
                <a:solidFill>
                  <a:srgbClr val="036E3A"/>
                </a:solidFill>
                <a:latin typeface="Calibri" pitchFamily="34" charset="0"/>
                <a:ea typeface="Calibri" pitchFamily="34" charset="-122"/>
                <a:cs typeface="Calibri" pitchFamily="34" charset="-120"/>
              </a:rPr>
              <a:t>Astronomical point</a:t>
            </a:r>
            <a:endParaRPr lang="en-US" sz="1050" dirty="0"/>
          </a:p>
        </p:txBody>
      </p:sp>
      <p:sp>
        <p:nvSpPr>
          <p:cNvPr id="35" name="Text 33"/>
          <p:cNvSpPr/>
          <p:nvPr/>
        </p:nvSpPr>
        <p:spPr>
          <a:xfrm>
            <a:off x="6044184" y="3273552"/>
            <a:ext cx="2514600" cy="457200"/>
          </a:xfrm>
          <a:prstGeom prst="rect">
            <a:avLst/>
          </a:prstGeom>
          <a:noFill/>
          <a:ln/>
        </p:spPr>
        <p:txBody>
          <a:bodyPr wrap="square" lIns="0" tIns="0" rIns="0" bIns="0" rtlCol="0" anchor="t"/>
          <a:lstStyle/>
          <a:p>
            <a:pPr indent="0" marL="0">
              <a:buNone/>
            </a:pPr>
            <a:r>
              <a:rPr lang="en-US" sz="880" dirty="0">
                <a:solidFill>
                  <a:srgbClr val="1B1B1B"/>
                </a:solidFill>
                <a:latin typeface="Calibri" pitchFamily="34" charset="0"/>
                <a:ea typeface="Calibri" pitchFamily="34" charset="-122"/>
                <a:cs typeface="Calibri" pitchFamily="34" charset="-120"/>
              </a:rPr>
              <a:t>One wildly different dot. Check the diary for the story — don’t change course on it.</a:t>
            </a:r>
            <a:endParaRPr lang="en-US" sz="880" dirty="0"/>
          </a:p>
        </p:txBody>
      </p:sp>
      <p:sp>
        <p:nvSpPr>
          <p:cNvPr id="36" name="Text 34"/>
          <p:cNvSpPr/>
          <p:nvPr/>
        </p:nvSpPr>
        <p:spPr>
          <a:xfrm>
            <a:off x="457200" y="4114800"/>
            <a:ext cx="8229600" cy="548640"/>
          </a:xfrm>
          <a:prstGeom prst="roundRect">
            <a:avLst>
              <a:gd name="adj" fmla="val 11667"/>
            </a:avLst>
          </a:prstGeom>
          <a:solidFill>
            <a:srgbClr val="DCEFE3"/>
          </a:solidFill>
          <a:ln/>
        </p:spPr>
        <p:txBody>
          <a:bodyPr wrap="square" lIns="127000" tIns="127000" rIns="127000" bIns="127000" rtlCol="0" anchor="ctr"/>
          <a:lstStyle/>
          <a:p>
            <a:pPr indent="0" marL="0">
              <a:buNone/>
            </a:pPr>
            <a:r>
              <a:rPr lang="en-US" sz="950" b="1" dirty="0">
                <a:solidFill>
                  <a:srgbClr val="1B1B1B"/>
                </a:solidFill>
                <a:latin typeface="Calibri" pitchFamily="34" charset="0"/>
                <a:ea typeface="Calibri" pitchFamily="34" charset="-122"/>
                <a:cs typeface="Calibri" pitchFamily="34" charset="-120"/>
              </a:rPr>
              <a:t>Annotate everything, react to almost nothing.  </a:t>
            </a:r>
            <a:pPr indent="0" marL="0">
              <a:buNone/>
            </a:pPr>
            <a:r>
              <a:rPr lang="en-US" sz="950" dirty="0">
                <a:solidFill>
                  <a:srgbClr val="1B1B1B"/>
                </a:solidFill>
                <a:latin typeface="Calibri" pitchFamily="34" charset="0"/>
                <a:ea typeface="Calibri" pitchFamily="34" charset="-122"/>
                <a:cs typeface="Calibri" pitchFamily="34" charset="-120"/>
              </a:rPr>
              <a:t>Mark the launch, staffing changes, winter pressures on the chart — and never change course on a single dot. Aim for 10–12 dots before calling anything.</a:t>
            </a:r>
            <a:endParaRPr lang="en-US" sz="950" dirty="0"/>
          </a:p>
        </p:txBody>
      </p:sp>
      <p:sp>
        <p:nvSpPr>
          <p:cNvPr id="38" name="Text 35"/>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39" name="Text 36"/>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5 OF 7  —  STUDY</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Present Your Data</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5</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txBody>
          <a:bodyPr/>
          <a:p/>
        </p:txBody>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Plot baseline and post-change on ONE run chart — arrow at the change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Add the headline: before vs after, against your aim</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Say what surprised you, what helped, what got in the way</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Present for ten minutes at the QIP or governance meeting</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Ask the room: keep, tweak or drop the change?</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txBody>
          <a:bodyPr/>
          <a:p/>
        </p:txBody>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One Excel run chart and three messages. Honest beats impressive.</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txBody>
          <a:bodyPr/>
          <a:p/>
        </p:txBody>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The team has seen the chart and agreed what happens next.</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11 · 13</a:t>
            </a:r>
            <a:pPr indent="0" marL="0">
              <a:buNone/>
            </a:pPr>
            <a:r>
              <a:rPr lang="en-US" sz="850" i="1" dirty="0">
                <a:solidFill>
                  <a:srgbClr val="4A5A52"/>
                </a:solidFill>
                <a:latin typeface="Calibri" pitchFamily="34" charset="0"/>
                <a:ea typeface="Calibri" pitchFamily="34" charset="-122"/>
                <a:cs typeface="Calibri" pitchFamily="34" charset="-120"/>
              </a:rPr>
              <a:t>   — see the Reporting Guide for each.</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6 OF 7  —  ACT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The SQUIRE Write-Up</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6</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txBody>
          <a:bodyPr/>
          <a:p/>
        </p:txBody>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Start with the Reporting Guide — ‘what’s enough’ for each of the 18 items</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Want fill-in slides? The Presentation Template is optional — use only the ones you need</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Write the title and abstract last</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Run the 18-item self-check on the final slide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Submit it somewhere: local QIP day, regional meeting, poster</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txBody>
          <a:bodyPr/>
          <a:p/>
        </p:txBody>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A few honest sentences per item — SQUIRE itself says skip what doesn’t apply (and say why).</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txBody>
          <a:bodyPr/>
          <a:p/>
        </p:txBody>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All 18 items ticked (or justified) — and it’s submitted.</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1–18</a:t>
            </a:r>
            <a:pPr indent="0" marL="0">
              <a:buNone/>
            </a:pPr>
            <a:r>
              <a:rPr lang="en-US" sz="850" i="1" dirty="0">
                <a:solidFill>
                  <a:srgbClr val="4A5A52"/>
                </a:solidFill>
                <a:latin typeface="Calibri" pitchFamily="34" charset="0"/>
                <a:ea typeface="Calibri" pitchFamily="34" charset="-122"/>
                <a:cs typeface="Calibri" pitchFamily="34" charset="-120"/>
              </a:rPr>
              <a:t>   — this stage is the Reporting Guide.</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STAGE 7 OF 7  —  ACT → PLAN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Repeat the Cycle</a:t>
            </a:r>
            <a:endParaRPr lang="en-US" sz="2200" dirty="0"/>
          </a:p>
        </p:txBody>
      </p:sp>
      <p:sp>
        <p:nvSpPr>
          <p:cNvPr id="4" name="Text 2"/>
          <p:cNvSpPr/>
          <p:nvPr/>
        </p:nvSpPr>
        <p:spPr>
          <a:xfrm>
            <a:off x="7832750" y="292608"/>
            <a:ext cx="85405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STAGE 7</a:t>
            </a:r>
            <a:endParaRPr lang="en-US" sz="900" dirty="0"/>
          </a:p>
        </p:txBody>
      </p:sp>
      <p:sp>
        <p:nvSpPr>
          <p:cNvPr id="5" name="Shape 3"/>
          <p:cNvSpPr/>
          <p:nvPr/>
        </p:nvSpPr>
        <p:spPr>
          <a:xfrm>
            <a:off x="457200" y="932688"/>
            <a:ext cx="4892040" cy="3429000"/>
          </a:xfrm>
          <a:prstGeom prst="roundRect">
            <a:avLst>
              <a:gd name="adj" fmla="val 1867"/>
            </a:avLst>
          </a:prstGeom>
          <a:solidFill>
            <a:srgbClr val="F1F6F2"/>
          </a:solidFill>
          <a:ln w="12700">
            <a:solidFill>
              <a:srgbClr val="F1F6F2"/>
            </a:solidFill>
            <a:prstDash val="solid"/>
          </a:ln>
        </p:spPr>
        <p:txBody>
          <a:bodyPr/>
          <a:p/>
        </p:txBody>
      </p:sp>
      <p:sp>
        <p:nvSpPr>
          <p:cNvPr id="6" name="Text 4"/>
          <p:cNvSpPr/>
          <p:nvPr/>
        </p:nvSpPr>
        <p:spPr>
          <a:xfrm>
            <a:off x="603504" y="1060704"/>
            <a:ext cx="448056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 to do</a:t>
            </a:r>
            <a:endParaRPr lang="en-US" sz="1100" dirty="0"/>
          </a:p>
        </p:txBody>
      </p:sp>
      <p:sp>
        <p:nvSpPr>
          <p:cNvPr id="7" name="Text 5"/>
          <p:cNvSpPr/>
          <p:nvPr/>
        </p:nvSpPr>
        <p:spPr>
          <a:xfrm>
            <a:off x="603504" y="1389888"/>
            <a:ext cx="4572000"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Ask: what would we change after cycle 1?</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Adjust the intervention — or try the next driver</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Go round again from Stage 3 — the planning is already done</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Rotating on? Hand over the data plan, diary and run chart</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Think spread: could the next ward try it?</a:t>
            </a:r>
            <a:endParaRPr lang="en-US" sz="950" dirty="0"/>
          </a:p>
          <a:p>
            <a:pPr marL="342900" indent="-3429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Fill in the Workbook’s Share &amp; Replicate tab — one page, mostly auto-filled</a:t>
            </a:r>
            <a:endParaRPr lang="en-US" sz="950" dirty="0"/>
          </a:p>
        </p:txBody>
      </p:sp>
      <p:sp>
        <p:nvSpPr>
          <p:cNvPr id="8" name="Shape 6"/>
          <p:cNvSpPr/>
          <p:nvPr/>
        </p:nvSpPr>
        <p:spPr>
          <a:xfrm>
            <a:off x="5504688" y="932688"/>
            <a:ext cx="3182112" cy="1645920"/>
          </a:xfrm>
          <a:prstGeom prst="roundRect">
            <a:avLst>
              <a:gd name="adj" fmla="val 3889"/>
            </a:avLst>
          </a:prstGeom>
          <a:solidFill>
            <a:srgbClr val="DCEFE3"/>
          </a:solidFill>
          <a:ln w="12700">
            <a:solidFill>
              <a:srgbClr val="DCEFE3"/>
            </a:solidFill>
            <a:prstDash val="solid"/>
          </a:ln>
        </p:spPr>
        <p:txBody>
          <a:bodyPr/>
          <a:p/>
        </p:txBody>
      </p:sp>
      <p:sp>
        <p:nvSpPr>
          <p:cNvPr id="9" name="Text 7"/>
          <p:cNvSpPr/>
          <p:nvPr/>
        </p:nvSpPr>
        <p:spPr>
          <a:xfrm>
            <a:off x="5650992" y="106070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What’s enough</a:t>
            </a:r>
            <a:endParaRPr lang="en-US" sz="1100" dirty="0"/>
          </a:p>
        </p:txBody>
      </p:sp>
      <p:sp>
        <p:nvSpPr>
          <p:cNvPr id="10" name="Text 8"/>
          <p:cNvSpPr/>
          <p:nvPr/>
        </p:nvSpPr>
        <p:spPr>
          <a:xfrm>
            <a:off x="5650992" y="137160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Cycle 2 is smaller than cycle 1 — you’re refining, not restarting. One page is enough to pass it on.</a:t>
            </a:r>
            <a:endParaRPr lang="en-US" sz="950" dirty="0"/>
          </a:p>
        </p:txBody>
      </p:sp>
      <p:sp>
        <p:nvSpPr>
          <p:cNvPr id="11" name="Shape 9"/>
          <p:cNvSpPr/>
          <p:nvPr/>
        </p:nvSpPr>
        <p:spPr>
          <a:xfrm>
            <a:off x="5504688" y="2715768"/>
            <a:ext cx="3182112" cy="1645920"/>
          </a:xfrm>
          <a:prstGeom prst="roundRect">
            <a:avLst>
              <a:gd name="adj" fmla="val 3889"/>
            </a:avLst>
          </a:prstGeom>
          <a:solidFill>
            <a:srgbClr val="F1F6F2"/>
          </a:solidFill>
          <a:ln w="12700">
            <a:solidFill>
              <a:srgbClr val="F1F6F2"/>
            </a:solidFill>
            <a:prstDash val="solid"/>
          </a:ln>
        </p:spPr>
        <p:txBody>
          <a:bodyPr/>
          <a:p/>
        </p:txBody>
      </p:sp>
      <p:sp>
        <p:nvSpPr>
          <p:cNvPr id="12" name="Text 10"/>
          <p:cNvSpPr/>
          <p:nvPr/>
        </p:nvSpPr>
        <p:spPr>
          <a:xfrm>
            <a:off x="5650992" y="2843784"/>
            <a:ext cx="2889504"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You’re done when…</a:t>
            </a:r>
            <a:endParaRPr lang="en-US" sz="1100" dirty="0"/>
          </a:p>
        </p:txBody>
      </p:sp>
      <p:sp>
        <p:nvSpPr>
          <p:cNvPr id="13" name="Text 11"/>
          <p:cNvSpPr/>
          <p:nvPr/>
        </p:nvSpPr>
        <p:spPr>
          <a:xfrm>
            <a:off x="5650992" y="3154680"/>
            <a:ext cx="2889504" cy="1115568"/>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The next cycle has an owner and a start date — even if it isn’t you.</a:t>
            </a:r>
            <a:endParaRPr lang="en-US" sz="950" dirty="0"/>
          </a:p>
        </p:txBody>
      </p:sp>
      <p:sp>
        <p:nvSpPr>
          <p:cNvPr id="14" name="Text 12"/>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36E3A"/>
                </a:solidFill>
                <a:latin typeface="Calibri" pitchFamily="34" charset="0"/>
                <a:ea typeface="Calibri" pitchFamily="34" charset="-122"/>
                <a:cs typeface="Calibri" pitchFamily="34" charset="-120"/>
              </a:rPr>
              <a:t>FEEDS SQUIRE ITEMS</a:t>
            </a:r>
            <a:pPr indent="0" marL="0">
              <a:buNone/>
            </a:pPr>
            <a:r>
              <a:rPr lang="en-US" sz="950" b="1" dirty="0">
                <a:solidFill>
                  <a:srgbClr val="036E3A"/>
                </a:solidFill>
                <a:latin typeface="Calibri" pitchFamily="34" charset="0"/>
                <a:ea typeface="Calibri" pitchFamily="34" charset="-122"/>
                <a:cs typeface="Calibri" pitchFamily="34" charset="-120"/>
              </a:rPr>
              <a:t>   17</a:t>
            </a:r>
            <a:pPr indent="0" marL="0">
              <a:buNone/>
            </a:pPr>
            <a:r>
              <a:rPr lang="en-US" sz="850" i="1" dirty="0">
                <a:solidFill>
                  <a:srgbClr val="4A5A52"/>
                </a:solidFill>
                <a:latin typeface="Calibri" pitchFamily="34" charset="0"/>
                <a:ea typeface="Calibri" pitchFamily="34" charset="-122"/>
                <a:cs typeface="Calibri" pitchFamily="34" charset="-120"/>
              </a:rPr>
              <a:t>   — next steps, spread, sustainability.</a:t>
            </a:r>
            <a:endParaRPr lang="en-US" sz="800" dirty="0"/>
          </a:p>
        </p:txBody>
      </p:sp>
      <p:sp>
        <p:nvSpPr>
          <p:cNvPr id="16" name="Text 1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17" name="Text 1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OPTIONAL EXTRA — FOR WHEN YOU PRESENT YOUR WORK (STAGE 5 ONWARDS)</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Bringing a Presentation to Life</a:t>
            </a:r>
            <a:endParaRPr lang="en-US" sz="2200" dirty="0"/>
          </a:p>
        </p:txBody>
      </p:sp>
      <p:sp>
        <p:nvSpPr>
          <p:cNvPr id="4" name="Text 2"/>
          <p:cNvSpPr/>
          <p:nvPr/>
        </p:nvSpPr>
        <p:spPr>
          <a:xfrm>
            <a:off x="7757770" y="292608"/>
            <a:ext cx="929030" cy="310896"/>
          </a:xfrm>
          <a:prstGeom prst="roundRect">
            <a:avLst>
              <a:gd name="adj" fmla="val 47059"/>
            </a:avLst>
          </a:prstGeom>
          <a:solidFill>
            <a:srgbClr val="036E3A"/>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OPTIONAL</a:t>
            </a:r>
            <a:endParaRPr lang="en-US" sz="900" dirty="0"/>
          </a:p>
        </p:txBody>
      </p:sp>
      <p:sp>
        <p:nvSpPr>
          <p:cNvPr id="5" name="Text 3"/>
          <p:cNvSpPr/>
          <p:nvPr/>
        </p:nvSpPr>
        <p:spPr>
          <a:xfrm>
            <a:off x="457200" y="868680"/>
            <a:ext cx="8229600" cy="274320"/>
          </a:xfrm>
          <a:prstGeom prst="rect">
            <a:avLst/>
          </a:prstGeom>
          <a:noFill/>
          <a:ln/>
        </p:spPr>
        <p:txBody>
          <a:bodyPr wrap="square" lIns="0" tIns="0" rIns="0" bIns="0" rtlCol="0" anchor="ctr"/>
          <a:lstStyle/>
          <a:p>
            <a:pPr indent="0" marL="0">
              <a:buNone/>
            </a:pPr>
            <a:r>
              <a:rPr lang="en-US" sz="1000" dirty="0">
                <a:solidFill>
                  <a:srgbClr val="1B1B1B"/>
                </a:solidFill>
                <a:latin typeface="Calibri" pitchFamily="34" charset="0"/>
                <a:ea typeface="Calibri" pitchFamily="34" charset="-122"/>
                <a:cs typeface="Calibri" pitchFamily="34" charset="-120"/>
              </a:rPr>
              <a:t>The pitch itself stays five plain sentences. But when you present the finished work, three story moves lift a talk:</a:t>
            </a:r>
            <a:endParaRPr lang="en-US" sz="1000" dirty="0"/>
          </a:p>
        </p:txBody>
      </p:sp>
      <p:sp>
        <p:nvSpPr>
          <p:cNvPr id="6" name="Shape 4"/>
          <p:cNvSpPr/>
          <p:nvPr/>
        </p:nvSpPr>
        <p:spPr>
          <a:xfrm>
            <a:off x="457200" y="1280160"/>
            <a:ext cx="2624328" cy="2606040"/>
          </a:xfrm>
          <a:prstGeom prst="roundRect">
            <a:avLst>
              <a:gd name="adj" fmla="val 2456"/>
            </a:avLst>
          </a:prstGeom>
          <a:solidFill>
            <a:srgbClr val="F1F6F2"/>
          </a:solidFill>
          <a:ln w="12700">
            <a:solidFill>
              <a:srgbClr val="F1F6F2"/>
            </a:solidFill>
            <a:prstDash val="solid"/>
          </a:ln>
        </p:spPr>
        <p:txBody>
          <a:bodyPr/>
          <a:p/>
        </p:txBody>
      </p:sp>
      <p:sp>
        <p:nvSpPr>
          <p:cNvPr id="7" name="Text 5"/>
          <p:cNvSpPr/>
          <p:nvPr/>
        </p:nvSpPr>
        <p:spPr>
          <a:xfrm>
            <a:off x="603504" y="1408176"/>
            <a:ext cx="2331720" cy="5029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Opening — your reason for being</a:t>
            </a:r>
            <a:endParaRPr lang="en-US" sz="1100" dirty="0"/>
          </a:p>
        </p:txBody>
      </p:sp>
      <p:sp>
        <p:nvSpPr>
          <p:cNvPr id="8" name="Text 6"/>
          <p:cNvSpPr/>
          <p:nvPr/>
        </p:nvSpPr>
        <p:spPr>
          <a:xfrm>
            <a:off x="603504" y="1975104"/>
            <a:ext cx="2331720" cy="868680"/>
          </a:xfrm>
          <a:prstGeom prst="rect">
            <a:avLst/>
          </a:prstGeom>
          <a:noFill/>
          <a:ln/>
        </p:spPr>
        <p:txBody>
          <a:bodyPr wrap="square" lIns="0" tIns="0" rIns="0" bIns="0" rtlCol="0" anchor="ctr"/>
          <a:lstStyle/>
          <a:p>
            <a:pPr indent="0" marL="0">
              <a:buNone/>
            </a:pPr>
            <a:r>
              <a:rPr lang="en-US" sz="930" dirty="0">
                <a:solidFill>
                  <a:srgbClr val="1B1B1B"/>
                </a:solidFill>
                <a:latin typeface="Calibri" pitchFamily="34" charset="0"/>
                <a:ea typeface="Calibri" pitchFamily="34" charset="-122"/>
                <a:cs typeface="Calibri" pitchFamily="34" charset="-120"/>
              </a:rPr>
              <a:t>One or two sentences on the moment this problem got under your skin — your ‘aha’ moment.</a:t>
            </a:r>
            <a:endParaRPr lang="en-US" sz="930" dirty="0"/>
          </a:p>
        </p:txBody>
      </p:sp>
      <p:sp>
        <p:nvSpPr>
          <p:cNvPr id="9" name="Text 7"/>
          <p:cNvSpPr/>
          <p:nvPr/>
        </p:nvSpPr>
        <p:spPr>
          <a:xfrm>
            <a:off x="603504" y="2926080"/>
            <a:ext cx="2331720" cy="841248"/>
          </a:xfrm>
          <a:prstGeom prst="rect">
            <a:avLst/>
          </a:prstGeom>
          <a:noFill/>
          <a:ln/>
        </p:spPr>
        <p:txBody>
          <a:bodyPr wrap="square" lIns="0" tIns="0" rIns="0" bIns="0" rtlCol="0" anchor="ctr"/>
          <a:lstStyle/>
          <a:p>
            <a:pPr indent="0" marL="0">
              <a:buNone/>
            </a:pPr>
            <a:r>
              <a:rPr lang="en-US" sz="860" i="1" dirty="0">
                <a:solidFill>
                  <a:srgbClr val="4A5A52"/>
                </a:solidFill>
                <a:latin typeface="Calibri" pitchFamily="34" charset="0"/>
                <a:ea typeface="Calibri" pitchFamily="34" charset="-122"/>
                <a:cs typeface="Calibri" pitchFamily="34" charset="-120"/>
              </a:rPr>
              <a:t>“The third time I watched a patient reattend for an infusion they didn’t need, I started counting.”</a:t>
            </a:r>
            <a:endParaRPr lang="en-US" sz="860" dirty="0"/>
          </a:p>
        </p:txBody>
      </p:sp>
      <p:sp>
        <p:nvSpPr>
          <p:cNvPr id="10" name="Shape 8"/>
          <p:cNvSpPr/>
          <p:nvPr/>
        </p:nvSpPr>
        <p:spPr>
          <a:xfrm>
            <a:off x="3259836" y="1280160"/>
            <a:ext cx="2624328" cy="2606040"/>
          </a:xfrm>
          <a:prstGeom prst="roundRect">
            <a:avLst>
              <a:gd name="adj" fmla="val 2456"/>
            </a:avLst>
          </a:prstGeom>
          <a:solidFill>
            <a:srgbClr val="F1F6F2"/>
          </a:solidFill>
          <a:ln w="12700">
            <a:solidFill>
              <a:srgbClr val="F1F6F2"/>
            </a:solidFill>
            <a:prstDash val="solid"/>
          </a:ln>
        </p:spPr>
        <p:txBody>
          <a:bodyPr/>
          <a:p/>
        </p:txBody>
      </p:sp>
      <p:sp>
        <p:nvSpPr>
          <p:cNvPr id="11" name="Text 9"/>
          <p:cNvSpPr/>
          <p:nvPr/>
        </p:nvSpPr>
        <p:spPr>
          <a:xfrm>
            <a:off x="3406140" y="1408176"/>
            <a:ext cx="2331720" cy="5029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Callback</a:t>
            </a:r>
            <a:endParaRPr lang="en-US" sz="1100" dirty="0"/>
          </a:p>
        </p:txBody>
      </p:sp>
      <p:sp>
        <p:nvSpPr>
          <p:cNvPr id="12" name="Text 10"/>
          <p:cNvSpPr/>
          <p:nvPr/>
        </p:nvSpPr>
        <p:spPr>
          <a:xfrm>
            <a:off x="3406140" y="1975104"/>
            <a:ext cx="2331720" cy="868680"/>
          </a:xfrm>
          <a:prstGeom prst="rect">
            <a:avLst/>
          </a:prstGeom>
          <a:noFill/>
          <a:ln/>
        </p:spPr>
        <p:txBody>
          <a:bodyPr wrap="square" lIns="0" tIns="0" rIns="0" bIns="0" rtlCol="0" anchor="ctr"/>
          <a:lstStyle/>
          <a:p>
            <a:pPr indent="0" marL="0">
              <a:buNone/>
            </a:pPr>
            <a:r>
              <a:rPr lang="en-US" sz="930" dirty="0">
                <a:solidFill>
                  <a:srgbClr val="1B1B1B"/>
                </a:solidFill>
                <a:latin typeface="Calibri" pitchFamily="34" charset="0"/>
                <a:ea typeface="Calibri" pitchFamily="34" charset="-122"/>
                <a:cs typeface="Calibri" pitchFamily="34" charset="-120"/>
              </a:rPr>
              <a:t>Later in the talk, return to that opening with a short anecdote that confirms it.</a:t>
            </a:r>
            <a:endParaRPr lang="en-US" sz="930" dirty="0"/>
          </a:p>
        </p:txBody>
      </p:sp>
      <p:sp>
        <p:nvSpPr>
          <p:cNvPr id="13" name="Text 11"/>
          <p:cNvSpPr/>
          <p:nvPr/>
        </p:nvSpPr>
        <p:spPr>
          <a:xfrm>
            <a:off x="3406140" y="2926080"/>
            <a:ext cx="2331720" cy="841248"/>
          </a:xfrm>
          <a:prstGeom prst="rect">
            <a:avLst/>
          </a:prstGeom>
          <a:noFill/>
          <a:ln/>
        </p:spPr>
        <p:txBody>
          <a:bodyPr wrap="square" lIns="0" tIns="0" rIns="0" bIns="0" rtlCol="0" anchor="ctr"/>
          <a:lstStyle/>
          <a:p>
            <a:pPr indent="0" marL="0">
              <a:buNone/>
            </a:pPr>
            <a:r>
              <a:rPr lang="en-US" sz="860" i="1" dirty="0">
                <a:solidFill>
                  <a:srgbClr val="4A5A52"/>
                </a:solidFill>
                <a:latin typeface="Calibri" pitchFamily="34" charset="0"/>
                <a:ea typeface="Calibri" pitchFamily="34" charset="-122"/>
                <a:cs typeface="Calibri" pitchFamily="34" charset="-120"/>
              </a:rPr>
              <a:t>“Remember that third patient? She’s why the pathway carries a reattendance measure.”</a:t>
            </a:r>
            <a:endParaRPr lang="en-US" sz="860" dirty="0"/>
          </a:p>
        </p:txBody>
      </p:sp>
      <p:sp>
        <p:nvSpPr>
          <p:cNvPr id="14" name="Shape 12"/>
          <p:cNvSpPr/>
          <p:nvPr/>
        </p:nvSpPr>
        <p:spPr>
          <a:xfrm>
            <a:off x="6062472" y="1280160"/>
            <a:ext cx="2624328" cy="2606040"/>
          </a:xfrm>
          <a:prstGeom prst="roundRect">
            <a:avLst>
              <a:gd name="adj" fmla="val 2456"/>
            </a:avLst>
          </a:prstGeom>
          <a:solidFill>
            <a:srgbClr val="F1F6F2"/>
          </a:solidFill>
          <a:ln w="12700">
            <a:solidFill>
              <a:srgbClr val="F1F6F2"/>
            </a:solidFill>
            <a:prstDash val="solid"/>
          </a:ln>
        </p:spPr>
        <p:txBody>
          <a:bodyPr/>
          <a:p/>
        </p:txBody>
      </p:sp>
      <p:sp>
        <p:nvSpPr>
          <p:cNvPr id="15" name="Text 13"/>
          <p:cNvSpPr/>
          <p:nvPr/>
        </p:nvSpPr>
        <p:spPr>
          <a:xfrm>
            <a:off x="6208776" y="1408176"/>
            <a:ext cx="2331720" cy="5029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The ‘All Is Lost’ Moment</a:t>
            </a:r>
            <a:endParaRPr lang="en-US" sz="1100" dirty="0"/>
          </a:p>
        </p:txBody>
      </p:sp>
      <p:sp>
        <p:nvSpPr>
          <p:cNvPr id="16" name="Text 14"/>
          <p:cNvSpPr/>
          <p:nvPr/>
        </p:nvSpPr>
        <p:spPr>
          <a:xfrm>
            <a:off x="6208776" y="1975104"/>
            <a:ext cx="2331720" cy="868680"/>
          </a:xfrm>
          <a:prstGeom prst="rect">
            <a:avLst/>
          </a:prstGeom>
          <a:noFill/>
          <a:ln/>
        </p:spPr>
        <p:txBody>
          <a:bodyPr wrap="square" lIns="0" tIns="0" rIns="0" bIns="0" rtlCol="0" anchor="ctr"/>
          <a:lstStyle/>
          <a:p>
            <a:pPr indent="0" marL="0">
              <a:buNone/>
            </a:pPr>
            <a:r>
              <a:rPr lang="en-US" sz="930" dirty="0">
                <a:solidFill>
                  <a:srgbClr val="1B1B1B"/>
                </a:solidFill>
                <a:latin typeface="Calibri" pitchFamily="34" charset="0"/>
                <a:ea typeface="Calibri" pitchFamily="34" charset="-122"/>
                <a:cs typeface="Calibri" pitchFamily="34" charset="-120"/>
              </a:rPr>
              <a:t>Name the problem that nearly sank — or still threatens — the project, then how you’ll overcome it.</a:t>
            </a:r>
            <a:endParaRPr lang="en-US" sz="930" dirty="0"/>
          </a:p>
        </p:txBody>
      </p:sp>
      <p:sp>
        <p:nvSpPr>
          <p:cNvPr id="17" name="Text 15"/>
          <p:cNvSpPr/>
          <p:nvPr/>
        </p:nvSpPr>
        <p:spPr>
          <a:xfrm>
            <a:off x="6208776" y="2926080"/>
            <a:ext cx="2331720" cy="841248"/>
          </a:xfrm>
          <a:prstGeom prst="rect">
            <a:avLst/>
          </a:prstGeom>
          <a:noFill/>
          <a:ln/>
        </p:spPr>
        <p:txBody>
          <a:bodyPr wrap="square" lIns="0" tIns="0" rIns="0" bIns="0" rtlCol="0" anchor="ctr"/>
          <a:lstStyle/>
          <a:p>
            <a:pPr indent="0" marL="0">
              <a:buNone/>
            </a:pPr>
            <a:r>
              <a:rPr lang="en-US" sz="860" i="1" dirty="0">
                <a:solidFill>
                  <a:srgbClr val="4A5A52"/>
                </a:solidFill>
                <a:latin typeface="Calibri" pitchFamily="34" charset="0"/>
                <a:ea typeface="Calibri" pitchFamily="34" charset="-122"/>
                <a:cs typeface="Calibri" pitchFamily="34" charset="-120"/>
              </a:rPr>
              <a:t>“Pharmacy sign-off stalled for a month — so we took it to the joint medicines committee.”</a:t>
            </a:r>
            <a:endParaRPr lang="en-US" sz="860" dirty="0"/>
          </a:p>
        </p:txBody>
      </p:sp>
      <p:sp>
        <p:nvSpPr>
          <p:cNvPr id="18" name="Text 16"/>
          <p:cNvSpPr/>
          <p:nvPr/>
        </p:nvSpPr>
        <p:spPr>
          <a:xfrm>
            <a:off x="457200" y="4069080"/>
            <a:ext cx="8229600" cy="502920"/>
          </a:xfrm>
          <a:prstGeom prst="roundRect">
            <a:avLst>
              <a:gd name="adj" fmla="val 12727"/>
            </a:avLst>
          </a:prstGeom>
          <a:solidFill>
            <a:srgbClr val="DCEFE3"/>
          </a:solidFill>
          <a:ln/>
        </p:spPr>
        <p:txBody>
          <a:bodyPr wrap="square" lIns="127000" tIns="127000" rIns="127000" bIns="127000" rtlCol="0" anchor="ctr"/>
          <a:lstStyle/>
          <a:p>
            <a:pPr indent="0" marL="0">
              <a:buNone/>
            </a:pPr>
            <a:r>
              <a:rPr lang="en-US" sz="1000" b="1" dirty="0">
                <a:solidFill>
                  <a:srgbClr val="1B1B1B"/>
                </a:solidFill>
                <a:latin typeface="Calibri" pitchFamily="34" charset="0"/>
                <a:ea typeface="Calibri" pitchFamily="34" charset="-122"/>
                <a:cs typeface="Calibri" pitchFamily="34" charset="-120"/>
              </a:rPr>
              <a:t>Save these for Stage 5 and beyond.  </a:t>
            </a:r>
            <a:pPr indent="0" marL="0">
              <a:buNone/>
            </a:pPr>
            <a:r>
              <a:rPr lang="en-US" sz="1000" dirty="0">
                <a:solidFill>
                  <a:srgbClr val="1B1B1B"/>
                </a:solidFill>
                <a:latin typeface="Calibri" pitchFamily="34" charset="0"/>
                <a:ea typeface="Calibri" pitchFamily="34" charset="-122"/>
                <a:cs typeface="Calibri" pitchFamily="34" charset="-120"/>
              </a:rPr>
              <a:t>“What is it?” and “How does it work?” are still what the room decides on — the story moves make the answers land.</a:t>
            </a:r>
            <a:endParaRPr lang="en-US" sz="1000" dirty="0"/>
          </a:p>
        </p:txBody>
      </p:sp>
      <p:sp>
        <p:nvSpPr>
          <p:cNvPr id="20" name="Text 1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1" name="Text 1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36E3A"/>
                </a:solidFill>
                <a:latin typeface="Calibri" pitchFamily="34" charset="0"/>
                <a:ea typeface="Calibri" pitchFamily="34" charset="-122"/>
                <a:cs typeface="Calibri" pitchFamily="34" charset="-120"/>
              </a:rPr>
              <a:t>A REALISTIC TIMETABLE — STRETCH OR SHRINK TO FIT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1B1B1B"/>
                </a:solidFill>
                <a:latin typeface="Calibri" pitchFamily="34" charset="0"/>
                <a:ea typeface="Calibri" pitchFamily="34" charset="-122"/>
                <a:cs typeface="Calibri" pitchFamily="34" charset="-120"/>
              </a:rPr>
              <a:t>Fits a Four-Month Rotation</a:t>
            </a:r>
            <a:endParaRPr lang="en-US" sz="2200" dirty="0"/>
          </a:p>
        </p:txBody>
      </p:sp>
      <p:sp>
        <p:nvSpPr>
          <p:cNvPr id="4" name="Shape 2"/>
          <p:cNvSpPr/>
          <p:nvPr/>
        </p:nvSpPr>
        <p:spPr>
          <a:xfrm>
            <a:off x="1005840" y="1463040"/>
            <a:ext cx="7132320" cy="13716"/>
          </a:xfrm>
          <a:prstGeom prst="rect">
            <a:avLst/>
          </a:prstGeom>
          <a:solidFill>
            <a:srgbClr val="D4E0D8"/>
          </a:solidFill>
          <a:ln w="12700">
            <a:solidFill>
              <a:srgbClr val="D4E0D8"/>
            </a:solidFill>
            <a:prstDash val="solid"/>
          </a:ln>
        </p:spPr>
        <p:txBody>
          <a:bodyPr/>
          <a:p/>
        </p:txBody>
      </p:sp>
      <p:sp>
        <p:nvSpPr>
          <p:cNvPr id="5" name="Text 3"/>
          <p:cNvSpPr/>
          <p:nvPr/>
        </p:nvSpPr>
        <p:spPr>
          <a:xfrm>
            <a:off x="1005840"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365760"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Pitch</a:t>
            </a:r>
            <a:endParaRPr lang="en-US" sz="950" dirty="0"/>
          </a:p>
        </p:txBody>
      </p:sp>
      <p:sp>
        <p:nvSpPr>
          <p:cNvPr id="7" name="Text 5"/>
          <p:cNvSpPr/>
          <p:nvPr/>
        </p:nvSpPr>
        <p:spPr>
          <a:xfrm>
            <a:off x="365760"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1–2</a:t>
            </a:r>
            <a:endParaRPr lang="en-US" sz="850" dirty="0"/>
          </a:p>
        </p:txBody>
      </p:sp>
      <p:sp>
        <p:nvSpPr>
          <p:cNvPr id="8" name="Text 6"/>
          <p:cNvSpPr/>
          <p:nvPr/>
        </p:nvSpPr>
        <p:spPr>
          <a:xfrm>
            <a:off x="2670048"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2029968"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Plan &amp; baseline</a:t>
            </a:r>
            <a:endParaRPr lang="en-US" sz="950" dirty="0"/>
          </a:p>
        </p:txBody>
      </p:sp>
      <p:sp>
        <p:nvSpPr>
          <p:cNvPr id="10" name="Text 8"/>
          <p:cNvSpPr/>
          <p:nvPr/>
        </p:nvSpPr>
        <p:spPr>
          <a:xfrm>
            <a:off x="2029968"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3–6</a:t>
            </a:r>
            <a:endParaRPr lang="en-US" sz="850" dirty="0"/>
          </a:p>
        </p:txBody>
      </p:sp>
      <p:sp>
        <p:nvSpPr>
          <p:cNvPr id="11" name="Text 9"/>
          <p:cNvSpPr/>
          <p:nvPr/>
        </p:nvSpPr>
        <p:spPr>
          <a:xfrm>
            <a:off x="4334256"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3694176"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Plan the change</a:t>
            </a:r>
            <a:endParaRPr lang="en-US" sz="950" dirty="0"/>
          </a:p>
        </p:txBody>
      </p:sp>
      <p:sp>
        <p:nvSpPr>
          <p:cNvPr id="13" name="Text 11"/>
          <p:cNvSpPr/>
          <p:nvPr/>
        </p:nvSpPr>
        <p:spPr>
          <a:xfrm>
            <a:off x="3694176"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 7</a:t>
            </a:r>
            <a:endParaRPr lang="en-US" sz="850" dirty="0"/>
          </a:p>
        </p:txBody>
      </p:sp>
      <p:sp>
        <p:nvSpPr>
          <p:cNvPr id="14" name="Text 12"/>
          <p:cNvSpPr/>
          <p:nvPr/>
        </p:nvSpPr>
        <p:spPr>
          <a:xfrm>
            <a:off x="5998464" y="1243584"/>
            <a:ext cx="457200" cy="457200"/>
          </a:xfrm>
          <a:prstGeom prst="ellipse">
            <a:avLst/>
          </a:prstGeom>
          <a:solidFill>
            <a:srgbClr val="036E3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5358384"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Deliver &amp; measure</a:t>
            </a:r>
            <a:endParaRPr lang="en-US" sz="950" dirty="0"/>
          </a:p>
        </p:txBody>
      </p:sp>
      <p:sp>
        <p:nvSpPr>
          <p:cNvPr id="16" name="Text 14"/>
          <p:cNvSpPr/>
          <p:nvPr/>
        </p:nvSpPr>
        <p:spPr>
          <a:xfrm>
            <a:off x="5358384"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8–13</a:t>
            </a:r>
            <a:endParaRPr lang="en-US" sz="850" dirty="0"/>
          </a:p>
        </p:txBody>
      </p:sp>
      <p:sp>
        <p:nvSpPr>
          <p:cNvPr id="17" name="Text 15"/>
          <p:cNvSpPr/>
          <p:nvPr/>
        </p:nvSpPr>
        <p:spPr>
          <a:xfrm>
            <a:off x="7662672" y="1243584"/>
            <a:ext cx="457200" cy="457200"/>
          </a:xfrm>
          <a:prstGeom prst="ellipse">
            <a:avLst/>
          </a:prstGeom>
          <a:solidFill>
            <a:srgbClr val="036E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5–6</a:t>
            </a:r>
            <a:endParaRPr lang="en-US" sz="1050" dirty="0"/>
          </a:p>
        </p:txBody>
      </p:sp>
      <p:sp>
        <p:nvSpPr>
          <p:cNvPr id="18" name="Text 16"/>
          <p:cNvSpPr/>
          <p:nvPr/>
        </p:nvSpPr>
        <p:spPr>
          <a:xfrm>
            <a:off x="7022592" y="1828800"/>
            <a:ext cx="1737360" cy="384048"/>
          </a:xfrm>
          <a:prstGeom prst="rect">
            <a:avLst/>
          </a:prstGeom>
          <a:noFill/>
          <a:ln/>
        </p:spPr>
        <p:txBody>
          <a:bodyPr wrap="square" lIns="0" tIns="0" rIns="0" bIns="0" rtlCol="0" anchor="ctr"/>
          <a:lstStyle/>
          <a:p>
            <a:pPr algn="ctr" indent="0" marL="0">
              <a:buNone/>
            </a:pPr>
            <a:r>
              <a:rPr lang="en-US" sz="950" b="1" dirty="0">
                <a:solidFill>
                  <a:srgbClr val="1B1B1B"/>
                </a:solidFill>
                <a:latin typeface="Calibri" pitchFamily="34" charset="0"/>
                <a:ea typeface="Calibri" pitchFamily="34" charset="-122"/>
                <a:cs typeface="Calibri" pitchFamily="34" charset="-120"/>
              </a:rPr>
              <a:t>Present &amp; write up</a:t>
            </a:r>
            <a:endParaRPr lang="en-US" sz="950" dirty="0"/>
          </a:p>
        </p:txBody>
      </p:sp>
      <p:sp>
        <p:nvSpPr>
          <p:cNvPr id="19" name="Text 17"/>
          <p:cNvSpPr/>
          <p:nvPr/>
        </p:nvSpPr>
        <p:spPr>
          <a:xfrm>
            <a:off x="7022592" y="2212848"/>
            <a:ext cx="1737360" cy="256032"/>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Weeks 14–16</a:t>
            </a:r>
            <a:endParaRPr lang="en-US" sz="850" dirty="0"/>
          </a:p>
        </p:txBody>
      </p:sp>
      <p:sp>
        <p:nvSpPr>
          <p:cNvPr id="20" name="Text 18"/>
          <p:cNvSpPr/>
          <p:nvPr/>
        </p:nvSpPr>
        <p:spPr>
          <a:xfrm>
            <a:off x="457200" y="2505456"/>
            <a:ext cx="8229600" cy="219456"/>
          </a:xfrm>
          <a:prstGeom prst="rect">
            <a:avLst/>
          </a:prstGeom>
          <a:noFill/>
          <a:ln/>
        </p:spPr>
        <p:txBody>
          <a:bodyPr wrap="square" lIns="0" tIns="0" rIns="0" bIns="0" rtlCol="0" anchor="ctr"/>
          <a:lstStyle/>
          <a:p>
            <a:pPr algn="ctr" indent="0" marL="0">
              <a:buNone/>
            </a:pPr>
            <a:r>
              <a:rPr lang="en-US" sz="850" i="1" dirty="0">
                <a:solidFill>
                  <a:srgbClr val="4A5A52"/>
                </a:solidFill>
                <a:latin typeface="Calibri" pitchFamily="34" charset="0"/>
                <a:ea typeface="Calibri" pitchFamily="34" charset="-122"/>
                <a:cs typeface="Calibri" pitchFamily="34" charset="-120"/>
              </a:rPr>
              <a:t>The numbers are the stages — Stage 7 (repeat the cycle) is the next cycle, or your handover.</a:t>
            </a:r>
            <a:endParaRPr lang="en-US" sz="850" dirty="0"/>
          </a:p>
        </p:txBody>
      </p:sp>
      <p:sp>
        <p:nvSpPr>
          <p:cNvPr id="21" name="Shape 19"/>
          <p:cNvSpPr/>
          <p:nvPr/>
        </p:nvSpPr>
        <p:spPr>
          <a:xfrm>
            <a:off x="457200" y="2834640"/>
            <a:ext cx="8229600" cy="1371600"/>
          </a:xfrm>
          <a:prstGeom prst="roundRect">
            <a:avLst>
              <a:gd name="adj" fmla="val 4667"/>
            </a:avLst>
          </a:prstGeom>
          <a:solidFill>
            <a:srgbClr val="DCEFE3"/>
          </a:solidFill>
          <a:ln w="12700">
            <a:solidFill>
              <a:srgbClr val="DCEFE3"/>
            </a:solidFill>
            <a:prstDash val="solid"/>
          </a:ln>
        </p:spPr>
        <p:txBody>
          <a:bodyPr/>
          <a:p/>
        </p:txBody>
      </p:sp>
      <p:sp>
        <p:nvSpPr>
          <p:cNvPr id="22" name="Text 20"/>
          <p:cNvSpPr/>
          <p:nvPr/>
        </p:nvSpPr>
        <p:spPr>
          <a:xfrm>
            <a:off x="621792" y="2980944"/>
            <a:ext cx="7863840" cy="274320"/>
          </a:xfrm>
          <a:prstGeom prst="rect">
            <a:avLst/>
          </a:prstGeom>
          <a:noFill/>
          <a:ln/>
        </p:spPr>
        <p:txBody>
          <a:bodyPr wrap="square" lIns="0" tIns="0" rIns="0" bIns="0" rtlCol="0" anchor="ctr"/>
          <a:lstStyle/>
          <a:p>
            <a:pPr indent="0" marL="0">
              <a:buNone/>
            </a:pPr>
            <a:r>
              <a:rPr lang="en-US" sz="1100" b="1" dirty="0">
                <a:solidFill>
                  <a:srgbClr val="036E3A"/>
                </a:solidFill>
                <a:latin typeface="Calibri" pitchFamily="34" charset="0"/>
                <a:ea typeface="Calibri" pitchFamily="34" charset="-122"/>
                <a:cs typeface="Calibri" pitchFamily="34" charset="-120"/>
              </a:rPr>
              <a:t>Rotating on before it’s finished?</a:t>
            </a:r>
            <a:endParaRPr lang="en-US" sz="1100" dirty="0"/>
          </a:p>
        </p:txBody>
      </p:sp>
      <p:sp>
        <p:nvSpPr>
          <p:cNvPr id="23" name="Text 21"/>
          <p:cNvSpPr/>
          <p:nvPr/>
        </p:nvSpPr>
        <p:spPr>
          <a:xfrm>
            <a:off x="621792" y="3291840"/>
            <a:ext cx="7863840" cy="822960"/>
          </a:xfrm>
          <a:prstGeom prst="rect">
            <a:avLst/>
          </a:prstGeom>
          <a:noFill/>
          <a:ln/>
        </p:spPr>
        <p:txBody>
          <a:bodyPr wrap="square" lIns="0" tIns="0" rIns="0" bIns="0" rtlCol="0" anchor="t"/>
          <a:lstStyle/>
          <a:p>
            <a:pPr indent="0" marL="0">
              <a:buNone/>
            </a:pPr>
            <a:r>
              <a:rPr lang="en-US" sz="950" dirty="0">
                <a:solidFill>
                  <a:srgbClr val="1B1B1B"/>
                </a:solidFill>
                <a:latin typeface="Calibri" pitchFamily="34" charset="0"/>
                <a:ea typeface="Calibri" pitchFamily="34" charset="-122"/>
                <a:cs typeface="Calibri" pitchFamily="34" charset="-120"/>
              </a:rPr>
              <a:t>Stage 7 becomes a handover: pass on the data plan, the diary and the run chart to a named person. A properly handed-over QIP is a completed stage — not an unfinished project.</a:t>
            </a:r>
            <a:endParaRPr lang="en-US" sz="950" dirty="0"/>
          </a:p>
        </p:txBody>
      </p:sp>
      <p:sp>
        <p:nvSpPr>
          <p:cNvPr id="24" name="Text 22"/>
          <p:cNvSpPr/>
          <p:nvPr/>
        </p:nvSpPr>
        <p:spPr>
          <a:xfrm>
            <a:off x="457200" y="4370832"/>
            <a:ext cx="8229600" cy="237744"/>
          </a:xfrm>
          <a:prstGeom prst="rect">
            <a:avLst/>
          </a:prstGeom>
          <a:noFill/>
          <a:ln/>
        </p:spPr>
        <p:txBody>
          <a:bodyPr wrap="square" lIns="0" tIns="0" rIns="0" bIns="0" rtlCol="0" anchor="ctr"/>
          <a:lstStyle/>
          <a:p>
            <a:pPr indent="0" marL="0">
              <a:buNone/>
            </a:pPr>
            <a:r>
              <a:rPr lang="en-US" sz="850" i="1" dirty="0">
                <a:solidFill>
                  <a:srgbClr val="4A5A52"/>
                </a:solidFill>
                <a:latin typeface="Calibri" pitchFamily="34" charset="0"/>
                <a:ea typeface="Calibri" pitchFamily="34" charset="-122"/>
                <a:cs typeface="Calibri" pitchFamily="34" charset="-120"/>
              </a:rPr>
              <a:t>Most first QIPs fit one rotation — cycle 2 often belongs to the next trainee.</a:t>
            </a:r>
            <a:endParaRPr lang="en-US" sz="850" dirty="0"/>
          </a:p>
        </p:txBody>
      </p:sp>
      <p:sp>
        <p:nvSpPr>
          <p:cNvPr id="26" name="Text 23"/>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36E3A"/>
                </a:solidFill>
                <a:latin typeface="Calibri" pitchFamily="34" charset="0"/>
                <a:ea typeface="Calibri" pitchFamily="34" charset="-122"/>
                <a:cs typeface="Calibri" pitchFamily="34" charset="-120"/>
              </a:rPr>
              <a:t>Society for Acute Medicine  |  Quality Improvement</a:t>
            </a:r>
            <a:endParaRPr lang="en-US" sz="750" dirty="0"/>
          </a:p>
        </p:txBody>
      </p:sp>
      <p:sp>
        <p:nvSpPr>
          <p:cNvPr id="27" name="Text 24"/>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3A69A"/>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23D22"/>
        </a:solidFill>
      </p:bgPr>
    </p:bg>
    <p:spTree>
      <p:nvGrpSpPr>
        <p:cNvPr id="1" name=""/>
        <p:cNvGrpSpPr/>
        <p:nvPr/>
      </p:nvGrpSpPr>
      <p:grpSpPr>
        <a:xfrm>
          <a:off x="0" y="0"/>
          <a:ext cx="0" cy="0"/>
          <a:chOff x="0" y="0"/>
          <a:chExt cx="0" cy="0"/>
        </a:xfrm>
      </p:grpSpPr>
      <p:sp>
        <p:nvSpPr>
          <p:cNvPr id="2" name="Shape 0"/>
          <p:cNvSpPr/>
          <p:nvPr/>
        </p:nvSpPr>
        <p:spPr>
          <a:xfrm>
            <a:off x="7498080" y="3566160"/>
            <a:ext cx="2743200" cy="2743200"/>
          </a:xfrm>
          <a:prstGeom prst="ellipse">
            <a:avLst/>
          </a:prstGeom>
          <a:solidFill>
            <a:srgbClr val="023D22"/>
          </a:solidFill>
          <a:ln w="15875">
            <a:solidFill>
              <a:srgbClr val="098040"/>
            </a:solidFill>
            <a:prstDash val="solid"/>
          </a:ln>
        </p:spPr>
        <p:txBody>
          <a:bodyPr/>
          <a:p/>
        </p:txBody>
      </p:sp>
      <p:sp>
        <p:nvSpPr>
          <p:cNvPr id="3" name="Text 1"/>
          <p:cNvSpPr/>
          <p:nvPr/>
        </p:nvSpPr>
        <p:spPr>
          <a:xfrm>
            <a:off x="640080" y="914400"/>
            <a:ext cx="76809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Start this week.</a:t>
            </a:r>
            <a:endParaRPr lang="en-US" sz="3200" dirty="0"/>
          </a:p>
        </p:txBody>
      </p:sp>
      <p:sp>
        <p:nvSpPr>
          <p:cNvPr id="4" name="Text 2"/>
          <p:cNvSpPr/>
          <p:nvPr/>
        </p:nvSpPr>
        <p:spPr>
          <a:xfrm>
            <a:off x="640080" y="1874520"/>
            <a:ext cx="420624" cy="420624"/>
          </a:xfrm>
          <a:prstGeom prst="ellipse">
            <a:avLst/>
          </a:prstGeom>
          <a:solidFill>
            <a:srgbClr val="0980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234440" y="1874520"/>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Find a problem that bugs you</a:t>
            </a:r>
            <a:endParaRPr lang="en-US" sz="1300" dirty="0"/>
          </a:p>
        </p:txBody>
      </p:sp>
      <p:sp>
        <p:nvSpPr>
          <p:cNvPr id="6" name="Text 4"/>
          <p:cNvSpPr/>
          <p:nvPr/>
        </p:nvSpPr>
        <p:spPr>
          <a:xfrm>
            <a:off x="640080" y="2532888"/>
            <a:ext cx="420624" cy="420624"/>
          </a:xfrm>
          <a:prstGeom prst="ellipse">
            <a:avLst/>
          </a:prstGeom>
          <a:solidFill>
            <a:srgbClr val="0980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 name="Text 5"/>
          <p:cNvSpPr/>
          <p:nvPr/>
        </p:nvSpPr>
        <p:spPr>
          <a:xfrm>
            <a:off x="1234440" y="2532888"/>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Count something — 20 sets of notes is enough</a:t>
            </a:r>
            <a:endParaRPr lang="en-US" sz="1300" dirty="0"/>
          </a:p>
        </p:txBody>
      </p:sp>
      <p:sp>
        <p:nvSpPr>
          <p:cNvPr id="8" name="Text 6"/>
          <p:cNvSpPr/>
          <p:nvPr/>
        </p:nvSpPr>
        <p:spPr>
          <a:xfrm>
            <a:off x="640080" y="3191256"/>
            <a:ext cx="420624" cy="420624"/>
          </a:xfrm>
          <a:prstGeom prst="ellipse">
            <a:avLst/>
          </a:prstGeom>
          <a:solidFill>
            <a:srgbClr val="0980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 name="Text 7"/>
          <p:cNvSpPr/>
          <p:nvPr/>
        </p:nvSpPr>
        <p:spPr>
          <a:xfrm>
            <a:off x="1234440" y="3191256"/>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Book a pitch slot at the next QIP meeting</a:t>
            </a:r>
            <a:endParaRPr lang="en-US" sz="1300" dirty="0"/>
          </a:p>
        </p:txBody>
      </p:sp>
      <p:sp>
        <p:nvSpPr>
          <p:cNvPr id="10" name="Text 8"/>
          <p:cNvSpPr/>
          <p:nvPr/>
        </p:nvSpPr>
        <p:spPr>
          <a:xfrm>
            <a:off x="640080" y="3977640"/>
            <a:ext cx="7498080" cy="274320"/>
          </a:xfrm>
          <a:prstGeom prst="rect">
            <a:avLst/>
          </a:prstGeom>
          <a:noFill/>
          <a:ln/>
        </p:spPr>
        <p:txBody>
          <a:bodyPr wrap="square" lIns="0" tIns="0" rIns="0" bIns="0" rtlCol="0" anchor="ctr"/>
          <a:lstStyle/>
          <a:p>
            <a:pPr indent="0" marL="0">
              <a:buNone/>
            </a:pPr>
            <a:r>
              <a:rPr lang="en-US" sz="1050" i="1" dirty="0">
                <a:solidFill>
                  <a:srgbClr val="E4F0E8"/>
                </a:solidFill>
                <a:latin typeface="Calibri" pitchFamily="34" charset="0"/>
                <a:ea typeface="Calibri" pitchFamily="34" charset="-122"/>
                <a:cs typeface="Calibri" pitchFamily="34" charset="-120"/>
              </a:rPr>
              <a:t>Every finished QIP started exactly here. Questions? Speak to your local QIP team.</a:t>
            </a:r>
            <a:endParaRPr lang="en-US" sz="1050" dirty="0"/>
          </a:p>
        </p:txBody>
      </p:sp>
      <p:sp>
        <p:nvSpPr>
          <p:cNvPr id="11" name="Text 9"/>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7DD08F"/>
                </a:solidFill>
                <a:latin typeface="Calibri" pitchFamily="34" charset="0"/>
                <a:ea typeface="Calibri" pitchFamily="34" charset="-122"/>
                <a:cs typeface="Calibri" pitchFamily="34" charset="-120"/>
              </a:rPr>
              <a:t>Society for Acute Medicine  |  Quality Improvement</a:t>
            </a:r>
            <a:endParaRPr lang="en-US" sz="750" dirty="0"/>
          </a:p>
        </p:txBody>
      </p:sp>
      <p:sp>
        <p:nvSpPr>
          <p:cNvPr id="12" name="Text 10"/>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BB8A6"/>
                </a:solidFill>
                <a:latin typeface="Calibri" pitchFamily="34" charset="0"/>
                <a:ea typeface="Calibri" pitchFamily="34" charset="-122"/>
                <a:cs typeface="Calibri" pitchFamily="34" charset="-120"/>
              </a:rPr>
              <a:t>SAM QIP Roadmap</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2026-08-15T07:23:41Z</dcterms:created>
  <dcterms:modified xsi:type="dcterms:W3CDTF">2026-08-15T07:23:41Z</dcterms:modified>
</cp:coreProperties>
</file>